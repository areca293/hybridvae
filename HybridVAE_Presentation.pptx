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86"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4" r:id="rId27"/>
    <p:sldId id="280" r:id="rId28"/>
    <p:sldId id="281" r:id="rId29"/>
    <p:sldId id="282" r:id="rId30"/>
    <p:sldId id="283" r:id="rId3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34"/>
    <p:restoredTop sz="94610"/>
  </p:normalViewPr>
  <p:slideViewPr>
    <p:cSldViewPr snapToGrid="0" snapToObjects="1">
      <p:cViewPr varScale="1">
        <p:scale>
          <a:sx n="169" d="100"/>
          <a:sy n="169" d="100"/>
        </p:scale>
        <p:origin x="192" y="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8460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E9E51-0A8D-5ED3-975D-FAD5B122F8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1A7C9B-867F-7344-327C-CDBCA5BA58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9B51C5-4741-B6EF-04A8-ADA2FA10EB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D19FB6-C2DF-16AE-26DF-72B613623587}"/>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7908634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a:effectLst/>
      </p:bgPr>
    </p:bg>
    <p:spTree>
      <p:nvGrpSpPr>
        <p:cNvPr id="1" name=""/>
        <p:cNvGrpSpPr/>
        <p:nvPr/>
      </p:nvGrpSpPr>
      <p:grpSpPr>
        <a:xfrm>
          <a:off x="0" y="0"/>
          <a:ext cx="0" cy="0"/>
          <a:chOff x="0" y="0"/>
          <a:chExt cx="0" cy="0"/>
        </a:xfrm>
      </p:grpSpPr>
      <p:sp>
        <p:nvSpPr>
          <p:cNvPr id="2" name="Text 0"/>
          <p:cNvSpPr/>
          <p:nvPr/>
        </p:nvSpPr>
        <p:spPr>
          <a:xfrm>
            <a:off x="640080" y="731520"/>
            <a:ext cx="8229600" cy="914400"/>
          </a:xfrm>
          <a:prstGeom prst="rect">
            <a:avLst/>
          </a:prstGeom>
          <a:noFill/>
          <a:ln/>
        </p:spPr>
        <p:txBody>
          <a:bodyPr wrap="square" lIns="0" tIns="0" rIns="0" bIns="0" rtlCol="0" anchor="ctr"/>
          <a:lstStyle/>
          <a:p>
            <a:pPr marL="0" indent="0">
              <a:buNone/>
            </a:pPr>
            <a:r>
              <a:rPr lang="en-US" sz="6000" b="1" dirty="0">
                <a:solidFill>
                  <a:srgbClr val="FFFFFF"/>
                </a:solidFill>
                <a:latin typeface="Helvetica" pitchFamily="34" charset="0"/>
                <a:ea typeface="Helvetica" pitchFamily="34" charset="-122"/>
                <a:cs typeface="Helvetica" pitchFamily="34" charset="-120"/>
              </a:rPr>
              <a:t>HYBRID</a:t>
            </a:r>
            <a:endParaRPr lang="en-US" sz="6000" dirty="0"/>
          </a:p>
        </p:txBody>
      </p:sp>
      <p:sp>
        <p:nvSpPr>
          <p:cNvPr id="3" name="Text 1"/>
          <p:cNvSpPr/>
          <p:nvPr/>
        </p:nvSpPr>
        <p:spPr>
          <a:xfrm>
            <a:off x="3796748" y="731520"/>
            <a:ext cx="8229600" cy="914400"/>
          </a:xfrm>
          <a:prstGeom prst="rect">
            <a:avLst/>
          </a:prstGeom>
          <a:noFill/>
          <a:ln/>
        </p:spPr>
        <p:txBody>
          <a:bodyPr wrap="square" lIns="0" tIns="0" rIns="0" bIns="0" rtlCol="0" anchor="ctr"/>
          <a:lstStyle/>
          <a:p>
            <a:pPr marL="0" indent="0">
              <a:buNone/>
            </a:pPr>
            <a:r>
              <a:rPr lang="en-US" sz="6000" b="1" dirty="0">
                <a:solidFill>
                  <a:srgbClr val="C0C0C0"/>
                </a:solidFill>
                <a:latin typeface="Helvetica" pitchFamily="34" charset="0"/>
                <a:ea typeface="Helvetica" pitchFamily="34" charset="-122"/>
                <a:cs typeface="Helvetica" pitchFamily="34" charset="-120"/>
              </a:rPr>
              <a:t>VAE</a:t>
            </a:r>
            <a:endParaRPr lang="en-US" sz="6000" dirty="0"/>
          </a:p>
        </p:txBody>
      </p:sp>
      <p:sp>
        <p:nvSpPr>
          <p:cNvPr id="5" name="Text 3"/>
          <p:cNvSpPr/>
          <p:nvPr/>
        </p:nvSpPr>
        <p:spPr>
          <a:xfrm>
            <a:off x="640080" y="1542056"/>
            <a:ext cx="8066598" cy="822960"/>
          </a:xfrm>
          <a:prstGeom prst="rect">
            <a:avLst/>
          </a:prstGeom>
          <a:noFill/>
          <a:ln/>
        </p:spPr>
        <p:txBody>
          <a:bodyPr wrap="square" lIns="0" tIns="0" rIns="0" bIns="0" rtlCol="0" anchor="ctr"/>
          <a:lstStyle/>
          <a:p>
            <a:pPr marL="0" indent="0">
              <a:lnSpc>
                <a:spcPct val="130000"/>
              </a:lnSpc>
              <a:buNone/>
            </a:pPr>
            <a:r>
              <a:rPr lang="en-US" sz="1600" dirty="0">
                <a:solidFill>
                  <a:srgbClr val="C0C0C0"/>
                </a:solidFill>
                <a:latin typeface="Helvetica" pitchFamily="34" charset="0"/>
                <a:ea typeface="Helvetica" pitchFamily="34" charset="-122"/>
                <a:cs typeface="Helvetica" pitchFamily="34" charset="-120"/>
              </a:rPr>
              <a:t>Semi-Supervised Network Intrusion Detection</a:t>
            </a:r>
            <a:r>
              <a:rPr lang="en-US" sz="1600" dirty="0"/>
              <a:t> </a:t>
            </a:r>
            <a:r>
              <a:rPr lang="en-US" sz="1600" dirty="0">
                <a:solidFill>
                  <a:srgbClr val="C0C0C0"/>
                </a:solidFill>
                <a:latin typeface="Helvetica" pitchFamily="34" charset="0"/>
                <a:ea typeface="Helvetica" pitchFamily="34" charset="-122"/>
                <a:cs typeface="Helvetica" pitchFamily="34" charset="-120"/>
              </a:rPr>
              <a:t>for Resource-Constrained Edge Devices</a:t>
            </a:r>
            <a:endParaRPr lang="en-US" sz="1600" dirty="0"/>
          </a:p>
        </p:txBody>
      </p:sp>
      <p:sp>
        <p:nvSpPr>
          <p:cNvPr id="7" name="Text 5"/>
          <p:cNvSpPr/>
          <p:nvPr/>
        </p:nvSpPr>
        <p:spPr>
          <a:xfrm>
            <a:off x="640080" y="4480560"/>
            <a:ext cx="4572000" cy="320040"/>
          </a:xfrm>
          <a:prstGeom prst="rect">
            <a:avLst/>
          </a:prstGeom>
          <a:noFill/>
          <a:ln/>
        </p:spPr>
        <p:txBody>
          <a:bodyPr wrap="square" lIns="0" tIns="0" rIns="0" bIns="0" rtlCol="0" anchor="ctr"/>
          <a:lstStyle/>
          <a:p>
            <a:pPr marL="0" indent="0">
              <a:buNone/>
            </a:pPr>
            <a:endParaRPr lang="en-US" sz="1000" dirty="0"/>
          </a:p>
        </p:txBody>
      </p:sp>
      <p:sp>
        <p:nvSpPr>
          <p:cNvPr id="9" name="TextBox 8">
            <a:extLst>
              <a:ext uri="{FF2B5EF4-FFF2-40B4-BE49-F238E27FC236}">
                <a16:creationId xmlns:a16="http://schemas.microsoft.com/office/drawing/2014/main" id="{527674BE-43B5-2180-FAF1-295FAFCF4C16}"/>
              </a:ext>
            </a:extLst>
          </p:cNvPr>
          <p:cNvSpPr txBox="1"/>
          <p:nvPr/>
        </p:nvSpPr>
        <p:spPr>
          <a:xfrm>
            <a:off x="556994" y="2277387"/>
            <a:ext cx="3239754" cy="2000035"/>
          </a:xfrm>
          <a:prstGeom prst="rect">
            <a:avLst/>
          </a:prstGeom>
          <a:noFill/>
        </p:spPr>
        <p:txBody>
          <a:bodyPr wrap="square">
            <a:spAutoFit/>
          </a:bodyPr>
          <a:lstStyle/>
          <a:p>
            <a:pPr lvl="0">
              <a:lnSpc>
                <a:spcPct val="150000"/>
              </a:lnSpc>
            </a:pPr>
            <a:r>
              <a:rPr lang="en-US" sz="1400" b="1" dirty="0">
                <a:solidFill>
                  <a:srgbClr val="C0C0C0"/>
                </a:solidFill>
                <a:latin typeface="Helvetica" pitchFamily="34" charset="0"/>
              </a:rPr>
              <a:t>Team (Group 2):</a:t>
            </a:r>
          </a:p>
          <a:p>
            <a:pPr lvl="0">
              <a:lnSpc>
                <a:spcPct val="150000"/>
              </a:lnSpc>
            </a:pPr>
            <a:r>
              <a:rPr lang="en-US" sz="1400" dirty="0">
                <a:solidFill>
                  <a:srgbClr val="C0C0C0"/>
                </a:solidFill>
                <a:latin typeface="Helvetica" pitchFamily="34" charset="0"/>
              </a:rPr>
              <a:t>Yashodhar Rathod </a:t>
            </a:r>
          </a:p>
          <a:p>
            <a:pPr lvl="0">
              <a:lnSpc>
                <a:spcPct val="150000"/>
              </a:lnSpc>
            </a:pPr>
            <a:r>
              <a:rPr lang="en-US" sz="1400" dirty="0">
                <a:solidFill>
                  <a:srgbClr val="C0C0C0"/>
                </a:solidFill>
                <a:latin typeface="Helvetica" pitchFamily="34" charset="0"/>
              </a:rPr>
              <a:t>Vinyas Ravi</a:t>
            </a:r>
          </a:p>
          <a:p>
            <a:pPr lvl="0">
              <a:lnSpc>
                <a:spcPct val="150000"/>
              </a:lnSpc>
            </a:pPr>
            <a:r>
              <a:rPr lang="en-US" sz="1400" dirty="0">
                <a:solidFill>
                  <a:srgbClr val="C0C0C0"/>
                </a:solidFill>
                <a:latin typeface="Helvetica" pitchFamily="34" charset="0"/>
              </a:rPr>
              <a:t>Pouya Mohammadkhani </a:t>
            </a:r>
          </a:p>
          <a:p>
            <a:pPr lvl="0">
              <a:lnSpc>
                <a:spcPct val="150000"/>
              </a:lnSpc>
            </a:pPr>
            <a:r>
              <a:rPr lang="en-US" sz="1400" dirty="0" err="1">
                <a:solidFill>
                  <a:srgbClr val="C0C0C0"/>
                </a:solidFill>
                <a:latin typeface="Helvetica" pitchFamily="34" charset="0"/>
              </a:rPr>
              <a:t>Vishvasundar</a:t>
            </a:r>
            <a:endParaRPr lang="en-US" sz="1400" dirty="0">
              <a:solidFill>
                <a:srgbClr val="C0C0C0"/>
              </a:solidFill>
              <a:latin typeface="Helvetica" pitchFamily="34" charset="0"/>
            </a:endParaRPr>
          </a:p>
          <a:p>
            <a:pPr lvl="0">
              <a:lnSpc>
                <a:spcPct val="150000"/>
              </a:lnSpc>
            </a:pPr>
            <a:r>
              <a:rPr lang="en-US" sz="1400" dirty="0" err="1">
                <a:solidFill>
                  <a:srgbClr val="C0C0C0"/>
                </a:solidFill>
                <a:latin typeface="Helvetica" pitchFamily="34" charset="0"/>
              </a:rPr>
              <a:t>Yingjun</a:t>
            </a:r>
            <a:r>
              <a:rPr lang="en-US" sz="1400" dirty="0">
                <a:solidFill>
                  <a:srgbClr val="C0C0C0"/>
                </a:solidFill>
                <a:latin typeface="Helvetica" pitchFamily="34" charset="0"/>
              </a:rPr>
              <a:t> Sun</a:t>
            </a:r>
          </a:p>
        </p:txBody>
      </p:sp>
      <p:sp>
        <p:nvSpPr>
          <p:cNvPr id="11" name="Text 5">
            <a:extLst>
              <a:ext uri="{FF2B5EF4-FFF2-40B4-BE49-F238E27FC236}">
                <a16:creationId xmlns:a16="http://schemas.microsoft.com/office/drawing/2014/main" id="{402D8B91-BD00-8FB9-BEBA-D7A469F45F00}"/>
              </a:ext>
            </a:extLst>
          </p:cNvPr>
          <p:cNvSpPr/>
          <p:nvPr/>
        </p:nvSpPr>
        <p:spPr>
          <a:xfrm>
            <a:off x="640080" y="4463427"/>
            <a:ext cx="4572000" cy="320040"/>
          </a:xfrm>
          <a:prstGeom prst="rect">
            <a:avLst/>
          </a:prstGeom>
          <a:noFill/>
          <a:ln/>
        </p:spPr>
        <p:txBody>
          <a:bodyPr wrap="square" lIns="0" tIns="0" rIns="0" bIns="0" rtlCol="0" anchor="ctr"/>
          <a:lstStyle/>
          <a:p>
            <a:r>
              <a:rPr lang="en-US" sz="1000" dirty="0">
                <a:solidFill>
                  <a:srgbClr val="7A7A7A"/>
                </a:solidFill>
                <a:latin typeface="Helvetica" pitchFamily="34" charset="0"/>
                <a:ea typeface="Helvetica" pitchFamily="34" charset="-122"/>
                <a:cs typeface="Helvetica" pitchFamily="34" charset="-120"/>
              </a:rPr>
              <a:t>Group 2  |  Scalable Computing for Data Analytics (CS6423) | UCC 2026</a:t>
            </a:r>
            <a:endParaRPr lang="en-US" sz="1000" dirty="0"/>
          </a:p>
        </p:txBody>
      </p:sp>
      <p:sp>
        <p:nvSpPr>
          <p:cNvPr id="13" name="TextBox 12">
            <a:extLst>
              <a:ext uri="{FF2B5EF4-FFF2-40B4-BE49-F238E27FC236}">
                <a16:creationId xmlns:a16="http://schemas.microsoft.com/office/drawing/2014/main" id="{808D675E-B1E3-2A3F-3589-10C49CF2E87E}"/>
              </a:ext>
            </a:extLst>
          </p:cNvPr>
          <p:cNvSpPr txBox="1"/>
          <p:nvPr/>
        </p:nvSpPr>
        <p:spPr>
          <a:xfrm>
            <a:off x="6362391" y="4480560"/>
            <a:ext cx="2116562" cy="276999"/>
          </a:xfrm>
          <a:prstGeom prst="rect">
            <a:avLst/>
          </a:prstGeom>
          <a:noFill/>
        </p:spPr>
        <p:txBody>
          <a:bodyPr wrap="square">
            <a:spAutoFit/>
          </a:bodyPr>
          <a:lstStyle/>
          <a:p>
            <a:r>
              <a:rPr lang="en-US" sz="1200" b="1" dirty="0">
                <a:solidFill>
                  <a:srgbClr val="7A7A7A"/>
                </a:solidFill>
                <a:latin typeface="Helvetica" pitchFamily="34" charset="0"/>
              </a:rPr>
              <a:t>Professor Gregory Provan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2743200" cy="274320"/>
          </a:xfrm>
          <a:prstGeom prst="rect">
            <a:avLst/>
          </a:prstGeom>
          <a:noFill/>
          <a:ln/>
        </p:spPr>
        <p:txBody>
          <a:bodyPr wrap="square" lIns="0" tIns="0" rIns="0" bIns="0" rtlCol="0" anchor="ctr"/>
          <a:lstStyle/>
          <a:p>
            <a:pPr marL="0" indent="0">
              <a:buNone/>
            </a:pPr>
            <a:r>
              <a:rPr lang="en-US" sz="800" kern="0" spc="300" dirty="0">
                <a:solidFill>
                  <a:srgbClr val="7A7A7A"/>
                </a:solidFill>
                <a:latin typeface="Helvetica" pitchFamily="34" charset="0"/>
                <a:ea typeface="Helvetica" pitchFamily="34" charset="-122"/>
                <a:cs typeface="Helvetica" pitchFamily="34" charset="-120"/>
              </a:rPr>
              <a:t>MOTIVATION</a:t>
            </a:r>
            <a:endParaRPr lang="en-US" sz="800" dirty="0"/>
          </a:p>
        </p:txBody>
      </p:sp>
      <p:sp>
        <p:nvSpPr>
          <p:cNvPr id="3" name="Text 1"/>
          <p:cNvSpPr/>
          <p:nvPr/>
        </p:nvSpPr>
        <p:spPr>
          <a:xfrm>
            <a:off x="8229600" y="4617720"/>
            <a:ext cx="640080" cy="365760"/>
          </a:xfrm>
          <a:prstGeom prst="rect">
            <a:avLst/>
          </a:prstGeom>
          <a:noFill/>
          <a:ln/>
        </p:spPr>
        <p:txBody>
          <a:bodyPr wrap="square" lIns="0" tIns="0" rIns="0" bIns="0" rtlCol="0" anchor="ctr"/>
          <a:lstStyle/>
          <a:p>
            <a:pPr marL="0" indent="0" algn="r">
              <a:buNone/>
            </a:pPr>
            <a:r>
              <a:rPr lang="en-US" sz="900" dirty="0">
                <a:solidFill>
                  <a:srgbClr val="C0C0C0"/>
                </a:solidFill>
                <a:latin typeface="Helvetica" pitchFamily="34" charset="0"/>
                <a:ea typeface="Helvetica" pitchFamily="34" charset="-122"/>
                <a:cs typeface="Helvetica" pitchFamily="34" charset="-120"/>
              </a:rPr>
              <a:t>02</a:t>
            </a:r>
            <a:endParaRPr lang="en-US" sz="900" dirty="0"/>
          </a:p>
        </p:txBody>
      </p:sp>
      <p:sp>
        <p:nvSpPr>
          <p:cNvPr id="4" name="Text 2"/>
          <p:cNvSpPr/>
          <p:nvPr/>
        </p:nvSpPr>
        <p:spPr>
          <a:xfrm>
            <a:off x="640080" y="640080"/>
            <a:ext cx="7315200" cy="548640"/>
          </a:xfrm>
          <a:prstGeom prst="rect">
            <a:avLst/>
          </a:prstGeom>
          <a:noFill/>
          <a:ln/>
        </p:spPr>
        <p:txBody>
          <a:bodyPr wrap="square" lIns="0" tIns="0" rIns="0" bIns="0" rtlCol="0" anchor="ctr"/>
          <a:lstStyle/>
          <a:p>
            <a:pPr marL="0" indent="0">
              <a:buNone/>
            </a:pPr>
            <a:r>
              <a:rPr lang="en-US" sz="3200" b="1" dirty="0">
                <a:solidFill>
                  <a:srgbClr val="1A1A1A"/>
                </a:solidFill>
                <a:latin typeface="Helvetica" pitchFamily="34" charset="0"/>
                <a:ea typeface="Helvetica" pitchFamily="34" charset="-122"/>
                <a:cs typeface="Helvetica" pitchFamily="34" charset="-120"/>
              </a:rPr>
              <a:t>Why detect intrusions at the edge?</a:t>
            </a:r>
            <a:endParaRPr lang="en-US" sz="3200" dirty="0"/>
          </a:p>
        </p:txBody>
      </p:sp>
      <p:sp>
        <p:nvSpPr>
          <p:cNvPr id="5" name="Shape 3"/>
          <p:cNvSpPr/>
          <p:nvPr/>
        </p:nvSpPr>
        <p:spPr>
          <a:xfrm>
            <a:off x="640080" y="1280160"/>
            <a:ext cx="7863840" cy="0"/>
          </a:xfrm>
          <a:prstGeom prst="line">
            <a:avLst/>
          </a:prstGeom>
          <a:noFill/>
          <a:ln w="9525">
            <a:solidFill>
              <a:srgbClr val="D8D8D8"/>
            </a:solidFill>
            <a:prstDash val="solid"/>
          </a:ln>
        </p:spPr>
      </p:sp>
      <p:sp>
        <p:nvSpPr>
          <p:cNvPr id="6" name="Text 4"/>
          <p:cNvSpPr/>
          <p:nvPr/>
        </p:nvSpPr>
        <p:spPr>
          <a:xfrm>
            <a:off x="640080" y="1554480"/>
            <a:ext cx="457200" cy="320040"/>
          </a:xfrm>
          <a:prstGeom prst="rect">
            <a:avLst/>
          </a:prstGeom>
          <a:noFill/>
          <a:ln/>
        </p:spPr>
        <p:txBody>
          <a:bodyPr wrap="square" lIns="0" tIns="0" rIns="0" bIns="0" rtlCol="0" anchor="ctr"/>
          <a:lstStyle/>
          <a:p>
            <a:pPr marL="0" indent="0">
              <a:buNone/>
            </a:pPr>
            <a:r>
              <a:rPr lang="en-US" sz="1400" b="1" dirty="0">
                <a:solidFill>
                  <a:srgbClr val="C0C0C0"/>
                </a:solidFill>
                <a:latin typeface="Helvetica" pitchFamily="34" charset="0"/>
                <a:ea typeface="Helvetica" pitchFamily="34" charset="-122"/>
                <a:cs typeface="Helvetica" pitchFamily="34" charset="-120"/>
              </a:rPr>
              <a:t>01</a:t>
            </a:r>
            <a:endParaRPr lang="en-US" sz="1400" dirty="0"/>
          </a:p>
        </p:txBody>
      </p:sp>
      <p:sp>
        <p:nvSpPr>
          <p:cNvPr id="7" name="Text 5"/>
          <p:cNvSpPr/>
          <p:nvPr/>
        </p:nvSpPr>
        <p:spPr>
          <a:xfrm>
            <a:off x="1188720" y="1554480"/>
            <a:ext cx="2743200" cy="320040"/>
          </a:xfrm>
          <a:prstGeom prst="rect">
            <a:avLst/>
          </a:prstGeom>
          <a:noFill/>
          <a:ln/>
        </p:spPr>
        <p:txBody>
          <a:bodyPr wrap="square" lIns="0" tIns="0" rIns="0" bIns="0" rtlCol="0" anchor="ctr"/>
          <a:lstStyle/>
          <a:p>
            <a:pPr marL="0" indent="0">
              <a:buNone/>
            </a:pPr>
            <a:r>
              <a:rPr lang="en-US" sz="1400" b="1" dirty="0">
                <a:solidFill>
                  <a:srgbClr val="1A1A1A"/>
                </a:solidFill>
                <a:latin typeface="Helvetica" pitchFamily="34" charset="0"/>
                <a:ea typeface="Helvetica" pitchFamily="34" charset="-122"/>
                <a:cs typeface="Helvetica" pitchFamily="34" charset="-120"/>
              </a:rPr>
              <a:t>Edge deployment</a:t>
            </a:r>
            <a:endParaRPr lang="en-US" sz="1400" dirty="0"/>
          </a:p>
        </p:txBody>
      </p:sp>
      <p:sp>
        <p:nvSpPr>
          <p:cNvPr id="8" name="Text 6"/>
          <p:cNvSpPr/>
          <p:nvPr/>
        </p:nvSpPr>
        <p:spPr>
          <a:xfrm>
            <a:off x="3657600" y="1508760"/>
            <a:ext cx="4846320" cy="594360"/>
          </a:xfrm>
          <a:prstGeom prst="rect">
            <a:avLst/>
          </a:prstGeom>
          <a:noFill/>
          <a:ln/>
        </p:spPr>
        <p:txBody>
          <a:bodyPr wrap="square" lIns="0" tIns="0" rIns="0" bIns="0" rtlCol="0" anchor="ctr"/>
          <a:lstStyle/>
          <a:p>
            <a:pPr marL="0" indent="0">
              <a:lnSpc>
                <a:spcPct val="135000"/>
              </a:lnSpc>
              <a:buNone/>
            </a:pPr>
            <a:r>
              <a:rPr lang="en-US" sz="1000" dirty="0">
                <a:solidFill>
                  <a:srgbClr val="4A4A4A"/>
                </a:solidFill>
                <a:latin typeface="Helvetica" pitchFamily="34" charset="0"/>
                <a:ea typeface="Helvetica" pitchFamily="34" charset="-122"/>
                <a:cs typeface="Helvetica" pitchFamily="34" charset="-120"/>
              </a:rPr>
              <a:t>IoT sensors, home gateways, and embedded controllers operate offline or on air-gapped networks. they cannot rely on cloud-based threat analysis.</a:t>
            </a:r>
            <a:endParaRPr lang="en-US" sz="1000" dirty="0"/>
          </a:p>
        </p:txBody>
      </p:sp>
      <p:sp>
        <p:nvSpPr>
          <p:cNvPr id="9" name="Shape 7"/>
          <p:cNvSpPr/>
          <p:nvPr/>
        </p:nvSpPr>
        <p:spPr>
          <a:xfrm>
            <a:off x="1188720" y="2194560"/>
            <a:ext cx="7315200" cy="0"/>
          </a:xfrm>
          <a:prstGeom prst="line">
            <a:avLst/>
          </a:prstGeom>
          <a:noFill/>
          <a:ln w="9525">
            <a:solidFill>
              <a:srgbClr val="D8D8D8"/>
            </a:solidFill>
            <a:prstDash val="solid"/>
          </a:ln>
        </p:spPr>
      </p:sp>
      <p:sp>
        <p:nvSpPr>
          <p:cNvPr id="10" name="Text 8"/>
          <p:cNvSpPr/>
          <p:nvPr/>
        </p:nvSpPr>
        <p:spPr>
          <a:xfrm>
            <a:off x="640080" y="2331720"/>
            <a:ext cx="457200" cy="320040"/>
          </a:xfrm>
          <a:prstGeom prst="rect">
            <a:avLst/>
          </a:prstGeom>
          <a:noFill/>
          <a:ln/>
        </p:spPr>
        <p:txBody>
          <a:bodyPr wrap="square" lIns="0" tIns="0" rIns="0" bIns="0" rtlCol="0" anchor="ctr"/>
          <a:lstStyle/>
          <a:p>
            <a:pPr marL="0" indent="0">
              <a:buNone/>
            </a:pPr>
            <a:r>
              <a:rPr lang="en-US" sz="1400" b="1" dirty="0">
                <a:solidFill>
                  <a:srgbClr val="C0C0C0"/>
                </a:solidFill>
                <a:latin typeface="Helvetica" pitchFamily="34" charset="0"/>
                <a:ea typeface="Helvetica" pitchFamily="34" charset="-122"/>
                <a:cs typeface="Helvetica" pitchFamily="34" charset="-120"/>
              </a:rPr>
              <a:t>02</a:t>
            </a:r>
            <a:endParaRPr lang="en-US" sz="1400" dirty="0"/>
          </a:p>
        </p:txBody>
      </p:sp>
      <p:sp>
        <p:nvSpPr>
          <p:cNvPr id="11" name="Text 9"/>
          <p:cNvSpPr/>
          <p:nvPr/>
        </p:nvSpPr>
        <p:spPr>
          <a:xfrm>
            <a:off x="1188720" y="2331720"/>
            <a:ext cx="2743200" cy="320040"/>
          </a:xfrm>
          <a:prstGeom prst="rect">
            <a:avLst/>
          </a:prstGeom>
          <a:noFill/>
          <a:ln/>
        </p:spPr>
        <p:txBody>
          <a:bodyPr wrap="square" lIns="0" tIns="0" rIns="0" bIns="0" rtlCol="0" anchor="ctr"/>
          <a:lstStyle/>
          <a:p>
            <a:pPr marL="0" indent="0">
              <a:buNone/>
            </a:pPr>
            <a:r>
              <a:rPr lang="en-US" sz="1400" b="1" dirty="0">
                <a:solidFill>
                  <a:srgbClr val="1A1A1A"/>
                </a:solidFill>
                <a:latin typeface="Helvetica" pitchFamily="34" charset="0"/>
                <a:ea typeface="Helvetica" pitchFamily="34" charset="-122"/>
                <a:cs typeface="Helvetica" pitchFamily="34" charset="-120"/>
              </a:rPr>
              <a:t>Compute constraints</a:t>
            </a:r>
            <a:endParaRPr lang="en-US" sz="1400" dirty="0"/>
          </a:p>
        </p:txBody>
      </p:sp>
      <p:sp>
        <p:nvSpPr>
          <p:cNvPr id="12" name="Text 10"/>
          <p:cNvSpPr/>
          <p:nvPr/>
        </p:nvSpPr>
        <p:spPr>
          <a:xfrm>
            <a:off x="3657600" y="2286000"/>
            <a:ext cx="4846320" cy="594360"/>
          </a:xfrm>
          <a:prstGeom prst="rect">
            <a:avLst/>
          </a:prstGeom>
          <a:noFill/>
          <a:ln/>
        </p:spPr>
        <p:txBody>
          <a:bodyPr wrap="square" lIns="0" tIns="0" rIns="0" bIns="0" rtlCol="0" anchor="ctr"/>
          <a:lstStyle/>
          <a:p>
            <a:pPr marL="0" indent="0">
              <a:lnSpc>
                <a:spcPct val="135000"/>
              </a:lnSpc>
              <a:buNone/>
            </a:pPr>
            <a:r>
              <a:rPr lang="en-US" sz="1000" dirty="0">
                <a:solidFill>
                  <a:srgbClr val="4A4A4A"/>
                </a:solidFill>
                <a:latin typeface="Helvetica" pitchFamily="34" charset="0"/>
                <a:ea typeface="Helvetica" pitchFamily="34" charset="-122"/>
                <a:cs typeface="Helvetica" pitchFamily="34" charset="-120"/>
              </a:rPr>
              <a:t>These devices have limited RAM, storage, and CPU cycles. Models must be small enough to run inference locally without a GPU.</a:t>
            </a:r>
            <a:endParaRPr lang="en-US" sz="1000" dirty="0"/>
          </a:p>
        </p:txBody>
      </p:sp>
      <p:sp>
        <p:nvSpPr>
          <p:cNvPr id="13" name="Shape 11"/>
          <p:cNvSpPr/>
          <p:nvPr/>
        </p:nvSpPr>
        <p:spPr>
          <a:xfrm>
            <a:off x="1188720" y="2971800"/>
            <a:ext cx="7315200" cy="0"/>
          </a:xfrm>
          <a:prstGeom prst="line">
            <a:avLst/>
          </a:prstGeom>
          <a:noFill/>
          <a:ln w="9525">
            <a:solidFill>
              <a:srgbClr val="D8D8D8"/>
            </a:solidFill>
            <a:prstDash val="solid"/>
          </a:ln>
        </p:spPr>
      </p:sp>
      <p:sp>
        <p:nvSpPr>
          <p:cNvPr id="14" name="Text 12"/>
          <p:cNvSpPr/>
          <p:nvPr/>
        </p:nvSpPr>
        <p:spPr>
          <a:xfrm>
            <a:off x="640080" y="3108960"/>
            <a:ext cx="457200" cy="320040"/>
          </a:xfrm>
          <a:prstGeom prst="rect">
            <a:avLst/>
          </a:prstGeom>
          <a:noFill/>
          <a:ln/>
        </p:spPr>
        <p:txBody>
          <a:bodyPr wrap="square" lIns="0" tIns="0" rIns="0" bIns="0" rtlCol="0" anchor="ctr"/>
          <a:lstStyle/>
          <a:p>
            <a:pPr marL="0" indent="0">
              <a:buNone/>
            </a:pPr>
            <a:r>
              <a:rPr lang="en-US" sz="1400" b="1" dirty="0">
                <a:solidFill>
                  <a:srgbClr val="C0C0C0"/>
                </a:solidFill>
                <a:latin typeface="Helvetica" pitchFamily="34" charset="0"/>
                <a:ea typeface="Helvetica" pitchFamily="34" charset="-122"/>
                <a:cs typeface="Helvetica" pitchFamily="34" charset="-120"/>
              </a:rPr>
              <a:t>03</a:t>
            </a:r>
            <a:endParaRPr lang="en-US" sz="1400" dirty="0"/>
          </a:p>
        </p:txBody>
      </p:sp>
      <p:sp>
        <p:nvSpPr>
          <p:cNvPr id="15" name="Text 13"/>
          <p:cNvSpPr/>
          <p:nvPr/>
        </p:nvSpPr>
        <p:spPr>
          <a:xfrm>
            <a:off x="1188720" y="3108960"/>
            <a:ext cx="2743200" cy="320040"/>
          </a:xfrm>
          <a:prstGeom prst="rect">
            <a:avLst/>
          </a:prstGeom>
          <a:noFill/>
          <a:ln/>
        </p:spPr>
        <p:txBody>
          <a:bodyPr wrap="square" lIns="0" tIns="0" rIns="0" bIns="0" rtlCol="0" anchor="ctr"/>
          <a:lstStyle/>
          <a:p>
            <a:pPr marL="0" indent="0">
              <a:buNone/>
            </a:pPr>
            <a:r>
              <a:rPr lang="en-US" sz="1400" b="1" dirty="0">
                <a:solidFill>
                  <a:srgbClr val="1A1A1A"/>
                </a:solidFill>
                <a:latin typeface="Helvetica" pitchFamily="34" charset="0"/>
                <a:ea typeface="Helvetica" pitchFamily="34" charset="-122"/>
                <a:cs typeface="Helvetica" pitchFamily="34" charset="-120"/>
              </a:rPr>
              <a:t>Offline operation</a:t>
            </a:r>
            <a:endParaRPr lang="en-US" sz="1400" dirty="0"/>
          </a:p>
        </p:txBody>
      </p:sp>
      <p:sp>
        <p:nvSpPr>
          <p:cNvPr id="16" name="Text 14"/>
          <p:cNvSpPr/>
          <p:nvPr/>
        </p:nvSpPr>
        <p:spPr>
          <a:xfrm>
            <a:off x="3657600" y="3063240"/>
            <a:ext cx="4846320" cy="594360"/>
          </a:xfrm>
          <a:prstGeom prst="rect">
            <a:avLst/>
          </a:prstGeom>
          <a:noFill/>
          <a:ln/>
        </p:spPr>
        <p:txBody>
          <a:bodyPr wrap="square" lIns="0" tIns="0" rIns="0" bIns="0" rtlCol="0" anchor="ctr"/>
          <a:lstStyle/>
          <a:p>
            <a:pPr marL="0" indent="0">
              <a:lnSpc>
                <a:spcPct val="135000"/>
              </a:lnSpc>
              <a:buNone/>
            </a:pPr>
            <a:r>
              <a:rPr lang="en-US" sz="1000" dirty="0">
                <a:solidFill>
                  <a:srgbClr val="4A4A4A"/>
                </a:solidFill>
                <a:latin typeface="Helvetica" pitchFamily="34" charset="0"/>
                <a:ea typeface="Helvetica" pitchFamily="34" charset="-122"/>
                <a:cs typeface="Helvetica" pitchFamily="34" charset="-120"/>
              </a:rPr>
              <a:t>Network connectivity may be intermittent or nonexistent. Detection must happen on-device in real-time, not after uploading logs to a server.</a:t>
            </a:r>
            <a:endParaRPr lang="en-US" sz="1000" dirty="0"/>
          </a:p>
        </p:txBody>
      </p:sp>
      <p:sp>
        <p:nvSpPr>
          <p:cNvPr id="17" name="Shape 15"/>
          <p:cNvSpPr/>
          <p:nvPr/>
        </p:nvSpPr>
        <p:spPr>
          <a:xfrm>
            <a:off x="1188720" y="3749040"/>
            <a:ext cx="7315200" cy="0"/>
          </a:xfrm>
          <a:prstGeom prst="line">
            <a:avLst/>
          </a:prstGeom>
          <a:noFill/>
          <a:ln w="9525">
            <a:solidFill>
              <a:srgbClr val="D8D8D8"/>
            </a:solidFill>
            <a:prstDash val="solid"/>
          </a:ln>
        </p:spPr>
      </p:sp>
      <p:sp>
        <p:nvSpPr>
          <p:cNvPr id="18" name="Text 16"/>
          <p:cNvSpPr/>
          <p:nvPr/>
        </p:nvSpPr>
        <p:spPr>
          <a:xfrm>
            <a:off x="640080" y="3886200"/>
            <a:ext cx="457200" cy="320040"/>
          </a:xfrm>
          <a:prstGeom prst="rect">
            <a:avLst/>
          </a:prstGeom>
          <a:noFill/>
          <a:ln/>
        </p:spPr>
        <p:txBody>
          <a:bodyPr wrap="square" lIns="0" tIns="0" rIns="0" bIns="0" rtlCol="0" anchor="ctr"/>
          <a:lstStyle/>
          <a:p>
            <a:pPr marL="0" indent="0">
              <a:buNone/>
            </a:pPr>
            <a:r>
              <a:rPr lang="en-US" sz="1400" b="1" dirty="0">
                <a:solidFill>
                  <a:srgbClr val="C0C0C0"/>
                </a:solidFill>
                <a:latin typeface="Helvetica" pitchFamily="34" charset="0"/>
                <a:ea typeface="Helvetica" pitchFamily="34" charset="-122"/>
                <a:cs typeface="Helvetica" pitchFamily="34" charset="-120"/>
              </a:rPr>
              <a:t>04</a:t>
            </a:r>
            <a:endParaRPr lang="en-US" sz="1400" dirty="0"/>
          </a:p>
        </p:txBody>
      </p:sp>
      <p:sp>
        <p:nvSpPr>
          <p:cNvPr id="19" name="Text 17"/>
          <p:cNvSpPr/>
          <p:nvPr/>
        </p:nvSpPr>
        <p:spPr>
          <a:xfrm>
            <a:off x="1188720" y="3886200"/>
            <a:ext cx="2743200" cy="320040"/>
          </a:xfrm>
          <a:prstGeom prst="rect">
            <a:avLst/>
          </a:prstGeom>
          <a:noFill/>
          <a:ln/>
        </p:spPr>
        <p:txBody>
          <a:bodyPr wrap="square" lIns="0" tIns="0" rIns="0" bIns="0" rtlCol="0" anchor="ctr"/>
          <a:lstStyle/>
          <a:p>
            <a:pPr marL="0" indent="0">
              <a:buNone/>
            </a:pPr>
            <a:r>
              <a:rPr lang="en-US" sz="1400" b="1" dirty="0">
                <a:solidFill>
                  <a:srgbClr val="1A1A1A"/>
                </a:solidFill>
                <a:latin typeface="Helvetica" pitchFamily="34" charset="0"/>
                <a:ea typeface="Helvetica" pitchFamily="34" charset="-122"/>
                <a:cs typeface="Helvetica" pitchFamily="34" charset="-120"/>
              </a:rPr>
              <a:t>Zero-day threats</a:t>
            </a:r>
            <a:endParaRPr lang="en-US" sz="1400" dirty="0"/>
          </a:p>
        </p:txBody>
      </p:sp>
      <p:sp>
        <p:nvSpPr>
          <p:cNvPr id="20" name="Text 18"/>
          <p:cNvSpPr/>
          <p:nvPr/>
        </p:nvSpPr>
        <p:spPr>
          <a:xfrm>
            <a:off x="3657600" y="3840480"/>
            <a:ext cx="4846320" cy="594360"/>
          </a:xfrm>
          <a:prstGeom prst="rect">
            <a:avLst/>
          </a:prstGeom>
          <a:noFill/>
          <a:ln/>
        </p:spPr>
        <p:txBody>
          <a:bodyPr wrap="square" lIns="0" tIns="0" rIns="0" bIns="0" rtlCol="0" anchor="ctr"/>
          <a:lstStyle/>
          <a:p>
            <a:pPr marL="0" indent="0">
              <a:lnSpc>
                <a:spcPct val="135000"/>
              </a:lnSpc>
              <a:buNone/>
            </a:pPr>
            <a:r>
              <a:rPr lang="en-US" sz="1000" dirty="0">
                <a:solidFill>
                  <a:srgbClr val="4A4A4A"/>
                </a:solidFill>
                <a:latin typeface="Helvetica" pitchFamily="34" charset="0"/>
                <a:ea typeface="Helvetica" pitchFamily="34" charset="-122"/>
                <a:cs typeface="Helvetica" pitchFamily="34" charset="-120"/>
              </a:rPr>
              <a:t>New, unseen attack types emerge constantly. A purely supervised classifier will miss them. we need anomaly awareness.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2743200" cy="274320"/>
          </a:xfrm>
          <a:prstGeom prst="rect">
            <a:avLst/>
          </a:prstGeom>
          <a:noFill/>
          <a:ln/>
        </p:spPr>
        <p:txBody>
          <a:bodyPr wrap="square" lIns="0" tIns="0" rIns="0" bIns="0" rtlCol="0" anchor="ctr"/>
          <a:lstStyle/>
          <a:p>
            <a:pPr marL="0" indent="0">
              <a:buNone/>
            </a:pPr>
            <a:r>
              <a:rPr lang="en-US" sz="800" kern="0" spc="300" dirty="0">
                <a:solidFill>
                  <a:srgbClr val="7A7A7A"/>
                </a:solidFill>
                <a:latin typeface="Helvetica" pitchFamily="34" charset="0"/>
                <a:ea typeface="Helvetica" pitchFamily="34" charset="-122"/>
                <a:cs typeface="Helvetica" pitchFamily="34" charset="-120"/>
              </a:rPr>
              <a:t>DATASET</a:t>
            </a:r>
            <a:endParaRPr lang="en-US" sz="800" dirty="0"/>
          </a:p>
        </p:txBody>
      </p:sp>
      <p:sp>
        <p:nvSpPr>
          <p:cNvPr id="3" name="Text 1"/>
          <p:cNvSpPr/>
          <p:nvPr/>
        </p:nvSpPr>
        <p:spPr>
          <a:xfrm>
            <a:off x="8229600" y="4617720"/>
            <a:ext cx="640080" cy="365760"/>
          </a:xfrm>
          <a:prstGeom prst="rect">
            <a:avLst/>
          </a:prstGeom>
          <a:noFill/>
          <a:ln/>
        </p:spPr>
        <p:txBody>
          <a:bodyPr wrap="square" lIns="0" tIns="0" rIns="0" bIns="0" rtlCol="0" anchor="ctr"/>
          <a:lstStyle/>
          <a:p>
            <a:pPr marL="0" indent="0" algn="r">
              <a:buNone/>
            </a:pPr>
            <a:r>
              <a:rPr lang="en-US" sz="900" dirty="0">
                <a:solidFill>
                  <a:srgbClr val="C0C0C0"/>
                </a:solidFill>
                <a:latin typeface="Helvetica" pitchFamily="34" charset="0"/>
                <a:ea typeface="Helvetica" pitchFamily="34" charset="-122"/>
                <a:cs typeface="Helvetica" pitchFamily="34" charset="-120"/>
              </a:rPr>
              <a:t>03</a:t>
            </a:r>
            <a:endParaRPr lang="en-US" sz="900" dirty="0"/>
          </a:p>
        </p:txBody>
      </p:sp>
      <p:sp>
        <p:nvSpPr>
          <p:cNvPr id="4" name="Text 2"/>
          <p:cNvSpPr/>
          <p:nvPr/>
        </p:nvSpPr>
        <p:spPr>
          <a:xfrm>
            <a:off x="640080" y="640080"/>
            <a:ext cx="7315200" cy="548640"/>
          </a:xfrm>
          <a:prstGeom prst="rect">
            <a:avLst/>
          </a:prstGeom>
          <a:noFill/>
          <a:ln/>
        </p:spPr>
        <p:txBody>
          <a:bodyPr wrap="square" lIns="0" tIns="0" rIns="0" bIns="0" rtlCol="0" anchor="ctr"/>
          <a:lstStyle/>
          <a:p>
            <a:pPr marL="0" indent="0">
              <a:buNone/>
            </a:pPr>
            <a:r>
              <a:rPr lang="en-US" sz="3200" b="1" dirty="0">
                <a:solidFill>
                  <a:srgbClr val="1A1A1A"/>
                </a:solidFill>
                <a:latin typeface="Helvetica" pitchFamily="34" charset="0"/>
                <a:ea typeface="Helvetica" pitchFamily="34" charset="-122"/>
                <a:cs typeface="Helvetica" pitchFamily="34" charset="-120"/>
              </a:rPr>
              <a:t>Why CICIDS Dataset?</a:t>
            </a:r>
            <a:endParaRPr lang="en-US" sz="3200" dirty="0"/>
          </a:p>
        </p:txBody>
      </p:sp>
      <p:sp>
        <p:nvSpPr>
          <p:cNvPr id="5" name="Shape 3"/>
          <p:cNvSpPr/>
          <p:nvPr/>
        </p:nvSpPr>
        <p:spPr>
          <a:xfrm>
            <a:off x="640080" y="1234440"/>
            <a:ext cx="7863840" cy="0"/>
          </a:xfrm>
          <a:prstGeom prst="line">
            <a:avLst/>
          </a:prstGeom>
          <a:noFill/>
          <a:ln w="9525">
            <a:solidFill>
              <a:srgbClr val="D8D8D8"/>
            </a:solidFill>
            <a:prstDash val="solid"/>
          </a:ln>
        </p:spPr>
      </p:sp>
      <p:sp>
        <p:nvSpPr>
          <p:cNvPr id="6" name="Text 4"/>
          <p:cNvSpPr/>
          <p:nvPr/>
        </p:nvSpPr>
        <p:spPr>
          <a:xfrm>
            <a:off x="640080" y="1371600"/>
            <a:ext cx="5029200" cy="731520"/>
          </a:xfrm>
          <a:prstGeom prst="rect">
            <a:avLst/>
          </a:prstGeom>
          <a:noFill/>
          <a:ln/>
        </p:spPr>
        <p:txBody>
          <a:bodyPr wrap="square" lIns="0" tIns="0" rIns="0" bIns="0" rtlCol="0" anchor="ctr"/>
          <a:lstStyle/>
          <a:p>
            <a:pPr>
              <a:lnSpc>
                <a:spcPct val="135000"/>
              </a:lnSpc>
            </a:pPr>
            <a:r>
              <a:rPr lang="en-US" sz="1050" dirty="0">
                <a:solidFill>
                  <a:srgbClr val="4A4A4A"/>
                </a:solidFill>
                <a:latin typeface="Helvetica" pitchFamily="34" charset="0"/>
                <a:ea typeface="Helvetica" pitchFamily="34" charset="-122"/>
                <a:cs typeface="Helvetica" pitchFamily="34" charset="-120"/>
              </a:rPr>
              <a:t>CICIDS is the most widely cited modern IDS benchmark. It captures five days of realistic network traffic (2.83M raw records) with both benign activity and 11 labelled attack types. providing ground truth for supervised and semi-supervised evaluation.</a:t>
            </a:r>
            <a:endParaRPr lang="en-US" sz="1050" dirty="0"/>
          </a:p>
        </p:txBody>
      </p:sp>
      <p:sp>
        <p:nvSpPr>
          <p:cNvPr id="7" name="Text 5"/>
          <p:cNvSpPr/>
          <p:nvPr/>
        </p:nvSpPr>
        <p:spPr>
          <a:xfrm>
            <a:off x="5943600" y="2286000"/>
            <a:ext cx="1371600" cy="365760"/>
          </a:xfrm>
          <a:prstGeom prst="rect">
            <a:avLst/>
          </a:prstGeom>
          <a:noFill/>
          <a:ln/>
        </p:spPr>
        <p:txBody>
          <a:bodyPr wrap="square" lIns="0" tIns="0" rIns="0" bIns="0" rtlCol="0" anchor="ctr"/>
          <a:lstStyle/>
          <a:p>
            <a:pPr marL="0" indent="0" algn="r">
              <a:buNone/>
            </a:pPr>
            <a:r>
              <a:rPr lang="en-US" sz="2200" b="1" dirty="0">
                <a:solidFill>
                  <a:srgbClr val="1A1A1A"/>
                </a:solidFill>
                <a:latin typeface="Helvetica" pitchFamily="34" charset="0"/>
                <a:ea typeface="Helvetica" pitchFamily="34" charset="-122"/>
                <a:cs typeface="Helvetica" pitchFamily="34" charset="-120"/>
              </a:rPr>
              <a:t>2,522,362</a:t>
            </a:r>
            <a:endParaRPr lang="en-US" sz="2200" dirty="0"/>
          </a:p>
        </p:txBody>
      </p:sp>
      <p:sp>
        <p:nvSpPr>
          <p:cNvPr id="8" name="Text 6"/>
          <p:cNvSpPr/>
          <p:nvPr/>
        </p:nvSpPr>
        <p:spPr>
          <a:xfrm>
            <a:off x="7452360" y="2331720"/>
            <a:ext cx="1371600" cy="274320"/>
          </a:xfrm>
          <a:prstGeom prst="rect">
            <a:avLst/>
          </a:prstGeom>
          <a:noFill/>
          <a:ln/>
        </p:spPr>
        <p:txBody>
          <a:bodyPr wrap="square" lIns="0" tIns="0" rIns="0" bIns="0" rtlCol="0" anchor="ctr"/>
          <a:lstStyle/>
          <a:p>
            <a:pPr marL="0" indent="0">
              <a:buNone/>
            </a:pPr>
            <a:r>
              <a:rPr lang="en-US" sz="900" dirty="0">
                <a:solidFill>
                  <a:srgbClr val="7A7A7A"/>
                </a:solidFill>
                <a:latin typeface="Helvetica" pitchFamily="34" charset="0"/>
                <a:ea typeface="Helvetica" pitchFamily="34" charset="-122"/>
                <a:cs typeface="Helvetica" pitchFamily="34" charset="-120"/>
              </a:rPr>
              <a:t>records after cleaning</a:t>
            </a:r>
            <a:endParaRPr lang="en-US" sz="900" dirty="0"/>
          </a:p>
        </p:txBody>
      </p:sp>
      <p:sp>
        <p:nvSpPr>
          <p:cNvPr id="9" name="Text 7"/>
          <p:cNvSpPr/>
          <p:nvPr/>
        </p:nvSpPr>
        <p:spPr>
          <a:xfrm>
            <a:off x="5943600" y="2788920"/>
            <a:ext cx="1371600" cy="365760"/>
          </a:xfrm>
          <a:prstGeom prst="rect">
            <a:avLst/>
          </a:prstGeom>
          <a:noFill/>
          <a:ln/>
        </p:spPr>
        <p:txBody>
          <a:bodyPr wrap="square" lIns="0" tIns="0" rIns="0" bIns="0" rtlCol="0" anchor="ctr"/>
          <a:lstStyle/>
          <a:p>
            <a:pPr marL="0" indent="0" algn="r">
              <a:buNone/>
            </a:pPr>
            <a:r>
              <a:rPr lang="en-US" sz="2200" b="1" dirty="0">
                <a:solidFill>
                  <a:srgbClr val="1A1A1A"/>
                </a:solidFill>
                <a:latin typeface="Helvetica" pitchFamily="34" charset="0"/>
                <a:ea typeface="Helvetica" pitchFamily="34" charset="-122"/>
                <a:cs typeface="Helvetica" pitchFamily="34" charset="-120"/>
              </a:rPr>
              <a:t>77</a:t>
            </a:r>
            <a:endParaRPr lang="en-US" sz="2200" dirty="0"/>
          </a:p>
        </p:txBody>
      </p:sp>
      <p:sp>
        <p:nvSpPr>
          <p:cNvPr id="10" name="Text 8"/>
          <p:cNvSpPr/>
          <p:nvPr/>
        </p:nvSpPr>
        <p:spPr>
          <a:xfrm>
            <a:off x="7452360" y="2834640"/>
            <a:ext cx="1371600" cy="274320"/>
          </a:xfrm>
          <a:prstGeom prst="rect">
            <a:avLst/>
          </a:prstGeom>
          <a:noFill/>
          <a:ln/>
        </p:spPr>
        <p:txBody>
          <a:bodyPr wrap="square" lIns="0" tIns="0" rIns="0" bIns="0" rtlCol="0" anchor="ctr"/>
          <a:lstStyle/>
          <a:p>
            <a:pPr marL="0" indent="0">
              <a:buNone/>
            </a:pPr>
            <a:r>
              <a:rPr lang="en-US" sz="900" dirty="0">
                <a:solidFill>
                  <a:srgbClr val="7A7A7A"/>
                </a:solidFill>
                <a:latin typeface="Helvetica" pitchFamily="34" charset="0"/>
                <a:ea typeface="Helvetica" pitchFamily="34" charset="-122"/>
                <a:cs typeface="Helvetica" pitchFamily="34" charset="-120"/>
              </a:rPr>
              <a:t>network flow features</a:t>
            </a:r>
            <a:endParaRPr lang="en-US" sz="900" dirty="0"/>
          </a:p>
        </p:txBody>
      </p:sp>
      <p:sp>
        <p:nvSpPr>
          <p:cNvPr id="11" name="Text 9"/>
          <p:cNvSpPr/>
          <p:nvPr/>
        </p:nvSpPr>
        <p:spPr>
          <a:xfrm>
            <a:off x="5943600" y="3291840"/>
            <a:ext cx="1371600" cy="365760"/>
          </a:xfrm>
          <a:prstGeom prst="rect">
            <a:avLst/>
          </a:prstGeom>
          <a:noFill/>
          <a:ln/>
        </p:spPr>
        <p:txBody>
          <a:bodyPr wrap="square" lIns="0" tIns="0" rIns="0" bIns="0" rtlCol="0" anchor="ctr"/>
          <a:lstStyle/>
          <a:p>
            <a:pPr marL="0" indent="0" algn="r">
              <a:buNone/>
            </a:pPr>
            <a:r>
              <a:rPr lang="en-US" sz="2200" b="1" dirty="0">
                <a:solidFill>
                  <a:srgbClr val="1A1A1A"/>
                </a:solidFill>
                <a:latin typeface="Helvetica" pitchFamily="34" charset="0"/>
                <a:ea typeface="Helvetica" pitchFamily="34" charset="-122"/>
                <a:cs typeface="Helvetica" pitchFamily="34" charset="-120"/>
              </a:rPr>
              <a:t>11 → 9</a:t>
            </a:r>
            <a:endParaRPr lang="en-US" sz="2200" dirty="0"/>
          </a:p>
        </p:txBody>
      </p:sp>
      <p:sp>
        <p:nvSpPr>
          <p:cNvPr id="12" name="Text 10"/>
          <p:cNvSpPr/>
          <p:nvPr/>
        </p:nvSpPr>
        <p:spPr>
          <a:xfrm>
            <a:off x="7452360" y="3337560"/>
            <a:ext cx="1371600" cy="274320"/>
          </a:xfrm>
          <a:prstGeom prst="rect">
            <a:avLst/>
          </a:prstGeom>
          <a:noFill/>
          <a:ln/>
        </p:spPr>
        <p:txBody>
          <a:bodyPr wrap="square" lIns="0" tIns="0" rIns="0" bIns="0" rtlCol="0" anchor="ctr"/>
          <a:lstStyle/>
          <a:p>
            <a:pPr marL="0" indent="0">
              <a:buNone/>
            </a:pPr>
            <a:r>
              <a:rPr lang="en-US" sz="900" dirty="0">
                <a:solidFill>
                  <a:srgbClr val="7A7A7A"/>
                </a:solidFill>
                <a:latin typeface="Helvetica" pitchFamily="34" charset="0"/>
                <a:ea typeface="Helvetica" pitchFamily="34" charset="-122"/>
                <a:cs typeface="Helvetica" pitchFamily="34" charset="-120"/>
              </a:rPr>
              <a:t>attack classes (consolidated)</a:t>
            </a:r>
            <a:endParaRPr lang="en-US" sz="900" dirty="0"/>
          </a:p>
        </p:txBody>
      </p:sp>
      <p:sp>
        <p:nvSpPr>
          <p:cNvPr id="13" name="Text 11"/>
          <p:cNvSpPr/>
          <p:nvPr/>
        </p:nvSpPr>
        <p:spPr>
          <a:xfrm>
            <a:off x="5454595" y="3794760"/>
            <a:ext cx="1860605" cy="365760"/>
          </a:xfrm>
          <a:prstGeom prst="rect">
            <a:avLst/>
          </a:prstGeom>
          <a:noFill/>
          <a:ln/>
        </p:spPr>
        <p:txBody>
          <a:bodyPr wrap="square" lIns="0" tIns="0" rIns="0" bIns="0" rtlCol="0" anchor="ctr"/>
          <a:lstStyle/>
          <a:p>
            <a:pPr marL="0" indent="0" algn="r">
              <a:buNone/>
            </a:pPr>
            <a:r>
              <a:rPr lang="en-US" sz="2200" b="1" dirty="0">
                <a:solidFill>
                  <a:srgbClr val="1A1A1A"/>
                </a:solidFill>
                <a:latin typeface="Helvetica" pitchFamily="34" charset="0"/>
                <a:ea typeface="Helvetica" pitchFamily="34" charset="-122"/>
                <a:cs typeface="Helvetica" pitchFamily="34" charset="-120"/>
              </a:rPr>
              <a:t>70 / 15 / 15</a:t>
            </a:r>
            <a:endParaRPr lang="en-US" sz="2200" dirty="0"/>
          </a:p>
        </p:txBody>
      </p:sp>
      <p:sp>
        <p:nvSpPr>
          <p:cNvPr id="14" name="Text 12"/>
          <p:cNvSpPr/>
          <p:nvPr/>
        </p:nvSpPr>
        <p:spPr>
          <a:xfrm>
            <a:off x="7452360" y="3840480"/>
            <a:ext cx="1371600" cy="274320"/>
          </a:xfrm>
          <a:prstGeom prst="rect">
            <a:avLst/>
          </a:prstGeom>
          <a:noFill/>
          <a:ln/>
        </p:spPr>
        <p:txBody>
          <a:bodyPr wrap="square" lIns="0" tIns="0" rIns="0" bIns="0" rtlCol="0" anchor="ctr"/>
          <a:lstStyle/>
          <a:p>
            <a:pPr marL="0" indent="0">
              <a:buNone/>
            </a:pPr>
            <a:r>
              <a:rPr lang="en-US" sz="900" dirty="0">
                <a:solidFill>
                  <a:srgbClr val="7A7A7A"/>
                </a:solidFill>
                <a:latin typeface="Helvetica" pitchFamily="34" charset="0"/>
                <a:ea typeface="Helvetica" pitchFamily="34" charset="-122"/>
                <a:cs typeface="Helvetica" pitchFamily="34" charset="-120"/>
              </a:rPr>
              <a:t>train / val / test split (%)</a:t>
            </a:r>
            <a:endParaRPr lang="en-US" sz="900" dirty="0"/>
          </a:p>
        </p:txBody>
      </p:sp>
      <p:sp>
        <p:nvSpPr>
          <p:cNvPr id="15" name="Text 13"/>
          <p:cNvSpPr/>
          <p:nvPr/>
        </p:nvSpPr>
        <p:spPr>
          <a:xfrm>
            <a:off x="640080" y="2331720"/>
            <a:ext cx="3657600" cy="274320"/>
          </a:xfrm>
          <a:prstGeom prst="rect">
            <a:avLst/>
          </a:prstGeom>
          <a:noFill/>
          <a:ln/>
        </p:spPr>
        <p:txBody>
          <a:bodyPr wrap="square" lIns="0" tIns="0" rIns="0" bIns="0" rtlCol="0" anchor="ctr"/>
          <a:lstStyle/>
          <a:p>
            <a:pPr marL="0" indent="0">
              <a:buNone/>
            </a:pPr>
            <a:r>
              <a:rPr lang="en-US" sz="1100" b="1" dirty="0">
                <a:solidFill>
                  <a:srgbClr val="1A1A1A"/>
                </a:solidFill>
                <a:latin typeface="Helvetica" pitchFamily="34" charset="0"/>
                <a:ea typeface="Helvetica" pitchFamily="34" charset="-122"/>
                <a:cs typeface="Helvetica" pitchFamily="34" charset="-120"/>
              </a:rPr>
              <a:t>Class distribution</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4206240" cy="2286000"/>
        </p:xfrm>
        <a:graphic>
          <a:graphicData uri="http://schemas.openxmlformats.org/drawingml/2006/table">
            <a:tbl>
              <a:tblPr/>
              <a:tblGrid>
                <a:gridCol w="18288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182880">
                <a:tc>
                  <a:txBody>
                    <a:bodyPr/>
                    <a:lstStyle/>
                    <a:p>
                      <a:pPr marL="0" indent="0">
                        <a:buNone/>
                      </a:pPr>
                      <a:r>
                        <a:rPr lang="en-US" sz="900" b="1" dirty="0">
                          <a:solidFill>
                            <a:srgbClr val="1A1A1A"/>
                          </a:solidFill>
                          <a:latin typeface="Helvetica" pitchFamily="34" charset="0"/>
                          <a:ea typeface="Helvetica" pitchFamily="34" charset="-122"/>
                          <a:cs typeface="Helvetica" pitchFamily="34" charset="-120"/>
                        </a:rPr>
                        <a:t>Class</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5F5F5"/>
                    </a:solidFill>
                  </a:tcPr>
                </a:tc>
                <a:tc>
                  <a:txBody>
                    <a:bodyPr/>
                    <a:lstStyle/>
                    <a:p>
                      <a:pPr marL="0" indent="0">
                        <a:buNone/>
                      </a:pPr>
                      <a:r>
                        <a:rPr lang="en-US" sz="900" b="1" dirty="0">
                          <a:solidFill>
                            <a:srgbClr val="1A1A1A"/>
                          </a:solidFill>
                          <a:latin typeface="Helvetica" pitchFamily="34" charset="0"/>
                          <a:ea typeface="Helvetica" pitchFamily="34" charset="-122"/>
                          <a:cs typeface="Helvetica" pitchFamily="34" charset="-120"/>
                        </a:rPr>
                        <a:t>Count</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5F5F5"/>
                    </a:solidFill>
                  </a:tcPr>
                </a:tc>
                <a:tc>
                  <a:txBody>
                    <a:bodyPr/>
                    <a:lstStyle/>
                    <a:p>
                      <a:pPr marL="0" indent="0">
                        <a:buNone/>
                      </a:pPr>
                      <a:r>
                        <a:rPr lang="en-US" sz="900" b="1" dirty="0">
                          <a:solidFill>
                            <a:srgbClr val="1A1A1A"/>
                          </a:solidFill>
                          <a:latin typeface="Helvetica" pitchFamily="34" charset="0"/>
                          <a:ea typeface="Helvetica" pitchFamily="34" charset="-122"/>
                          <a:cs typeface="Helvetica" pitchFamily="34" charset="-120"/>
                        </a:rPr>
                        <a:t>%</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5F5F5"/>
                    </a:solidFill>
                  </a:tcPr>
                </a:tc>
                <a:extLst>
                  <a:ext uri="{0D108BD9-81ED-4DB2-BD59-A6C34878D82A}">
                    <a16:rowId xmlns:a16="http://schemas.microsoft.com/office/drawing/2014/main" val="10000"/>
                  </a:ext>
                </a:extLst>
              </a:tr>
              <a:tr h="164592">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BENIGN</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2,096,484</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83.12%</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1"/>
                  </a:ext>
                </a:extLst>
              </a:tr>
              <a:tr h="164592">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DoS</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193,748</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7.68%</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2"/>
                  </a:ext>
                </a:extLst>
              </a:tr>
              <a:tr h="164592">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DDoS</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128,016</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5.08%</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3"/>
                  </a:ext>
                </a:extLst>
              </a:tr>
              <a:tr h="164592">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PortScan</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90,819</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3.60%</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4"/>
                  </a:ext>
                </a:extLst>
              </a:tr>
              <a:tr h="164592">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BruteForce</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9,152</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0.36%</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5"/>
                  </a:ext>
                </a:extLst>
              </a:tr>
              <a:tr h="164592">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Botnet</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1,953</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0.08%</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6"/>
                  </a:ext>
                </a:extLst>
              </a:tr>
              <a:tr h="164592">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Web Attack*</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2,143</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0.09%</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7"/>
                  </a:ext>
                </a:extLst>
              </a:tr>
              <a:tr h="164592">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Infiltration</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36</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0.00%</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8"/>
                  </a:ext>
                </a:extLst>
              </a:tr>
              <a:tr h="164592">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Heartbleed</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11</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0.00%</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17" name="Text 14"/>
          <p:cNvSpPr/>
          <p:nvPr/>
        </p:nvSpPr>
        <p:spPr>
          <a:xfrm>
            <a:off x="640080" y="4896016"/>
            <a:ext cx="3657600" cy="228600"/>
          </a:xfrm>
          <a:prstGeom prst="rect">
            <a:avLst/>
          </a:prstGeom>
          <a:noFill/>
          <a:ln/>
        </p:spPr>
        <p:txBody>
          <a:bodyPr wrap="square" lIns="0" tIns="0" rIns="0" bIns="0" rtlCol="0" anchor="ctr"/>
          <a:lstStyle/>
          <a:p>
            <a:pPr marL="0" indent="0">
              <a:buNone/>
            </a:pPr>
            <a:r>
              <a:rPr lang="en-US" sz="750" i="1" dirty="0">
                <a:solidFill>
                  <a:srgbClr val="7A7A7A"/>
                </a:solidFill>
                <a:latin typeface="Helvetica" pitchFamily="34" charset="0"/>
                <a:ea typeface="Helvetica" pitchFamily="34" charset="-122"/>
                <a:cs typeface="Helvetica" pitchFamily="34" charset="-120"/>
              </a:rPr>
              <a:t>* 3 Web Attack subtypes merged into one class</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2743200" cy="274320"/>
          </a:xfrm>
          <a:prstGeom prst="rect">
            <a:avLst/>
          </a:prstGeom>
          <a:noFill/>
          <a:ln/>
        </p:spPr>
        <p:txBody>
          <a:bodyPr wrap="square" lIns="0" tIns="0" rIns="0" bIns="0" rtlCol="0" anchor="ctr"/>
          <a:lstStyle/>
          <a:p>
            <a:pPr marL="0" indent="0">
              <a:buNone/>
            </a:pPr>
            <a:r>
              <a:rPr lang="en-US" sz="800" kern="0" spc="300" dirty="0">
                <a:solidFill>
                  <a:srgbClr val="7A7A7A"/>
                </a:solidFill>
                <a:latin typeface="Helvetica" pitchFamily="34" charset="0"/>
                <a:ea typeface="Helvetica" pitchFamily="34" charset="-122"/>
                <a:cs typeface="Helvetica" pitchFamily="34" charset="-120"/>
              </a:rPr>
              <a:t>CHALLENGES</a:t>
            </a:r>
            <a:endParaRPr lang="en-US" sz="800" dirty="0"/>
          </a:p>
        </p:txBody>
      </p:sp>
      <p:sp>
        <p:nvSpPr>
          <p:cNvPr id="3" name="Text 1"/>
          <p:cNvSpPr/>
          <p:nvPr/>
        </p:nvSpPr>
        <p:spPr>
          <a:xfrm>
            <a:off x="8229600" y="4617720"/>
            <a:ext cx="640080" cy="365760"/>
          </a:xfrm>
          <a:prstGeom prst="rect">
            <a:avLst/>
          </a:prstGeom>
          <a:noFill/>
          <a:ln/>
        </p:spPr>
        <p:txBody>
          <a:bodyPr wrap="square" lIns="0" tIns="0" rIns="0" bIns="0" rtlCol="0" anchor="ctr"/>
          <a:lstStyle/>
          <a:p>
            <a:pPr marL="0" indent="0" algn="r">
              <a:buNone/>
            </a:pPr>
            <a:r>
              <a:rPr lang="en-US" sz="900" dirty="0">
                <a:solidFill>
                  <a:srgbClr val="C0C0C0"/>
                </a:solidFill>
                <a:latin typeface="Helvetica" pitchFamily="34" charset="0"/>
                <a:ea typeface="Helvetica" pitchFamily="34" charset="-122"/>
                <a:cs typeface="Helvetica" pitchFamily="34" charset="-120"/>
              </a:rPr>
              <a:t>04</a:t>
            </a:r>
            <a:endParaRPr lang="en-US" sz="900" dirty="0"/>
          </a:p>
        </p:txBody>
      </p:sp>
      <p:sp>
        <p:nvSpPr>
          <p:cNvPr id="4" name="Text 2"/>
          <p:cNvSpPr/>
          <p:nvPr/>
        </p:nvSpPr>
        <p:spPr>
          <a:xfrm>
            <a:off x="640080" y="594360"/>
            <a:ext cx="7315200" cy="777240"/>
          </a:xfrm>
          <a:prstGeom prst="rect">
            <a:avLst/>
          </a:prstGeom>
          <a:noFill/>
          <a:ln/>
        </p:spPr>
        <p:txBody>
          <a:bodyPr wrap="square" lIns="0" tIns="0" rIns="0" bIns="0" rtlCol="0" anchor="ctr"/>
          <a:lstStyle/>
          <a:p>
            <a:pPr marL="0" indent="0">
              <a:lnSpc>
                <a:spcPct val="110000"/>
              </a:lnSpc>
              <a:buNone/>
            </a:pPr>
            <a:r>
              <a:rPr lang="en-US" sz="2800" b="1" dirty="0">
                <a:solidFill>
                  <a:srgbClr val="1A1A1A"/>
                </a:solidFill>
                <a:latin typeface="Helvetica" pitchFamily="34" charset="0"/>
                <a:ea typeface="Helvetica" pitchFamily="34" charset="-122"/>
                <a:cs typeface="Helvetica" pitchFamily="34" charset="-120"/>
              </a:rPr>
              <a:t>What makes this dataset hard</a:t>
            </a:r>
            <a:endParaRPr lang="en-US" sz="2800" dirty="0"/>
          </a:p>
          <a:p>
            <a:pPr marL="0" indent="0">
              <a:lnSpc>
                <a:spcPct val="110000"/>
              </a:lnSpc>
              <a:buNone/>
            </a:pPr>
            <a:r>
              <a:rPr lang="en-US" sz="2800" b="1" dirty="0">
                <a:solidFill>
                  <a:srgbClr val="1A1A1A"/>
                </a:solidFill>
                <a:latin typeface="Helvetica" pitchFamily="34" charset="0"/>
                <a:ea typeface="Helvetica" pitchFamily="34" charset="-122"/>
                <a:cs typeface="Helvetica" pitchFamily="34" charset="-120"/>
              </a:rPr>
              <a:t>&amp; what we did about it</a:t>
            </a:r>
            <a:endParaRPr lang="en-US" sz="2800" dirty="0"/>
          </a:p>
        </p:txBody>
      </p:sp>
      <p:sp>
        <p:nvSpPr>
          <p:cNvPr id="5" name="Shape 3"/>
          <p:cNvSpPr/>
          <p:nvPr/>
        </p:nvSpPr>
        <p:spPr>
          <a:xfrm>
            <a:off x="640080" y="1463040"/>
            <a:ext cx="7863840" cy="0"/>
          </a:xfrm>
          <a:prstGeom prst="line">
            <a:avLst/>
          </a:prstGeom>
          <a:noFill/>
          <a:ln w="9525">
            <a:solidFill>
              <a:srgbClr val="D8D8D8"/>
            </a:solidFill>
            <a:prstDash val="solid"/>
          </a:ln>
        </p:spPr>
      </p:sp>
      <p:sp>
        <p:nvSpPr>
          <p:cNvPr id="6" name="Shape 4"/>
          <p:cNvSpPr/>
          <p:nvPr/>
        </p:nvSpPr>
        <p:spPr>
          <a:xfrm>
            <a:off x="640080" y="1600200"/>
            <a:ext cx="7863840" cy="320040"/>
          </a:xfrm>
          <a:prstGeom prst="rect">
            <a:avLst/>
          </a:prstGeom>
          <a:solidFill>
            <a:srgbClr val="F5F5F5"/>
          </a:solidFill>
          <a:ln/>
        </p:spPr>
      </p:sp>
      <p:sp>
        <p:nvSpPr>
          <p:cNvPr id="7" name="Text 5"/>
          <p:cNvSpPr/>
          <p:nvPr/>
        </p:nvSpPr>
        <p:spPr>
          <a:xfrm>
            <a:off x="822960" y="1600200"/>
            <a:ext cx="7498080" cy="320040"/>
          </a:xfrm>
          <a:prstGeom prst="rect">
            <a:avLst/>
          </a:prstGeom>
          <a:noFill/>
          <a:ln/>
        </p:spPr>
        <p:txBody>
          <a:bodyPr wrap="square" lIns="0" tIns="0" rIns="0" bIns="0" rtlCol="0" anchor="ctr"/>
          <a:lstStyle/>
          <a:p>
            <a:pPr marL="0" indent="0">
              <a:buNone/>
            </a:pPr>
            <a:r>
              <a:rPr lang="en-US" sz="1000" b="1" dirty="0">
                <a:solidFill>
                  <a:srgbClr val="1A1A1A"/>
                </a:solidFill>
                <a:latin typeface="Helvetica" pitchFamily="34" charset="0"/>
                <a:ea typeface="Helvetica" pitchFamily="34" charset="-122"/>
                <a:cs typeface="Helvetica" pitchFamily="34" charset="-120"/>
              </a:rPr>
              <a:t>Why is class imbalance a problem?</a:t>
            </a:r>
            <a:endParaRPr lang="en-US" sz="1000" dirty="0"/>
          </a:p>
        </p:txBody>
      </p:sp>
      <p:sp>
        <p:nvSpPr>
          <p:cNvPr id="8" name="Text 6"/>
          <p:cNvSpPr/>
          <p:nvPr/>
        </p:nvSpPr>
        <p:spPr>
          <a:xfrm>
            <a:off x="822960" y="1965960"/>
            <a:ext cx="914400" cy="164592"/>
          </a:xfrm>
          <a:prstGeom prst="rect">
            <a:avLst/>
          </a:prstGeom>
          <a:noFill/>
          <a:ln/>
        </p:spPr>
        <p:txBody>
          <a:bodyPr wrap="square" lIns="0" tIns="0" rIns="0" bIns="0" rtlCol="0" anchor="ctr"/>
          <a:lstStyle/>
          <a:p>
            <a:pPr marL="0" indent="0">
              <a:buNone/>
            </a:pPr>
            <a:r>
              <a:rPr lang="en-US" sz="700" kern="0" spc="200" dirty="0">
                <a:solidFill>
                  <a:srgbClr val="7A7A7A"/>
                </a:solidFill>
                <a:latin typeface="Helvetica" pitchFamily="34" charset="0"/>
                <a:ea typeface="Helvetica" pitchFamily="34" charset="-122"/>
                <a:cs typeface="Helvetica" pitchFamily="34" charset="-120"/>
              </a:rPr>
              <a:t>PROBLEM</a:t>
            </a:r>
            <a:endParaRPr lang="en-US" sz="700" dirty="0"/>
          </a:p>
        </p:txBody>
      </p:sp>
      <p:sp>
        <p:nvSpPr>
          <p:cNvPr id="10" name="Text 8"/>
          <p:cNvSpPr/>
          <p:nvPr/>
        </p:nvSpPr>
        <p:spPr>
          <a:xfrm>
            <a:off x="4754880" y="1965960"/>
            <a:ext cx="914400" cy="164592"/>
          </a:xfrm>
          <a:prstGeom prst="rect">
            <a:avLst/>
          </a:prstGeom>
          <a:noFill/>
          <a:ln/>
        </p:spPr>
        <p:txBody>
          <a:bodyPr wrap="square" lIns="0" tIns="0" rIns="0" bIns="0" rtlCol="0" anchor="ctr"/>
          <a:lstStyle/>
          <a:p>
            <a:pPr marL="0" indent="0">
              <a:buNone/>
            </a:pPr>
            <a:r>
              <a:rPr lang="en-US" sz="700" kern="0" spc="200" dirty="0">
                <a:solidFill>
                  <a:srgbClr val="7A7A7A"/>
                </a:solidFill>
                <a:latin typeface="Helvetica" pitchFamily="34" charset="0"/>
                <a:ea typeface="Helvetica" pitchFamily="34" charset="-122"/>
                <a:cs typeface="Helvetica" pitchFamily="34" charset="-120"/>
              </a:rPr>
              <a:t>SOLUTION</a:t>
            </a:r>
            <a:endParaRPr lang="en-US" sz="700" dirty="0"/>
          </a:p>
        </p:txBody>
      </p:sp>
      <p:sp>
        <p:nvSpPr>
          <p:cNvPr id="11" name="Text 9"/>
          <p:cNvSpPr/>
          <p:nvPr/>
        </p:nvSpPr>
        <p:spPr>
          <a:xfrm>
            <a:off x="4754880" y="2130552"/>
            <a:ext cx="3749040" cy="438912"/>
          </a:xfrm>
          <a:prstGeom prst="rect">
            <a:avLst/>
          </a:prstGeom>
          <a:noFill/>
          <a:ln/>
        </p:spPr>
        <p:txBody>
          <a:bodyPr wrap="square" lIns="0" tIns="0" rIns="0" bIns="0" rtlCol="0" anchor="ctr"/>
          <a:lstStyle/>
          <a:p>
            <a:pPr marL="0" indent="0">
              <a:lnSpc>
                <a:spcPct val="125000"/>
              </a:lnSpc>
              <a:buNone/>
            </a:pPr>
            <a:r>
              <a:rPr lang="en-US" sz="900" dirty="0">
                <a:solidFill>
                  <a:srgbClr val="4A4A4A"/>
                </a:solidFill>
                <a:latin typeface="Helvetica" pitchFamily="34" charset="0"/>
                <a:ea typeface="Helvetica" pitchFamily="34" charset="-122"/>
                <a:cs typeface="Helvetica" pitchFamily="34" charset="-120"/>
              </a:rPr>
              <a:t>SMOTE oversampling for minorities + Focal Loss (γ=1.5) to down-weight easy-to-classify BENIGN samples.</a:t>
            </a:r>
            <a:endParaRPr lang="en-US" sz="900" dirty="0"/>
          </a:p>
        </p:txBody>
      </p:sp>
      <p:sp>
        <p:nvSpPr>
          <p:cNvPr id="12" name="Shape 10"/>
          <p:cNvSpPr/>
          <p:nvPr/>
        </p:nvSpPr>
        <p:spPr>
          <a:xfrm>
            <a:off x="640080" y="2697480"/>
            <a:ext cx="7863840" cy="320040"/>
          </a:xfrm>
          <a:prstGeom prst="rect">
            <a:avLst/>
          </a:prstGeom>
          <a:solidFill>
            <a:srgbClr val="F5F5F5"/>
          </a:solidFill>
          <a:ln/>
        </p:spPr>
      </p:sp>
      <p:sp>
        <p:nvSpPr>
          <p:cNvPr id="13" name="Text 11"/>
          <p:cNvSpPr/>
          <p:nvPr/>
        </p:nvSpPr>
        <p:spPr>
          <a:xfrm>
            <a:off x="822960" y="2697480"/>
            <a:ext cx="7498080" cy="320040"/>
          </a:xfrm>
          <a:prstGeom prst="rect">
            <a:avLst/>
          </a:prstGeom>
          <a:noFill/>
          <a:ln/>
        </p:spPr>
        <p:txBody>
          <a:bodyPr wrap="square" lIns="0" tIns="0" rIns="0" bIns="0" rtlCol="0" anchor="ctr"/>
          <a:lstStyle/>
          <a:p>
            <a:pPr marL="0" indent="0">
              <a:buNone/>
            </a:pPr>
            <a:r>
              <a:rPr lang="en-US" sz="1000" b="1" dirty="0">
                <a:solidFill>
                  <a:srgbClr val="1A1A1A"/>
                </a:solidFill>
                <a:latin typeface="Helvetica" pitchFamily="34" charset="0"/>
                <a:ea typeface="Helvetica" pitchFamily="34" charset="-122"/>
                <a:cs typeface="Helvetica" pitchFamily="34" charset="-120"/>
              </a:rPr>
              <a:t>Why whiten only BENIGN data?</a:t>
            </a:r>
            <a:endParaRPr lang="en-US" sz="1000" dirty="0"/>
          </a:p>
        </p:txBody>
      </p:sp>
      <p:sp>
        <p:nvSpPr>
          <p:cNvPr id="14" name="Text 12"/>
          <p:cNvSpPr/>
          <p:nvPr/>
        </p:nvSpPr>
        <p:spPr>
          <a:xfrm>
            <a:off x="822960" y="3063240"/>
            <a:ext cx="914400" cy="164592"/>
          </a:xfrm>
          <a:prstGeom prst="rect">
            <a:avLst/>
          </a:prstGeom>
          <a:noFill/>
          <a:ln/>
        </p:spPr>
        <p:txBody>
          <a:bodyPr wrap="square" lIns="0" tIns="0" rIns="0" bIns="0" rtlCol="0" anchor="ctr"/>
          <a:lstStyle/>
          <a:p>
            <a:pPr marL="0" indent="0">
              <a:buNone/>
            </a:pPr>
            <a:r>
              <a:rPr lang="en-US" sz="700" kern="0" spc="200" dirty="0">
                <a:solidFill>
                  <a:srgbClr val="7A7A7A"/>
                </a:solidFill>
                <a:latin typeface="Helvetica" pitchFamily="34" charset="0"/>
                <a:ea typeface="Helvetica" pitchFamily="34" charset="-122"/>
                <a:cs typeface="Helvetica" pitchFamily="34" charset="-120"/>
              </a:rPr>
              <a:t>PROBLEM</a:t>
            </a:r>
            <a:endParaRPr lang="en-US" sz="700" dirty="0"/>
          </a:p>
        </p:txBody>
      </p:sp>
      <p:sp>
        <p:nvSpPr>
          <p:cNvPr id="15" name="Text 13"/>
          <p:cNvSpPr/>
          <p:nvPr/>
        </p:nvSpPr>
        <p:spPr>
          <a:xfrm>
            <a:off x="822960" y="3227832"/>
            <a:ext cx="3474720" cy="438912"/>
          </a:xfrm>
          <a:prstGeom prst="rect">
            <a:avLst/>
          </a:prstGeom>
          <a:noFill/>
          <a:ln/>
        </p:spPr>
        <p:txBody>
          <a:bodyPr wrap="square" lIns="0" tIns="0" rIns="0" bIns="0" rtlCol="0" anchor="ctr"/>
          <a:lstStyle/>
          <a:p>
            <a:pPr marL="0" indent="0">
              <a:lnSpc>
                <a:spcPct val="125000"/>
              </a:lnSpc>
              <a:buNone/>
            </a:pPr>
            <a:r>
              <a:rPr lang="en-US" sz="900" dirty="0">
                <a:solidFill>
                  <a:srgbClr val="4A4A4A"/>
                </a:solidFill>
                <a:latin typeface="Helvetica" pitchFamily="34" charset="0"/>
                <a:ea typeface="Helvetica" pitchFamily="34" charset="-122"/>
                <a:cs typeface="Helvetica" pitchFamily="34" charset="-120"/>
              </a:rPr>
              <a:t>Feature redundancy. 77 raw features include correlated and differently-scaled attributes.</a:t>
            </a:r>
            <a:endParaRPr lang="en-US" sz="900" dirty="0"/>
          </a:p>
        </p:txBody>
      </p:sp>
      <p:sp>
        <p:nvSpPr>
          <p:cNvPr id="16" name="Text 14"/>
          <p:cNvSpPr/>
          <p:nvPr/>
        </p:nvSpPr>
        <p:spPr>
          <a:xfrm>
            <a:off x="4754880" y="3063240"/>
            <a:ext cx="914400" cy="164592"/>
          </a:xfrm>
          <a:prstGeom prst="rect">
            <a:avLst/>
          </a:prstGeom>
          <a:noFill/>
          <a:ln/>
        </p:spPr>
        <p:txBody>
          <a:bodyPr wrap="square" lIns="0" tIns="0" rIns="0" bIns="0" rtlCol="0" anchor="ctr"/>
          <a:lstStyle/>
          <a:p>
            <a:pPr marL="0" indent="0">
              <a:buNone/>
            </a:pPr>
            <a:r>
              <a:rPr lang="en-US" sz="700" kern="0" spc="200" dirty="0">
                <a:solidFill>
                  <a:srgbClr val="7A7A7A"/>
                </a:solidFill>
                <a:latin typeface="Helvetica" pitchFamily="34" charset="0"/>
                <a:ea typeface="Helvetica" pitchFamily="34" charset="-122"/>
                <a:cs typeface="Helvetica" pitchFamily="34" charset="-120"/>
              </a:rPr>
              <a:t>SOLUTION</a:t>
            </a:r>
            <a:endParaRPr lang="en-US" sz="700" dirty="0"/>
          </a:p>
        </p:txBody>
      </p:sp>
      <p:sp>
        <p:nvSpPr>
          <p:cNvPr id="17" name="Text 15"/>
          <p:cNvSpPr/>
          <p:nvPr/>
        </p:nvSpPr>
        <p:spPr>
          <a:xfrm>
            <a:off x="4754880" y="3227832"/>
            <a:ext cx="3749040" cy="438912"/>
          </a:xfrm>
          <a:prstGeom prst="rect">
            <a:avLst/>
          </a:prstGeom>
          <a:noFill/>
          <a:ln/>
        </p:spPr>
        <p:txBody>
          <a:bodyPr wrap="square" lIns="0" tIns="0" rIns="0" bIns="0" rtlCol="0" anchor="ctr"/>
          <a:lstStyle/>
          <a:p>
            <a:pPr marL="0" indent="0">
              <a:lnSpc>
                <a:spcPct val="125000"/>
              </a:lnSpc>
              <a:buNone/>
            </a:pPr>
            <a:r>
              <a:rPr lang="en-US" sz="900" dirty="0">
                <a:solidFill>
                  <a:srgbClr val="4A4A4A"/>
                </a:solidFill>
                <a:latin typeface="Helvetica" pitchFamily="34" charset="0"/>
                <a:ea typeface="Helvetica" pitchFamily="34" charset="-122"/>
                <a:cs typeface="Helvetica" pitchFamily="34" charset="-120"/>
              </a:rPr>
              <a:t>ZCA Whitening Transform fitted on BENIGN-only distribution, so the autoencoder learns 'normal' data geometry and anomalies deviate more.</a:t>
            </a:r>
            <a:endParaRPr lang="en-US" sz="900" dirty="0"/>
          </a:p>
        </p:txBody>
      </p:sp>
      <p:sp>
        <p:nvSpPr>
          <p:cNvPr id="18" name="Shape 16"/>
          <p:cNvSpPr/>
          <p:nvPr/>
        </p:nvSpPr>
        <p:spPr>
          <a:xfrm>
            <a:off x="640080" y="3794760"/>
            <a:ext cx="7863840" cy="320040"/>
          </a:xfrm>
          <a:prstGeom prst="rect">
            <a:avLst/>
          </a:prstGeom>
          <a:solidFill>
            <a:srgbClr val="F5F5F5"/>
          </a:solidFill>
          <a:ln/>
        </p:spPr>
      </p:sp>
      <p:sp>
        <p:nvSpPr>
          <p:cNvPr id="19" name="Text 17"/>
          <p:cNvSpPr/>
          <p:nvPr/>
        </p:nvSpPr>
        <p:spPr>
          <a:xfrm>
            <a:off x="822960" y="3794760"/>
            <a:ext cx="7498080" cy="320040"/>
          </a:xfrm>
          <a:prstGeom prst="rect">
            <a:avLst/>
          </a:prstGeom>
          <a:noFill/>
          <a:ln/>
        </p:spPr>
        <p:txBody>
          <a:bodyPr wrap="square" lIns="0" tIns="0" rIns="0" bIns="0" rtlCol="0" anchor="ctr"/>
          <a:lstStyle/>
          <a:p>
            <a:pPr marL="0" indent="0">
              <a:buNone/>
            </a:pPr>
            <a:r>
              <a:rPr lang="en-US" sz="1000" b="1" dirty="0">
                <a:solidFill>
                  <a:srgbClr val="1A1A1A"/>
                </a:solidFill>
                <a:latin typeface="Helvetica" pitchFamily="34" charset="0"/>
                <a:ea typeface="Helvetica" pitchFamily="34" charset="-122"/>
                <a:cs typeface="Helvetica" pitchFamily="34" charset="-120"/>
              </a:rPr>
              <a:t>Why consolidate 11 classes to 9?</a:t>
            </a:r>
            <a:endParaRPr lang="en-US" sz="1000" dirty="0"/>
          </a:p>
        </p:txBody>
      </p:sp>
      <p:sp>
        <p:nvSpPr>
          <p:cNvPr id="20" name="Text 18"/>
          <p:cNvSpPr/>
          <p:nvPr/>
        </p:nvSpPr>
        <p:spPr>
          <a:xfrm>
            <a:off x="822960" y="4160520"/>
            <a:ext cx="914400" cy="164592"/>
          </a:xfrm>
          <a:prstGeom prst="rect">
            <a:avLst/>
          </a:prstGeom>
          <a:noFill/>
          <a:ln/>
        </p:spPr>
        <p:txBody>
          <a:bodyPr wrap="square" lIns="0" tIns="0" rIns="0" bIns="0" rtlCol="0" anchor="ctr"/>
          <a:lstStyle/>
          <a:p>
            <a:pPr marL="0" indent="0">
              <a:buNone/>
            </a:pPr>
            <a:r>
              <a:rPr lang="en-US" sz="700" kern="0" spc="200" dirty="0">
                <a:solidFill>
                  <a:srgbClr val="7A7A7A"/>
                </a:solidFill>
                <a:latin typeface="Helvetica" pitchFamily="34" charset="0"/>
                <a:ea typeface="Helvetica" pitchFamily="34" charset="-122"/>
                <a:cs typeface="Helvetica" pitchFamily="34" charset="-120"/>
              </a:rPr>
              <a:t>PROBLEM</a:t>
            </a:r>
            <a:endParaRPr lang="en-US" sz="700" dirty="0"/>
          </a:p>
        </p:txBody>
      </p:sp>
      <p:sp>
        <p:nvSpPr>
          <p:cNvPr id="21" name="Text 19"/>
          <p:cNvSpPr/>
          <p:nvPr/>
        </p:nvSpPr>
        <p:spPr>
          <a:xfrm>
            <a:off x="822960" y="4325112"/>
            <a:ext cx="3474720" cy="438912"/>
          </a:xfrm>
          <a:prstGeom prst="rect">
            <a:avLst/>
          </a:prstGeom>
          <a:noFill/>
          <a:ln/>
        </p:spPr>
        <p:txBody>
          <a:bodyPr wrap="square" lIns="0" tIns="0" rIns="0" bIns="0" rtlCol="0" anchor="ctr"/>
          <a:lstStyle/>
          <a:p>
            <a:pPr marL="0" indent="0">
              <a:lnSpc>
                <a:spcPct val="125000"/>
              </a:lnSpc>
              <a:buNone/>
            </a:pPr>
            <a:r>
              <a:rPr lang="en-US" sz="900" dirty="0">
                <a:solidFill>
                  <a:srgbClr val="4A4A4A"/>
                </a:solidFill>
                <a:latin typeface="Helvetica" pitchFamily="34" charset="0"/>
                <a:ea typeface="Helvetica" pitchFamily="34" charset="-122"/>
                <a:cs typeface="Helvetica" pitchFamily="34" charset="-120"/>
              </a:rPr>
              <a:t>Web Attack sub-types (XSS, SQL Injection, Brute Force) have &lt;700 total samples across 3 classes.</a:t>
            </a:r>
            <a:endParaRPr lang="en-US" sz="900" dirty="0"/>
          </a:p>
        </p:txBody>
      </p:sp>
      <p:sp>
        <p:nvSpPr>
          <p:cNvPr id="22" name="Text 20"/>
          <p:cNvSpPr/>
          <p:nvPr/>
        </p:nvSpPr>
        <p:spPr>
          <a:xfrm>
            <a:off x="4754880" y="4160520"/>
            <a:ext cx="914400" cy="164592"/>
          </a:xfrm>
          <a:prstGeom prst="rect">
            <a:avLst/>
          </a:prstGeom>
          <a:noFill/>
          <a:ln/>
        </p:spPr>
        <p:txBody>
          <a:bodyPr wrap="square" lIns="0" tIns="0" rIns="0" bIns="0" rtlCol="0" anchor="ctr"/>
          <a:lstStyle/>
          <a:p>
            <a:pPr marL="0" indent="0">
              <a:buNone/>
            </a:pPr>
            <a:r>
              <a:rPr lang="en-US" sz="700" kern="0" spc="200" dirty="0">
                <a:solidFill>
                  <a:srgbClr val="7A7A7A"/>
                </a:solidFill>
                <a:latin typeface="Helvetica" pitchFamily="34" charset="0"/>
                <a:ea typeface="Helvetica" pitchFamily="34" charset="-122"/>
                <a:cs typeface="Helvetica" pitchFamily="34" charset="-120"/>
              </a:rPr>
              <a:t>SOLUTION</a:t>
            </a:r>
            <a:endParaRPr lang="en-US" sz="700" dirty="0"/>
          </a:p>
        </p:txBody>
      </p:sp>
      <p:sp>
        <p:nvSpPr>
          <p:cNvPr id="23" name="Text 21"/>
          <p:cNvSpPr/>
          <p:nvPr/>
        </p:nvSpPr>
        <p:spPr>
          <a:xfrm>
            <a:off x="4754880" y="4325112"/>
            <a:ext cx="3749040" cy="438912"/>
          </a:xfrm>
          <a:prstGeom prst="rect">
            <a:avLst/>
          </a:prstGeom>
          <a:noFill/>
          <a:ln/>
        </p:spPr>
        <p:txBody>
          <a:bodyPr wrap="square" lIns="0" tIns="0" rIns="0" bIns="0" rtlCol="0" anchor="ctr"/>
          <a:lstStyle/>
          <a:p>
            <a:pPr marL="0" indent="0">
              <a:lnSpc>
                <a:spcPct val="125000"/>
              </a:lnSpc>
              <a:buNone/>
            </a:pPr>
            <a:r>
              <a:rPr lang="en-US" sz="900" dirty="0">
                <a:solidFill>
                  <a:srgbClr val="4A4A4A"/>
                </a:solidFill>
                <a:latin typeface="Helvetica" pitchFamily="34" charset="0"/>
                <a:ea typeface="Helvetica" pitchFamily="34" charset="-122"/>
                <a:cs typeface="Helvetica" pitchFamily="34" charset="-120"/>
              </a:rPr>
              <a:t>Merge into a single 'Web Attack' class to give the classifier enough signal. Reduces noise without losing information.</a:t>
            </a:r>
            <a:endParaRPr lang="en-US" sz="900" dirty="0"/>
          </a:p>
        </p:txBody>
      </p:sp>
      <p:sp>
        <p:nvSpPr>
          <p:cNvPr id="9" name="Text 7"/>
          <p:cNvSpPr/>
          <p:nvPr/>
        </p:nvSpPr>
        <p:spPr>
          <a:xfrm>
            <a:off x="822960" y="2130552"/>
            <a:ext cx="3474720" cy="438912"/>
          </a:xfrm>
          <a:prstGeom prst="rect">
            <a:avLst/>
          </a:prstGeom>
          <a:noFill/>
          <a:ln/>
        </p:spPr>
        <p:txBody>
          <a:bodyPr wrap="square" lIns="0" tIns="0" rIns="0" bIns="0" rtlCol="0" anchor="ctr"/>
          <a:lstStyle/>
          <a:p>
            <a:pPr>
              <a:lnSpc>
                <a:spcPct val="125000"/>
              </a:lnSpc>
            </a:pPr>
            <a:r>
              <a:rPr lang="en-US" sz="900" dirty="0">
                <a:solidFill>
                  <a:srgbClr val="4A4A4A"/>
                </a:solidFill>
                <a:latin typeface="Helvetica" pitchFamily="34" charset="0"/>
                <a:ea typeface="Helvetica" pitchFamily="34" charset="-122"/>
                <a:cs typeface="Helvetica" pitchFamily="34" charset="-120"/>
              </a:rPr>
              <a:t>Extreme imbalance BENIGN is 83%, Heartbleed is 0.0004%. Standard cross-entropy ignores minority classes entirely.</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2743200" cy="274320"/>
          </a:xfrm>
          <a:prstGeom prst="rect">
            <a:avLst/>
          </a:prstGeom>
          <a:noFill/>
          <a:ln/>
        </p:spPr>
        <p:txBody>
          <a:bodyPr wrap="square" lIns="0" tIns="0" rIns="0" bIns="0" rtlCol="0" anchor="ctr"/>
          <a:lstStyle/>
          <a:p>
            <a:pPr marL="0" indent="0">
              <a:buNone/>
            </a:pPr>
            <a:r>
              <a:rPr lang="en-US" sz="800" kern="0" spc="300" dirty="0">
                <a:solidFill>
                  <a:srgbClr val="7A7A7A"/>
                </a:solidFill>
                <a:latin typeface="Helvetica" pitchFamily="34" charset="0"/>
                <a:ea typeface="Helvetica" pitchFamily="34" charset="-122"/>
                <a:cs typeface="Helvetica" pitchFamily="34" charset="-120"/>
              </a:rPr>
              <a:t>EVALUATION</a:t>
            </a:r>
            <a:endParaRPr lang="en-US" sz="800" dirty="0"/>
          </a:p>
        </p:txBody>
      </p:sp>
      <p:sp>
        <p:nvSpPr>
          <p:cNvPr id="3" name="Text 1"/>
          <p:cNvSpPr/>
          <p:nvPr/>
        </p:nvSpPr>
        <p:spPr>
          <a:xfrm>
            <a:off x="8229600" y="4617720"/>
            <a:ext cx="640080" cy="365760"/>
          </a:xfrm>
          <a:prstGeom prst="rect">
            <a:avLst/>
          </a:prstGeom>
          <a:noFill/>
          <a:ln/>
        </p:spPr>
        <p:txBody>
          <a:bodyPr wrap="square" lIns="0" tIns="0" rIns="0" bIns="0" rtlCol="0" anchor="ctr"/>
          <a:lstStyle/>
          <a:p>
            <a:pPr marL="0" indent="0" algn="r">
              <a:buNone/>
            </a:pPr>
            <a:r>
              <a:rPr lang="en-US" sz="900" dirty="0">
                <a:solidFill>
                  <a:srgbClr val="C0C0C0"/>
                </a:solidFill>
                <a:latin typeface="Helvetica" pitchFamily="34" charset="0"/>
                <a:ea typeface="Helvetica" pitchFamily="34" charset="-122"/>
                <a:cs typeface="Helvetica" pitchFamily="34" charset="-120"/>
              </a:rPr>
              <a:t>05</a:t>
            </a:r>
            <a:endParaRPr lang="en-US" sz="900" dirty="0"/>
          </a:p>
        </p:txBody>
      </p:sp>
      <p:sp>
        <p:nvSpPr>
          <p:cNvPr id="4" name="Text 2"/>
          <p:cNvSpPr/>
          <p:nvPr/>
        </p:nvSpPr>
        <p:spPr>
          <a:xfrm>
            <a:off x="640080" y="640080"/>
            <a:ext cx="7315200" cy="548640"/>
          </a:xfrm>
          <a:prstGeom prst="rect">
            <a:avLst/>
          </a:prstGeom>
          <a:noFill/>
          <a:ln/>
        </p:spPr>
        <p:txBody>
          <a:bodyPr wrap="square" lIns="0" tIns="0" rIns="0" bIns="0" rtlCol="0" anchor="ctr"/>
          <a:lstStyle/>
          <a:p>
            <a:pPr marL="0" indent="0">
              <a:buNone/>
            </a:pPr>
            <a:r>
              <a:rPr lang="en-US" sz="3200" b="1" dirty="0">
                <a:solidFill>
                  <a:srgbClr val="1A1A1A"/>
                </a:solidFill>
                <a:latin typeface="Helvetica" pitchFamily="34" charset="0"/>
                <a:ea typeface="Helvetica" pitchFamily="34" charset="-122"/>
                <a:cs typeface="Helvetica" pitchFamily="34" charset="-120"/>
              </a:rPr>
              <a:t>Why these metrics?</a:t>
            </a:r>
            <a:endParaRPr lang="en-US" sz="3200" dirty="0"/>
          </a:p>
        </p:txBody>
      </p:sp>
      <p:sp>
        <p:nvSpPr>
          <p:cNvPr id="5" name="Shape 3"/>
          <p:cNvSpPr/>
          <p:nvPr/>
        </p:nvSpPr>
        <p:spPr>
          <a:xfrm>
            <a:off x="640080" y="1234440"/>
            <a:ext cx="7863840" cy="0"/>
          </a:xfrm>
          <a:prstGeom prst="line">
            <a:avLst/>
          </a:prstGeom>
          <a:noFill/>
          <a:ln w="9525">
            <a:solidFill>
              <a:srgbClr val="D8D8D8"/>
            </a:solidFill>
            <a:prstDash val="solid"/>
          </a:ln>
        </p:spPr>
      </p:sp>
      <p:sp>
        <p:nvSpPr>
          <p:cNvPr id="6" name="Text 4"/>
          <p:cNvSpPr/>
          <p:nvPr/>
        </p:nvSpPr>
        <p:spPr>
          <a:xfrm>
            <a:off x="640080" y="1417320"/>
            <a:ext cx="7863840" cy="502920"/>
          </a:xfrm>
          <a:prstGeom prst="rect">
            <a:avLst/>
          </a:prstGeom>
          <a:noFill/>
          <a:ln/>
        </p:spPr>
        <p:txBody>
          <a:bodyPr wrap="square" lIns="0" tIns="0" rIns="0" bIns="0" rtlCol="0" anchor="ctr"/>
          <a:lstStyle/>
          <a:p>
            <a:pPr marL="0" indent="0">
              <a:lnSpc>
                <a:spcPct val="140000"/>
              </a:lnSpc>
              <a:buNone/>
            </a:pPr>
            <a:r>
              <a:rPr lang="en-US" sz="1100" dirty="0">
                <a:solidFill>
                  <a:srgbClr val="4A4A4A"/>
                </a:solidFill>
                <a:latin typeface="Helvetica" pitchFamily="34" charset="0"/>
                <a:ea typeface="Helvetica" pitchFamily="34" charset="-122"/>
                <a:cs typeface="Helvetica" pitchFamily="34" charset="-120"/>
              </a:rPr>
              <a:t>Accuracy alone is misleading when 83% of traffic is benign. A model that predicts 'BENIGN' for everything scores 83% accuracy but catches zero attacks.</a:t>
            </a:r>
            <a:endParaRPr lang="en-US" sz="1100" dirty="0"/>
          </a:p>
        </p:txBody>
      </p:sp>
      <p:sp>
        <p:nvSpPr>
          <p:cNvPr id="7" name="Text 5"/>
          <p:cNvSpPr/>
          <p:nvPr/>
        </p:nvSpPr>
        <p:spPr>
          <a:xfrm>
            <a:off x="640080" y="2103120"/>
            <a:ext cx="2103120" cy="320040"/>
          </a:xfrm>
          <a:prstGeom prst="rect">
            <a:avLst/>
          </a:prstGeom>
          <a:noFill/>
          <a:ln/>
        </p:spPr>
        <p:txBody>
          <a:bodyPr wrap="square" lIns="0" tIns="0" rIns="0" bIns="0" rtlCol="0" anchor="ctr"/>
          <a:lstStyle/>
          <a:p>
            <a:pPr marL="0" indent="0">
              <a:buNone/>
            </a:pPr>
            <a:r>
              <a:rPr lang="en-US" sz="1200" b="1" dirty="0">
                <a:solidFill>
                  <a:srgbClr val="1A1A1A"/>
                </a:solidFill>
                <a:latin typeface="Helvetica" pitchFamily="34" charset="0"/>
                <a:ea typeface="Helvetica" pitchFamily="34" charset="-122"/>
                <a:cs typeface="Helvetica" pitchFamily="34" charset="-120"/>
              </a:rPr>
              <a:t>Macro F1-Score</a:t>
            </a:r>
            <a:endParaRPr lang="en-US" sz="1200" dirty="0"/>
          </a:p>
        </p:txBody>
      </p:sp>
      <p:sp>
        <p:nvSpPr>
          <p:cNvPr id="8" name="Text 6"/>
          <p:cNvSpPr/>
          <p:nvPr/>
        </p:nvSpPr>
        <p:spPr>
          <a:xfrm>
            <a:off x="2926080" y="2057400"/>
            <a:ext cx="5577840" cy="502920"/>
          </a:xfrm>
          <a:prstGeom prst="rect">
            <a:avLst/>
          </a:prstGeom>
          <a:noFill/>
          <a:ln/>
        </p:spPr>
        <p:txBody>
          <a:bodyPr wrap="square" lIns="0" tIns="0" rIns="0" bIns="0" rtlCol="0" anchor="ctr"/>
          <a:lstStyle/>
          <a:p>
            <a:pPr marL="0" indent="0">
              <a:lnSpc>
                <a:spcPct val="135000"/>
              </a:lnSpc>
              <a:buNone/>
            </a:pPr>
            <a:r>
              <a:rPr lang="en-US" sz="950" dirty="0">
                <a:solidFill>
                  <a:srgbClr val="4A4A4A"/>
                </a:solidFill>
                <a:latin typeface="Helvetica" pitchFamily="34" charset="0"/>
                <a:ea typeface="Helvetica" pitchFamily="34" charset="-122"/>
                <a:cs typeface="Helvetica" pitchFamily="34" charset="-120"/>
              </a:rPr>
              <a:t>Primary metric. Averages F1 across all 9 classes equally so a rare class (Heartbleed: 11 samples) matters as much as BENIGN (2M samples).</a:t>
            </a:r>
            <a:endParaRPr lang="en-US" sz="950" dirty="0"/>
          </a:p>
        </p:txBody>
      </p:sp>
      <p:sp>
        <p:nvSpPr>
          <p:cNvPr id="9" name="Shape 7"/>
          <p:cNvSpPr/>
          <p:nvPr/>
        </p:nvSpPr>
        <p:spPr>
          <a:xfrm>
            <a:off x="1188720" y="2560320"/>
            <a:ext cx="7315200" cy="0"/>
          </a:xfrm>
          <a:prstGeom prst="line">
            <a:avLst/>
          </a:prstGeom>
          <a:noFill/>
          <a:ln w="9525">
            <a:solidFill>
              <a:srgbClr val="D8D8D8"/>
            </a:solidFill>
            <a:prstDash val="solid"/>
          </a:ln>
        </p:spPr>
      </p:sp>
      <p:sp>
        <p:nvSpPr>
          <p:cNvPr id="10" name="Text 8"/>
          <p:cNvSpPr/>
          <p:nvPr/>
        </p:nvSpPr>
        <p:spPr>
          <a:xfrm>
            <a:off x="640080" y="2697480"/>
            <a:ext cx="2103120" cy="320040"/>
          </a:xfrm>
          <a:prstGeom prst="rect">
            <a:avLst/>
          </a:prstGeom>
          <a:noFill/>
          <a:ln/>
        </p:spPr>
        <p:txBody>
          <a:bodyPr wrap="square" lIns="0" tIns="0" rIns="0" bIns="0" rtlCol="0" anchor="ctr"/>
          <a:lstStyle/>
          <a:p>
            <a:pPr marL="0" indent="0">
              <a:buNone/>
            </a:pPr>
            <a:r>
              <a:rPr lang="en-US" sz="1200" b="1" dirty="0">
                <a:solidFill>
                  <a:srgbClr val="1A1A1A"/>
                </a:solidFill>
                <a:latin typeface="Helvetica" pitchFamily="34" charset="0"/>
                <a:ea typeface="Helvetica" pitchFamily="34" charset="-122"/>
                <a:cs typeface="Helvetica" pitchFamily="34" charset="-120"/>
              </a:rPr>
              <a:t>AUROC</a:t>
            </a:r>
            <a:endParaRPr lang="en-US" sz="1200" dirty="0"/>
          </a:p>
        </p:txBody>
      </p:sp>
      <p:sp>
        <p:nvSpPr>
          <p:cNvPr id="11" name="Text 9"/>
          <p:cNvSpPr/>
          <p:nvPr/>
        </p:nvSpPr>
        <p:spPr>
          <a:xfrm>
            <a:off x="2926080" y="2651760"/>
            <a:ext cx="5577840" cy="502920"/>
          </a:xfrm>
          <a:prstGeom prst="rect">
            <a:avLst/>
          </a:prstGeom>
          <a:noFill/>
          <a:ln/>
        </p:spPr>
        <p:txBody>
          <a:bodyPr wrap="square" lIns="0" tIns="0" rIns="0" bIns="0" rtlCol="0" anchor="ctr"/>
          <a:lstStyle/>
          <a:p>
            <a:pPr marL="0" indent="0">
              <a:lnSpc>
                <a:spcPct val="135000"/>
              </a:lnSpc>
              <a:buNone/>
            </a:pPr>
            <a:r>
              <a:rPr lang="en-US" sz="950" dirty="0">
                <a:solidFill>
                  <a:srgbClr val="4A4A4A"/>
                </a:solidFill>
                <a:latin typeface="Helvetica" pitchFamily="34" charset="0"/>
                <a:ea typeface="Helvetica" pitchFamily="34" charset="-122"/>
                <a:cs typeface="Helvetica" pitchFamily="34" charset="-120"/>
              </a:rPr>
              <a:t>Measures anomaly detection quality across all thresholds. Essential for the reconstruction-error scoring path.</a:t>
            </a:r>
            <a:endParaRPr lang="en-US" sz="950" dirty="0"/>
          </a:p>
        </p:txBody>
      </p:sp>
      <p:sp>
        <p:nvSpPr>
          <p:cNvPr id="12" name="Shape 10"/>
          <p:cNvSpPr/>
          <p:nvPr/>
        </p:nvSpPr>
        <p:spPr>
          <a:xfrm>
            <a:off x="1188720" y="3154680"/>
            <a:ext cx="7315200" cy="0"/>
          </a:xfrm>
          <a:prstGeom prst="line">
            <a:avLst/>
          </a:prstGeom>
          <a:noFill/>
          <a:ln w="9525">
            <a:solidFill>
              <a:srgbClr val="D8D8D8"/>
            </a:solidFill>
            <a:prstDash val="solid"/>
          </a:ln>
        </p:spPr>
      </p:sp>
      <p:sp>
        <p:nvSpPr>
          <p:cNvPr id="13" name="Text 11"/>
          <p:cNvSpPr/>
          <p:nvPr/>
        </p:nvSpPr>
        <p:spPr>
          <a:xfrm>
            <a:off x="640080" y="3291840"/>
            <a:ext cx="2103120" cy="320040"/>
          </a:xfrm>
          <a:prstGeom prst="rect">
            <a:avLst/>
          </a:prstGeom>
          <a:noFill/>
          <a:ln/>
        </p:spPr>
        <p:txBody>
          <a:bodyPr wrap="square" lIns="0" tIns="0" rIns="0" bIns="0" rtlCol="0" anchor="ctr"/>
          <a:lstStyle/>
          <a:p>
            <a:pPr marL="0" indent="0">
              <a:buNone/>
            </a:pPr>
            <a:r>
              <a:rPr lang="en-US" sz="1200" b="1" dirty="0">
                <a:solidFill>
                  <a:srgbClr val="1A1A1A"/>
                </a:solidFill>
                <a:latin typeface="Helvetica" pitchFamily="34" charset="0"/>
                <a:ea typeface="Helvetica" pitchFamily="34" charset="-122"/>
                <a:cs typeface="Helvetica" pitchFamily="34" charset="-120"/>
              </a:rPr>
              <a:t>Precision / Recall</a:t>
            </a:r>
            <a:endParaRPr lang="en-US" sz="1200" dirty="0"/>
          </a:p>
        </p:txBody>
      </p:sp>
      <p:sp>
        <p:nvSpPr>
          <p:cNvPr id="14" name="Text 12"/>
          <p:cNvSpPr/>
          <p:nvPr/>
        </p:nvSpPr>
        <p:spPr>
          <a:xfrm>
            <a:off x="2926080" y="3246120"/>
            <a:ext cx="5577840" cy="502920"/>
          </a:xfrm>
          <a:prstGeom prst="rect">
            <a:avLst/>
          </a:prstGeom>
          <a:noFill/>
          <a:ln/>
        </p:spPr>
        <p:txBody>
          <a:bodyPr wrap="square" lIns="0" tIns="0" rIns="0" bIns="0" rtlCol="0" anchor="ctr"/>
          <a:lstStyle/>
          <a:p>
            <a:pPr marL="0" indent="0">
              <a:lnSpc>
                <a:spcPct val="135000"/>
              </a:lnSpc>
              <a:buNone/>
            </a:pPr>
            <a:r>
              <a:rPr lang="en-US" sz="950" dirty="0">
                <a:solidFill>
                  <a:srgbClr val="4A4A4A"/>
                </a:solidFill>
                <a:latin typeface="Helvetica" pitchFamily="34" charset="0"/>
                <a:ea typeface="Helvetica" pitchFamily="34" charset="-122"/>
                <a:cs typeface="Helvetica" pitchFamily="34" charset="-120"/>
              </a:rPr>
              <a:t>Per-class precision catches over-alerting (false positives); recall catches missed attacks (false negatives).</a:t>
            </a:r>
            <a:endParaRPr lang="en-US" sz="950" dirty="0"/>
          </a:p>
        </p:txBody>
      </p:sp>
      <p:sp>
        <p:nvSpPr>
          <p:cNvPr id="15" name="Shape 13"/>
          <p:cNvSpPr/>
          <p:nvPr/>
        </p:nvSpPr>
        <p:spPr>
          <a:xfrm>
            <a:off x="1188720" y="3749040"/>
            <a:ext cx="7315200" cy="0"/>
          </a:xfrm>
          <a:prstGeom prst="line">
            <a:avLst/>
          </a:prstGeom>
          <a:noFill/>
          <a:ln w="9525">
            <a:solidFill>
              <a:srgbClr val="D8D8D8"/>
            </a:solidFill>
            <a:prstDash val="solid"/>
          </a:ln>
        </p:spPr>
      </p:sp>
      <p:sp>
        <p:nvSpPr>
          <p:cNvPr id="16" name="Text 14"/>
          <p:cNvSpPr/>
          <p:nvPr/>
        </p:nvSpPr>
        <p:spPr>
          <a:xfrm>
            <a:off x="640080" y="3886200"/>
            <a:ext cx="2103120" cy="320040"/>
          </a:xfrm>
          <a:prstGeom prst="rect">
            <a:avLst/>
          </a:prstGeom>
          <a:noFill/>
          <a:ln/>
        </p:spPr>
        <p:txBody>
          <a:bodyPr wrap="square" lIns="0" tIns="0" rIns="0" bIns="0" rtlCol="0" anchor="ctr"/>
          <a:lstStyle/>
          <a:p>
            <a:pPr marL="0" indent="0">
              <a:buNone/>
            </a:pPr>
            <a:r>
              <a:rPr lang="en-US" sz="1200" b="1" dirty="0">
                <a:solidFill>
                  <a:srgbClr val="1A1A1A"/>
                </a:solidFill>
                <a:latin typeface="Helvetica" pitchFamily="34" charset="0"/>
                <a:ea typeface="Helvetica" pitchFamily="34" charset="-122"/>
                <a:cs typeface="Helvetica" pitchFamily="34" charset="-120"/>
              </a:rPr>
              <a:t>False Positive Rate</a:t>
            </a:r>
            <a:endParaRPr lang="en-US" sz="1200" dirty="0"/>
          </a:p>
        </p:txBody>
      </p:sp>
      <p:sp>
        <p:nvSpPr>
          <p:cNvPr id="17" name="Text 15"/>
          <p:cNvSpPr/>
          <p:nvPr/>
        </p:nvSpPr>
        <p:spPr>
          <a:xfrm>
            <a:off x="2926080" y="3840480"/>
            <a:ext cx="5577840" cy="502920"/>
          </a:xfrm>
          <a:prstGeom prst="rect">
            <a:avLst/>
          </a:prstGeom>
          <a:noFill/>
          <a:ln/>
        </p:spPr>
        <p:txBody>
          <a:bodyPr wrap="square" lIns="0" tIns="0" rIns="0" bIns="0" rtlCol="0" anchor="ctr"/>
          <a:lstStyle/>
          <a:p>
            <a:pPr marL="0" indent="0">
              <a:lnSpc>
                <a:spcPct val="135000"/>
              </a:lnSpc>
              <a:buNone/>
            </a:pPr>
            <a:r>
              <a:rPr lang="en-US" sz="950" dirty="0">
                <a:solidFill>
                  <a:srgbClr val="4A4A4A"/>
                </a:solidFill>
                <a:latin typeface="Helvetica" pitchFamily="34" charset="0"/>
                <a:ea typeface="Helvetica" pitchFamily="34" charset="-122"/>
                <a:cs typeface="Helvetica" pitchFamily="34" charset="-120"/>
              </a:rPr>
              <a:t>Critical for edge deployment  every false alarm consumes operator attention and device resources.</a:t>
            </a:r>
            <a:endParaRPr lang="en-US" sz="950" dirty="0"/>
          </a:p>
        </p:txBody>
      </p:sp>
      <p:sp>
        <p:nvSpPr>
          <p:cNvPr id="18" name="Shape 16"/>
          <p:cNvSpPr/>
          <p:nvPr/>
        </p:nvSpPr>
        <p:spPr>
          <a:xfrm>
            <a:off x="1188720" y="4343400"/>
            <a:ext cx="7315200" cy="0"/>
          </a:xfrm>
          <a:prstGeom prst="line">
            <a:avLst/>
          </a:prstGeom>
          <a:noFill/>
          <a:ln w="9525">
            <a:solidFill>
              <a:srgbClr val="D8D8D8"/>
            </a:solidFill>
            <a:prstDash val="solid"/>
          </a:ln>
        </p:spPr>
      </p:sp>
      <p:sp>
        <p:nvSpPr>
          <p:cNvPr id="19" name="Text 17"/>
          <p:cNvSpPr/>
          <p:nvPr/>
        </p:nvSpPr>
        <p:spPr>
          <a:xfrm>
            <a:off x="640080" y="4480560"/>
            <a:ext cx="2103120" cy="320040"/>
          </a:xfrm>
          <a:prstGeom prst="rect">
            <a:avLst/>
          </a:prstGeom>
          <a:noFill/>
          <a:ln/>
        </p:spPr>
        <p:txBody>
          <a:bodyPr wrap="square" lIns="0" tIns="0" rIns="0" bIns="0" rtlCol="0" anchor="ctr"/>
          <a:lstStyle/>
          <a:p>
            <a:pPr marL="0" indent="0">
              <a:buNone/>
            </a:pPr>
            <a:r>
              <a:rPr lang="en-US" sz="1200" b="1" dirty="0">
                <a:solidFill>
                  <a:srgbClr val="1A1A1A"/>
                </a:solidFill>
                <a:latin typeface="Helvetica" pitchFamily="34" charset="0"/>
                <a:ea typeface="Helvetica" pitchFamily="34" charset="-122"/>
                <a:cs typeface="Helvetica" pitchFamily="34" charset="-120"/>
              </a:rPr>
              <a:t>Weighted F1</a:t>
            </a:r>
            <a:endParaRPr lang="en-US" sz="1200" dirty="0"/>
          </a:p>
        </p:txBody>
      </p:sp>
      <p:sp>
        <p:nvSpPr>
          <p:cNvPr id="20" name="Text 18"/>
          <p:cNvSpPr/>
          <p:nvPr/>
        </p:nvSpPr>
        <p:spPr>
          <a:xfrm>
            <a:off x="2926080" y="4434840"/>
            <a:ext cx="5577840" cy="502920"/>
          </a:xfrm>
          <a:prstGeom prst="rect">
            <a:avLst/>
          </a:prstGeom>
          <a:noFill/>
          <a:ln/>
        </p:spPr>
        <p:txBody>
          <a:bodyPr wrap="square" lIns="0" tIns="0" rIns="0" bIns="0" rtlCol="0" anchor="ctr"/>
          <a:lstStyle/>
          <a:p>
            <a:pPr marL="0" indent="0">
              <a:lnSpc>
                <a:spcPct val="135000"/>
              </a:lnSpc>
              <a:buNone/>
            </a:pPr>
            <a:r>
              <a:rPr lang="en-US" sz="950" dirty="0">
                <a:solidFill>
                  <a:srgbClr val="4A4A4A"/>
                </a:solidFill>
                <a:latin typeface="Helvetica" pitchFamily="34" charset="0"/>
                <a:ea typeface="Helvetica" pitchFamily="34" charset="-122"/>
                <a:cs typeface="Helvetica" pitchFamily="34" charset="-120"/>
              </a:rPr>
              <a:t>Secondary check confirms overall volume-weighted performance hasn't degraded while optimizing Macro F1.</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A1A"/>
        </a:solidFill>
        <a:effectLst/>
      </p:bgPr>
    </p:bg>
    <p:spTree>
      <p:nvGrpSpPr>
        <p:cNvPr id="1" name=""/>
        <p:cNvGrpSpPr/>
        <p:nvPr/>
      </p:nvGrpSpPr>
      <p:grpSpPr>
        <a:xfrm>
          <a:off x="0" y="0"/>
          <a:ext cx="0" cy="0"/>
          <a:chOff x="0" y="0"/>
          <a:chExt cx="0" cy="0"/>
        </a:xfrm>
      </p:grpSpPr>
      <p:sp>
        <p:nvSpPr>
          <p:cNvPr id="2" name="Text 0"/>
          <p:cNvSpPr/>
          <p:nvPr/>
        </p:nvSpPr>
        <p:spPr>
          <a:xfrm>
            <a:off x="640080" y="914400"/>
            <a:ext cx="1828800" cy="1097280"/>
          </a:xfrm>
          <a:prstGeom prst="rect">
            <a:avLst/>
          </a:prstGeom>
          <a:noFill/>
          <a:ln/>
        </p:spPr>
        <p:txBody>
          <a:bodyPr wrap="square" lIns="0" tIns="0" rIns="0" bIns="0" rtlCol="0" anchor="ctr"/>
          <a:lstStyle/>
          <a:p>
            <a:pPr marL="0" indent="0">
              <a:buNone/>
            </a:pPr>
            <a:r>
              <a:rPr lang="en-US" sz="7200" b="1" dirty="0">
                <a:solidFill>
                  <a:srgbClr val="7A7A7A"/>
                </a:solidFill>
                <a:latin typeface="Helvetica" pitchFamily="34" charset="0"/>
                <a:ea typeface="Helvetica" pitchFamily="34" charset="-122"/>
                <a:cs typeface="Helvetica" pitchFamily="34" charset="-120"/>
              </a:rPr>
              <a:t>01</a:t>
            </a:r>
            <a:endParaRPr lang="en-US" sz="7200" dirty="0"/>
          </a:p>
        </p:txBody>
      </p:sp>
      <p:sp>
        <p:nvSpPr>
          <p:cNvPr id="3" name="Text 1"/>
          <p:cNvSpPr/>
          <p:nvPr/>
        </p:nvSpPr>
        <p:spPr>
          <a:xfrm>
            <a:off x="640080" y="2011680"/>
            <a:ext cx="7315200" cy="1371600"/>
          </a:xfrm>
          <a:prstGeom prst="rect">
            <a:avLst/>
          </a:prstGeom>
          <a:noFill/>
          <a:ln/>
        </p:spPr>
        <p:txBody>
          <a:bodyPr wrap="square" lIns="0" tIns="0" rIns="0" bIns="0" rtlCol="0" anchor="ctr"/>
          <a:lstStyle/>
          <a:p>
            <a:pPr marL="0" indent="0">
              <a:lnSpc>
                <a:spcPct val="110000"/>
              </a:lnSpc>
              <a:buNone/>
            </a:pPr>
            <a:r>
              <a:rPr lang="en-US" sz="4000" b="1" dirty="0">
                <a:solidFill>
                  <a:srgbClr val="FFFFFF"/>
                </a:solidFill>
                <a:latin typeface="Helvetica" pitchFamily="34" charset="0"/>
                <a:ea typeface="Helvetica" pitchFamily="34" charset="-122"/>
                <a:cs typeface="Helvetica" pitchFamily="34" charset="-120"/>
              </a:rPr>
              <a:t>BUILDING</a:t>
            </a:r>
            <a:endParaRPr lang="en-US" sz="4000" dirty="0"/>
          </a:p>
          <a:p>
            <a:pPr marL="0" indent="0">
              <a:lnSpc>
                <a:spcPct val="110000"/>
              </a:lnSpc>
              <a:buNone/>
            </a:pPr>
            <a:r>
              <a:rPr lang="en-US" sz="4000" b="1" dirty="0">
                <a:solidFill>
                  <a:srgbClr val="FFFFFF"/>
                </a:solidFill>
                <a:latin typeface="Helvetica" pitchFamily="34" charset="0"/>
                <a:ea typeface="Helvetica" pitchFamily="34" charset="-122"/>
                <a:cs typeface="Helvetica" pitchFamily="34" charset="-120"/>
              </a:rPr>
              <a:t>THE MODEL</a:t>
            </a:r>
            <a:endParaRPr lang="en-US" sz="4000" dirty="0"/>
          </a:p>
        </p:txBody>
      </p:sp>
      <p:sp>
        <p:nvSpPr>
          <p:cNvPr id="4" name="Shape 2"/>
          <p:cNvSpPr/>
          <p:nvPr/>
        </p:nvSpPr>
        <p:spPr>
          <a:xfrm>
            <a:off x="640080" y="3474720"/>
            <a:ext cx="2743200" cy="0"/>
          </a:xfrm>
          <a:prstGeom prst="line">
            <a:avLst/>
          </a:prstGeom>
          <a:noFill/>
          <a:ln w="9525">
            <a:solidFill>
              <a:srgbClr val="D8D8D8"/>
            </a:solidFill>
            <a:prstDash val="solid"/>
          </a:ln>
        </p:spPr>
      </p:sp>
      <p:sp>
        <p:nvSpPr>
          <p:cNvPr id="5" name="Text 3"/>
          <p:cNvSpPr/>
          <p:nvPr/>
        </p:nvSpPr>
        <p:spPr>
          <a:xfrm>
            <a:off x="640080" y="3657600"/>
            <a:ext cx="5486400" cy="365760"/>
          </a:xfrm>
          <a:prstGeom prst="rect">
            <a:avLst/>
          </a:prstGeom>
          <a:noFill/>
          <a:ln/>
        </p:spPr>
        <p:txBody>
          <a:bodyPr wrap="square" lIns="0" tIns="0" rIns="0" bIns="0" rtlCol="0" anchor="ctr"/>
          <a:lstStyle/>
          <a:p>
            <a:pPr marL="0" indent="0">
              <a:buNone/>
            </a:pPr>
            <a:r>
              <a:rPr lang="en-US" sz="1200" dirty="0">
                <a:solidFill>
                  <a:srgbClr val="7A7A7A"/>
                </a:solidFill>
                <a:latin typeface="Helvetica" pitchFamily="34" charset="0"/>
                <a:ea typeface="Helvetica" pitchFamily="34" charset="-122"/>
                <a:cs typeface="Helvetica" pitchFamily="34" charset="-120"/>
              </a:rPr>
              <a:t>Architecture  ·  Baselines  ·  Results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2743200" cy="274320"/>
          </a:xfrm>
          <a:prstGeom prst="rect">
            <a:avLst/>
          </a:prstGeom>
          <a:noFill/>
          <a:ln/>
        </p:spPr>
        <p:txBody>
          <a:bodyPr wrap="square" lIns="0" tIns="0" rIns="0" bIns="0" rtlCol="0" anchor="ctr"/>
          <a:lstStyle/>
          <a:p>
            <a:pPr marL="0" indent="0">
              <a:buNone/>
            </a:pPr>
            <a:r>
              <a:rPr lang="en-US" sz="800" kern="0" spc="300" dirty="0">
                <a:solidFill>
                  <a:srgbClr val="7A7A7A"/>
                </a:solidFill>
                <a:latin typeface="Helvetica" pitchFamily="34" charset="0"/>
                <a:ea typeface="Helvetica" pitchFamily="34" charset="-122"/>
                <a:cs typeface="Helvetica" pitchFamily="34" charset="-120"/>
              </a:rPr>
              <a:t>ARCHITECTURE</a:t>
            </a:r>
            <a:endParaRPr lang="en-US" sz="800" dirty="0"/>
          </a:p>
        </p:txBody>
      </p:sp>
      <p:sp>
        <p:nvSpPr>
          <p:cNvPr id="3" name="Text 1"/>
          <p:cNvSpPr/>
          <p:nvPr/>
        </p:nvSpPr>
        <p:spPr>
          <a:xfrm>
            <a:off x="8229600" y="4617720"/>
            <a:ext cx="640080" cy="365760"/>
          </a:xfrm>
          <a:prstGeom prst="rect">
            <a:avLst/>
          </a:prstGeom>
          <a:noFill/>
          <a:ln/>
        </p:spPr>
        <p:txBody>
          <a:bodyPr wrap="square" lIns="0" tIns="0" rIns="0" bIns="0" rtlCol="0" anchor="ctr"/>
          <a:lstStyle/>
          <a:p>
            <a:pPr marL="0" indent="0" algn="r">
              <a:buNone/>
            </a:pPr>
            <a:r>
              <a:rPr lang="en-US" sz="900" dirty="0">
                <a:solidFill>
                  <a:srgbClr val="C0C0C0"/>
                </a:solidFill>
                <a:latin typeface="Helvetica" pitchFamily="34" charset="0"/>
                <a:ea typeface="Helvetica" pitchFamily="34" charset="-122"/>
                <a:cs typeface="Helvetica" pitchFamily="34" charset="-120"/>
              </a:rPr>
              <a:t>07</a:t>
            </a:r>
            <a:endParaRPr lang="en-US" sz="900" dirty="0"/>
          </a:p>
        </p:txBody>
      </p:sp>
      <p:sp>
        <p:nvSpPr>
          <p:cNvPr id="4" name="Text 2"/>
          <p:cNvSpPr/>
          <p:nvPr/>
        </p:nvSpPr>
        <p:spPr>
          <a:xfrm>
            <a:off x="640080" y="640080"/>
            <a:ext cx="7315200" cy="548640"/>
          </a:xfrm>
          <a:prstGeom prst="rect">
            <a:avLst/>
          </a:prstGeom>
          <a:noFill/>
          <a:ln/>
        </p:spPr>
        <p:txBody>
          <a:bodyPr wrap="square" lIns="0" tIns="0" rIns="0" bIns="0" rtlCol="0" anchor="ctr"/>
          <a:lstStyle/>
          <a:p>
            <a:pPr marL="0" indent="0">
              <a:buNone/>
            </a:pPr>
            <a:r>
              <a:rPr lang="en-US" sz="3200" b="1" dirty="0">
                <a:solidFill>
                  <a:srgbClr val="1A1A1A"/>
                </a:solidFill>
                <a:latin typeface="Helvetica" pitchFamily="34" charset="0"/>
                <a:ea typeface="Helvetica" pitchFamily="34" charset="-122"/>
                <a:cs typeface="Helvetica" pitchFamily="34" charset="-120"/>
              </a:rPr>
              <a:t>Why a dual-path hybrid?</a:t>
            </a:r>
            <a:endParaRPr lang="en-US" sz="3200" dirty="0"/>
          </a:p>
        </p:txBody>
      </p:sp>
      <p:sp>
        <p:nvSpPr>
          <p:cNvPr id="5" name="Shape 3"/>
          <p:cNvSpPr/>
          <p:nvPr/>
        </p:nvSpPr>
        <p:spPr>
          <a:xfrm>
            <a:off x="640080" y="1234440"/>
            <a:ext cx="7863840" cy="0"/>
          </a:xfrm>
          <a:prstGeom prst="line">
            <a:avLst/>
          </a:prstGeom>
          <a:noFill/>
          <a:ln w="9525">
            <a:solidFill>
              <a:srgbClr val="D8D8D8"/>
            </a:solidFill>
            <a:prstDash val="solid"/>
          </a:ln>
        </p:spPr>
      </p:sp>
      <p:sp>
        <p:nvSpPr>
          <p:cNvPr id="6" name="Text 4"/>
          <p:cNvSpPr/>
          <p:nvPr/>
        </p:nvSpPr>
        <p:spPr>
          <a:xfrm>
            <a:off x="640079" y="1601605"/>
            <a:ext cx="3244231" cy="1278754"/>
          </a:xfrm>
          <a:prstGeom prst="rect">
            <a:avLst/>
          </a:prstGeom>
          <a:noFill/>
          <a:ln/>
        </p:spPr>
        <p:txBody>
          <a:bodyPr wrap="square" lIns="0" tIns="0" rIns="0" bIns="0" rtlCol="0" anchor="ctr"/>
          <a:lstStyle/>
          <a:p>
            <a:pPr marL="0" indent="0">
              <a:lnSpc>
                <a:spcPct val="140000"/>
              </a:lnSpc>
              <a:buNone/>
            </a:pPr>
            <a:r>
              <a:rPr lang="en-US" sz="1100" dirty="0">
                <a:solidFill>
                  <a:srgbClr val="4A4A4A"/>
                </a:solidFill>
                <a:latin typeface="Helvetica" pitchFamily="34" charset="0"/>
                <a:ea typeface="Helvetica" pitchFamily="34" charset="-122"/>
                <a:cs typeface="Helvetica" pitchFamily="34" charset="-120"/>
              </a:rPr>
              <a:t>A pure classifier (XGBoost) achieves strong seen-data accuracy but cannot flag unknown attacks. A pure autoencoder detects anomalies but cannot name the attack class. The HybridVAE fuses both capabilities in a single forward pass.</a:t>
            </a:r>
            <a:endParaRPr lang="en-US" sz="1100" dirty="0"/>
          </a:p>
        </p:txBody>
      </p:sp>
      <p:pic>
        <p:nvPicPr>
          <p:cNvPr id="28" name="Picture 27">
            <a:extLst>
              <a:ext uri="{FF2B5EF4-FFF2-40B4-BE49-F238E27FC236}">
                <a16:creationId xmlns:a16="http://schemas.microsoft.com/office/drawing/2014/main" id="{90EC41BD-0973-04BA-421B-CF5B015B5367}"/>
              </a:ext>
            </a:extLst>
          </p:cNvPr>
          <p:cNvPicPr>
            <a:picLocks noChangeAspect="1"/>
          </p:cNvPicPr>
          <p:nvPr/>
        </p:nvPicPr>
        <p:blipFill>
          <a:blip r:embed="rId3"/>
          <a:stretch>
            <a:fillRect/>
          </a:stretch>
        </p:blipFill>
        <p:spPr>
          <a:xfrm>
            <a:off x="4572000" y="1280161"/>
            <a:ext cx="3566916" cy="379087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2743200" cy="274320"/>
          </a:xfrm>
          <a:prstGeom prst="rect">
            <a:avLst/>
          </a:prstGeom>
          <a:noFill/>
          <a:ln/>
        </p:spPr>
        <p:txBody>
          <a:bodyPr wrap="square" lIns="0" tIns="0" rIns="0" bIns="0" rtlCol="0" anchor="ctr"/>
          <a:lstStyle/>
          <a:p>
            <a:pPr marL="0" indent="0">
              <a:buNone/>
            </a:pPr>
            <a:r>
              <a:rPr lang="en-US" sz="800" kern="0" spc="300" dirty="0">
                <a:solidFill>
                  <a:srgbClr val="7A7A7A"/>
                </a:solidFill>
                <a:latin typeface="Helvetica" pitchFamily="34" charset="0"/>
                <a:ea typeface="Helvetica" pitchFamily="34" charset="-122"/>
                <a:cs typeface="Helvetica" pitchFamily="34" charset="-120"/>
              </a:rPr>
              <a:t>TRAINING</a:t>
            </a:r>
            <a:endParaRPr lang="en-US" sz="800" dirty="0"/>
          </a:p>
        </p:txBody>
      </p:sp>
      <p:sp>
        <p:nvSpPr>
          <p:cNvPr id="3" name="Text 1"/>
          <p:cNvSpPr/>
          <p:nvPr/>
        </p:nvSpPr>
        <p:spPr>
          <a:xfrm>
            <a:off x="8229600" y="4617720"/>
            <a:ext cx="640080" cy="365760"/>
          </a:xfrm>
          <a:prstGeom prst="rect">
            <a:avLst/>
          </a:prstGeom>
          <a:noFill/>
          <a:ln/>
        </p:spPr>
        <p:txBody>
          <a:bodyPr wrap="square" lIns="0" tIns="0" rIns="0" bIns="0" rtlCol="0" anchor="ctr"/>
          <a:lstStyle/>
          <a:p>
            <a:pPr marL="0" indent="0" algn="r">
              <a:buNone/>
            </a:pPr>
            <a:r>
              <a:rPr lang="en-US" sz="900" dirty="0">
                <a:solidFill>
                  <a:srgbClr val="C0C0C0"/>
                </a:solidFill>
                <a:latin typeface="Helvetica" pitchFamily="34" charset="0"/>
                <a:ea typeface="Helvetica" pitchFamily="34" charset="-122"/>
                <a:cs typeface="Helvetica" pitchFamily="34" charset="-120"/>
              </a:rPr>
              <a:t>08</a:t>
            </a:r>
            <a:endParaRPr lang="en-US" sz="900" dirty="0"/>
          </a:p>
        </p:txBody>
      </p:sp>
      <p:sp>
        <p:nvSpPr>
          <p:cNvPr id="4" name="Text 2"/>
          <p:cNvSpPr/>
          <p:nvPr/>
        </p:nvSpPr>
        <p:spPr>
          <a:xfrm>
            <a:off x="640080" y="640080"/>
            <a:ext cx="7315200" cy="548640"/>
          </a:xfrm>
          <a:prstGeom prst="rect">
            <a:avLst/>
          </a:prstGeom>
          <a:noFill/>
          <a:ln/>
        </p:spPr>
        <p:txBody>
          <a:bodyPr wrap="square" lIns="0" tIns="0" rIns="0" bIns="0" rtlCol="0" anchor="ctr"/>
          <a:lstStyle/>
          <a:p>
            <a:pPr marL="0" indent="0">
              <a:buNone/>
            </a:pPr>
            <a:r>
              <a:rPr lang="en-US" sz="3200" b="1" dirty="0">
                <a:solidFill>
                  <a:srgbClr val="1A1A1A"/>
                </a:solidFill>
                <a:latin typeface="Helvetica" pitchFamily="34" charset="0"/>
                <a:ea typeface="Helvetica" pitchFamily="34" charset="-122"/>
                <a:cs typeface="Helvetica" pitchFamily="34" charset="-120"/>
              </a:rPr>
              <a:t>Why these hyperparameters?</a:t>
            </a:r>
            <a:endParaRPr lang="en-US" sz="3200" dirty="0"/>
          </a:p>
        </p:txBody>
      </p:sp>
      <p:sp>
        <p:nvSpPr>
          <p:cNvPr id="5" name="Shape 3"/>
          <p:cNvSpPr/>
          <p:nvPr/>
        </p:nvSpPr>
        <p:spPr>
          <a:xfrm>
            <a:off x="640080" y="1234440"/>
            <a:ext cx="7863840" cy="0"/>
          </a:xfrm>
          <a:prstGeom prst="line">
            <a:avLst/>
          </a:prstGeom>
          <a:noFill/>
          <a:ln w="9525">
            <a:solidFill>
              <a:srgbClr val="D8D8D8"/>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463040"/>
          <a:ext cx="7863840" cy="3273552"/>
        </p:xfrm>
        <a:graphic>
          <a:graphicData uri="http://schemas.openxmlformats.org/drawingml/2006/table">
            <a:tbl>
              <a:tblPr/>
              <a:tblGrid>
                <a:gridCol w="128016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4937760">
                  <a:extLst>
                    <a:ext uri="{9D8B030D-6E8A-4147-A177-3AD203B41FA5}">
                      <a16:colId xmlns:a16="http://schemas.microsoft.com/office/drawing/2014/main" val="20002"/>
                    </a:ext>
                  </a:extLst>
                </a:gridCol>
              </a:tblGrid>
              <a:tr h="256032">
                <a:tc>
                  <a:txBody>
                    <a:bodyPr/>
                    <a:lstStyle/>
                    <a:p>
                      <a:pPr marL="0" indent="0">
                        <a:buNone/>
                      </a:pPr>
                      <a:r>
                        <a:rPr lang="en-US" sz="900" b="1" dirty="0">
                          <a:solidFill>
                            <a:srgbClr val="2D2D2D"/>
                          </a:solidFill>
                          <a:latin typeface="Helvetica" pitchFamily="34" charset="0"/>
                          <a:ea typeface="Helvetica" pitchFamily="34" charset="-122"/>
                          <a:cs typeface="Helvetica" pitchFamily="34" charset="-120"/>
                        </a:rPr>
                        <a:t>Parameter</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5F5F5"/>
                    </a:solidFill>
                  </a:tcPr>
                </a:tc>
                <a:tc>
                  <a:txBody>
                    <a:bodyPr/>
                    <a:lstStyle/>
                    <a:p>
                      <a:pPr marL="0" indent="0">
                        <a:buNone/>
                      </a:pPr>
                      <a:r>
                        <a:rPr lang="en-US" sz="900" b="1" dirty="0">
                          <a:solidFill>
                            <a:srgbClr val="2D2D2D"/>
                          </a:solidFill>
                          <a:latin typeface="Helvetica" pitchFamily="34" charset="0"/>
                          <a:ea typeface="Helvetica" pitchFamily="34" charset="-122"/>
                          <a:cs typeface="Helvetica" pitchFamily="34" charset="-120"/>
                        </a:rPr>
                        <a:t>Value</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5F5F5"/>
                    </a:solidFill>
                  </a:tcPr>
                </a:tc>
                <a:tc>
                  <a:txBody>
                    <a:bodyPr/>
                    <a:lstStyle/>
                    <a:p>
                      <a:pPr marL="0" indent="0">
                        <a:buNone/>
                      </a:pPr>
                      <a:r>
                        <a:rPr lang="en-US" sz="900" b="1" dirty="0">
                          <a:solidFill>
                            <a:srgbClr val="2D2D2D"/>
                          </a:solidFill>
                          <a:latin typeface="Helvetica" pitchFamily="34" charset="0"/>
                          <a:ea typeface="Helvetica" pitchFamily="34" charset="-122"/>
                          <a:cs typeface="Helvetica" pitchFamily="34" charset="-120"/>
                        </a:rPr>
                        <a:t>Why?</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5F5F5"/>
                    </a:solidFill>
                  </a:tcPr>
                </a:tc>
                <a:extLst>
                  <a:ext uri="{0D108BD9-81ED-4DB2-BD59-A6C34878D82A}">
                    <a16:rowId xmlns:a16="http://schemas.microsoft.com/office/drawing/2014/main" val="10000"/>
                  </a:ext>
                </a:extLst>
              </a:tr>
              <a:tr h="301752">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Optimizer</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AdamW</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Decoupled weight decay improves generalisation over vanilla Adam</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1"/>
                  </a:ext>
                </a:extLst>
              </a:tr>
              <a:tr h="301752">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Scheduler</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CosineAnnealing</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Smooth LR decay; avoids sudden drops that destabilize VAE training</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2"/>
                  </a:ext>
                </a:extLst>
              </a:tr>
              <a:tr h="301752">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Learning rate</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1e-3</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Standard starting point for AdamW; scheduler handles decay</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3"/>
                  </a:ext>
                </a:extLst>
              </a:tr>
              <a:tr h="301752">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Batch size</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512</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Large enough for stable gradient estimates on 1.7M samples</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4"/>
                  </a:ext>
                </a:extLst>
              </a:tr>
              <a:tr h="301752">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Epochs</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75</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Cosine schedule completes one full cycle; early stopping by best val F1</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5"/>
                  </a:ext>
                </a:extLst>
              </a:tr>
              <a:tr h="301752">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Loss weights</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α=0.20, β=0.65, γ=0.05</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Recon 20%, Classification 65%, KL 5% </a:t>
                      </a:r>
                      <a:r>
                        <a:rPr lang="en-US" sz="900" dirty="0" err="1">
                          <a:solidFill>
                            <a:srgbClr val="2D2D2D"/>
                          </a:solidFill>
                          <a:latin typeface="Helvetica" pitchFamily="34" charset="0"/>
                          <a:ea typeface="Helvetica" pitchFamily="34" charset="-122"/>
                          <a:cs typeface="Helvetica" pitchFamily="34" charset="-120"/>
                        </a:rPr>
                        <a:t>prioritises</a:t>
                      </a:r>
                      <a:r>
                        <a:rPr lang="en-US" sz="900" dirty="0">
                          <a:solidFill>
                            <a:srgbClr val="2D2D2D"/>
                          </a:solidFill>
                          <a:latin typeface="Helvetica" pitchFamily="34" charset="0"/>
                          <a:ea typeface="Helvetica" pitchFamily="34" charset="-122"/>
                          <a:cs typeface="Helvetica" pitchFamily="34" charset="-120"/>
                        </a:rPr>
                        <a:t> attack labelling</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6"/>
                  </a:ext>
                </a:extLst>
              </a:tr>
              <a:tr h="301752">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Focal γ</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1.5</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Moderate hard-example mining; γ=2 was too aggressive for rare classes</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7"/>
                  </a:ext>
                </a:extLst>
              </a:tr>
              <a:tr h="301752">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Latent dim</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64</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Sufficient information bottleneck; 32 lost too much, 128 didn't compress</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8"/>
                  </a:ext>
                </a:extLst>
              </a:tr>
              <a:tr h="301752">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Dropout</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0.3</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Regularisation in encoder to prevent overfitting on SMOTE-augmented data</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9"/>
                  </a:ext>
                </a:extLst>
              </a:tr>
              <a:tr h="301752">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Gradient clip</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1.0</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Prevents KL divergence explosions in early epochs</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2743200" cy="274320"/>
          </a:xfrm>
          <a:prstGeom prst="rect">
            <a:avLst/>
          </a:prstGeom>
          <a:noFill/>
          <a:ln/>
        </p:spPr>
        <p:txBody>
          <a:bodyPr wrap="square" lIns="0" tIns="0" rIns="0" bIns="0" rtlCol="0" anchor="ctr"/>
          <a:lstStyle/>
          <a:p>
            <a:pPr marL="0" indent="0">
              <a:buNone/>
            </a:pPr>
            <a:r>
              <a:rPr lang="en-US" sz="800" kern="0" spc="300" dirty="0">
                <a:solidFill>
                  <a:srgbClr val="7A7A7A"/>
                </a:solidFill>
                <a:latin typeface="Helvetica" pitchFamily="34" charset="0"/>
                <a:ea typeface="Helvetica" pitchFamily="34" charset="-122"/>
                <a:cs typeface="Helvetica" pitchFamily="34" charset="-120"/>
              </a:rPr>
              <a:t>TRAINING</a:t>
            </a:r>
            <a:endParaRPr lang="en-US" sz="800" dirty="0"/>
          </a:p>
        </p:txBody>
      </p:sp>
      <p:sp>
        <p:nvSpPr>
          <p:cNvPr id="3" name="Text 1"/>
          <p:cNvSpPr/>
          <p:nvPr/>
        </p:nvSpPr>
        <p:spPr>
          <a:xfrm>
            <a:off x="8229600" y="4617720"/>
            <a:ext cx="640080" cy="365760"/>
          </a:xfrm>
          <a:prstGeom prst="rect">
            <a:avLst/>
          </a:prstGeom>
          <a:noFill/>
          <a:ln/>
        </p:spPr>
        <p:txBody>
          <a:bodyPr wrap="square" lIns="0" tIns="0" rIns="0" bIns="0" rtlCol="0" anchor="ctr"/>
          <a:lstStyle/>
          <a:p>
            <a:pPr marL="0" indent="0" algn="r">
              <a:buNone/>
            </a:pPr>
            <a:r>
              <a:rPr lang="en-US" sz="900" dirty="0">
                <a:solidFill>
                  <a:srgbClr val="C0C0C0"/>
                </a:solidFill>
                <a:latin typeface="Helvetica" pitchFamily="34" charset="0"/>
                <a:ea typeface="Helvetica" pitchFamily="34" charset="-122"/>
                <a:cs typeface="Helvetica" pitchFamily="34" charset="-120"/>
              </a:rPr>
              <a:t>09</a:t>
            </a:r>
            <a:endParaRPr lang="en-US" sz="900" dirty="0"/>
          </a:p>
        </p:txBody>
      </p:sp>
      <p:sp>
        <p:nvSpPr>
          <p:cNvPr id="4" name="Text 2"/>
          <p:cNvSpPr/>
          <p:nvPr/>
        </p:nvSpPr>
        <p:spPr>
          <a:xfrm>
            <a:off x="640080" y="640080"/>
            <a:ext cx="7315200" cy="548640"/>
          </a:xfrm>
          <a:prstGeom prst="rect">
            <a:avLst/>
          </a:prstGeom>
          <a:noFill/>
          <a:ln/>
        </p:spPr>
        <p:txBody>
          <a:bodyPr wrap="square" lIns="0" tIns="0" rIns="0" bIns="0" rtlCol="0" anchor="ctr"/>
          <a:lstStyle/>
          <a:p>
            <a:pPr marL="0" indent="0">
              <a:buNone/>
            </a:pPr>
            <a:r>
              <a:rPr lang="en-US" sz="3200" b="1" dirty="0">
                <a:solidFill>
                  <a:srgbClr val="1A1A1A"/>
                </a:solidFill>
                <a:latin typeface="Helvetica" pitchFamily="34" charset="0"/>
                <a:ea typeface="Helvetica" pitchFamily="34" charset="-122"/>
                <a:cs typeface="Helvetica" pitchFamily="34" charset="-120"/>
              </a:rPr>
              <a:t>Key training decisions</a:t>
            </a:r>
            <a:endParaRPr lang="en-US" sz="3200" dirty="0"/>
          </a:p>
        </p:txBody>
      </p:sp>
      <p:sp>
        <p:nvSpPr>
          <p:cNvPr id="5" name="Shape 3"/>
          <p:cNvSpPr/>
          <p:nvPr/>
        </p:nvSpPr>
        <p:spPr>
          <a:xfrm>
            <a:off x="640080" y="1234440"/>
            <a:ext cx="7863840" cy="0"/>
          </a:xfrm>
          <a:prstGeom prst="line">
            <a:avLst/>
          </a:prstGeom>
          <a:noFill/>
          <a:ln w="9525">
            <a:solidFill>
              <a:srgbClr val="D8D8D8"/>
            </a:solidFill>
            <a:prstDash val="solid"/>
          </a:ln>
        </p:spPr>
      </p:sp>
      <p:sp>
        <p:nvSpPr>
          <p:cNvPr id="6" name="Shape 4"/>
          <p:cNvSpPr/>
          <p:nvPr/>
        </p:nvSpPr>
        <p:spPr>
          <a:xfrm>
            <a:off x="640080" y="1463040"/>
            <a:ext cx="7863840" cy="502920"/>
          </a:xfrm>
          <a:prstGeom prst="rect">
            <a:avLst/>
          </a:prstGeom>
          <a:solidFill>
            <a:srgbClr val="F5F5F5"/>
          </a:solidFill>
          <a:ln/>
        </p:spPr>
      </p:sp>
      <p:sp>
        <p:nvSpPr>
          <p:cNvPr id="7" name="Text 5"/>
          <p:cNvSpPr/>
          <p:nvPr/>
        </p:nvSpPr>
        <p:spPr>
          <a:xfrm>
            <a:off x="822960" y="1463040"/>
            <a:ext cx="7498080" cy="502920"/>
          </a:xfrm>
          <a:prstGeom prst="rect">
            <a:avLst/>
          </a:prstGeom>
          <a:noFill/>
          <a:ln/>
        </p:spPr>
        <p:txBody>
          <a:bodyPr wrap="square" lIns="0" tIns="0" rIns="0" bIns="0" rtlCol="0" anchor="ctr"/>
          <a:lstStyle/>
          <a:p>
            <a:pPr marL="0" indent="0">
              <a:buNone/>
            </a:pPr>
            <a:r>
              <a:rPr lang="en-US" sz="1100" b="1" dirty="0">
                <a:solidFill>
                  <a:srgbClr val="1A1A1A"/>
                </a:solidFill>
                <a:latin typeface="Helvetica" pitchFamily="34" charset="0"/>
                <a:ea typeface="Helvetica" pitchFamily="34" charset="-122"/>
                <a:cs typeface="Helvetica" pitchFamily="34" charset="-120"/>
              </a:rPr>
              <a:t>WHY?  </a:t>
            </a:r>
            <a:r>
              <a:rPr lang="en-US" sz="1100" i="1" dirty="0">
                <a:solidFill>
                  <a:srgbClr val="4A4A4A"/>
                </a:solidFill>
                <a:latin typeface="Helvetica" pitchFamily="34" charset="0"/>
                <a:ea typeface="Helvetica" pitchFamily="34" charset="-122"/>
                <a:cs typeface="Helvetica" pitchFamily="34" charset="-120"/>
              </a:rPr>
              <a:t>Why train reconstruction on BENIGN only?</a:t>
            </a:r>
            <a:endParaRPr lang="en-US" sz="1100" dirty="0"/>
          </a:p>
        </p:txBody>
      </p:sp>
      <p:sp>
        <p:nvSpPr>
          <p:cNvPr id="8" name="Text 6"/>
          <p:cNvSpPr/>
          <p:nvPr/>
        </p:nvSpPr>
        <p:spPr>
          <a:xfrm>
            <a:off x="822960" y="1920240"/>
            <a:ext cx="7498080" cy="685800"/>
          </a:xfrm>
          <a:prstGeom prst="rect">
            <a:avLst/>
          </a:prstGeom>
          <a:noFill/>
          <a:ln/>
        </p:spPr>
        <p:txBody>
          <a:bodyPr wrap="square" lIns="0" tIns="0" rIns="0" bIns="0" rtlCol="0" anchor="ctr"/>
          <a:lstStyle/>
          <a:p>
            <a:pPr marL="0" indent="0">
              <a:lnSpc>
                <a:spcPct val="140000"/>
              </a:lnSpc>
              <a:buNone/>
            </a:pPr>
            <a:r>
              <a:rPr lang="en-US" sz="1000" dirty="0">
                <a:solidFill>
                  <a:srgbClr val="4A4A4A"/>
                </a:solidFill>
                <a:latin typeface="Helvetica" pitchFamily="34" charset="0"/>
                <a:ea typeface="Helvetica" pitchFamily="34" charset="-122"/>
                <a:cs typeface="Helvetica" pitchFamily="34" charset="-120"/>
              </a:rPr>
              <a:t>The autoencoder path learns the manifold of normal traffic. At inference, any input that deviates significantly (high reconstruction error) is flagged as anomalous.</a:t>
            </a:r>
            <a:endParaRPr lang="en-US" sz="1000" dirty="0"/>
          </a:p>
        </p:txBody>
      </p:sp>
      <p:sp>
        <p:nvSpPr>
          <p:cNvPr id="9" name="Shape 7"/>
          <p:cNvSpPr/>
          <p:nvPr/>
        </p:nvSpPr>
        <p:spPr>
          <a:xfrm>
            <a:off x="640080" y="2562210"/>
            <a:ext cx="7863840" cy="502920"/>
          </a:xfrm>
          <a:prstGeom prst="rect">
            <a:avLst/>
          </a:prstGeom>
          <a:solidFill>
            <a:srgbClr val="F5F5F5"/>
          </a:solidFill>
          <a:ln/>
        </p:spPr>
      </p:sp>
      <p:sp>
        <p:nvSpPr>
          <p:cNvPr id="10" name="Text 8"/>
          <p:cNvSpPr/>
          <p:nvPr/>
        </p:nvSpPr>
        <p:spPr>
          <a:xfrm>
            <a:off x="822960" y="2562210"/>
            <a:ext cx="7498080" cy="502920"/>
          </a:xfrm>
          <a:prstGeom prst="rect">
            <a:avLst/>
          </a:prstGeom>
          <a:noFill/>
          <a:ln/>
        </p:spPr>
        <p:txBody>
          <a:bodyPr wrap="square" lIns="0" tIns="0" rIns="0" bIns="0" rtlCol="0" anchor="ctr"/>
          <a:lstStyle/>
          <a:p>
            <a:pPr marL="0" indent="0">
              <a:buNone/>
            </a:pPr>
            <a:r>
              <a:rPr lang="en-US" sz="1100" b="1" dirty="0">
                <a:solidFill>
                  <a:srgbClr val="1A1A1A"/>
                </a:solidFill>
                <a:latin typeface="Helvetica" pitchFamily="34" charset="0"/>
                <a:ea typeface="Helvetica" pitchFamily="34" charset="-122"/>
                <a:cs typeface="Helvetica" pitchFamily="34" charset="-120"/>
              </a:rPr>
              <a:t>WHY?  </a:t>
            </a:r>
            <a:r>
              <a:rPr lang="en-US" sz="1100" i="1" dirty="0">
                <a:solidFill>
                  <a:srgbClr val="4A4A4A"/>
                </a:solidFill>
                <a:latin typeface="Helvetica" pitchFamily="34" charset="0"/>
                <a:ea typeface="Helvetica" pitchFamily="34" charset="-122"/>
                <a:cs typeface="Helvetica" pitchFamily="34" charset="-120"/>
              </a:rPr>
              <a:t>Why merge 11 classes to 9?</a:t>
            </a:r>
            <a:endParaRPr lang="en-US" sz="1100" dirty="0"/>
          </a:p>
        </p:txBody>
      </p:sp>
      <p:sp>
        <p:nvSpPr>
          <p:cNvPr id="11" name="Text 9"/>
          <p:cNvSpPr/>
          <p:nvPr/>
        </p:nvSpPr>
        <p:spPr>
          <a:xfrm>
            <a:off x="822960" y="3019410"/>
            <a:ext cx="7498080" cy="594360"/>
          </a:xfrm>
          <a:prstGeom prst="rect">
            <a:avLst/>
          </a:prstGeom>
          <a:noFill/>
          <a:ln/>
        </p:spPr>
        <p:txBody>
          <a:bodyPr wrap="square" lIns="0" tIns="0" rIns="0" bIns="0" rtlCol="0" anchor="ctr"/>
          <a:lstStyle/>
          <a:p>
            <a:pPr marL="0" indent="0">
              <a:lnSpc>
                <a:spcPct val="140000"/>
              </a:lnSpc>
              <a:buNone/>
            </a:pPr>
            <a:r>
              <a:rPr lang="en-US" sz="1000" dirty="0">
                <a:solidFill>
                  <a:srgbClr val="4A4A4A"/>
                </a:solidFill>
                <a:latin typeface="Helvetica" pitchFamily="34" charset="0"/>
                <a:ea typeface="Helvetica" pitchFamily="34" charset="-122"/>
                <a:cs typeface="Helvetica" pitchFamily="34" charset="-120"/>
              </a:rPr>
              <a:t>Three Web Attack sub-types (Brute Force, XSS, SQL Injection) had &lt;700 combined samples. Keeping them separate yields unstable per-class F1.</a:t>
            </a:r>
            <a:endParaRPr lang="en-US" sz="1000" dirty="0"/>
          </a:p>
        </p:txBody>
      </p:sp>
      <p:sp>
        <p:nvSpPr>
          <p:cNvPr id="12" name="Shape 10"/>
          <p:cNvSpPr/>
          <p:nvPr/>
        </p:nvSpPr>
        <p:spPr>
          <a:xfrm>
            <a:off x="640080" y="3675360"/>
            <a:ext cx="7863840" cy="502920"/>
          </a:xfrm>
          <a:prstGeom prst="rect">
            <a:avLst/>
          </a:prstGeom>
          <a:solidFill>
            <a:srgbClr val="F5F5F5"/>
          </a:solidFill>
          <a:ln/>
        </p:spPr>
      </p:sp>
      <p:sp>
        <p:nvSpPr>
          <p:cNvPr id="13" name="Text 11"/>
          <p:cNvSpPr/>
          <p:nvPr/>
        </p:nvSpPr>
        <p:spPr>
          <a:xfrm>
            <a:off x="822960" y="3675360"/>
            <a:ext cx="7498080" cy="502920"/>
          </a:xfrm>
          <a:prstGeom prst="rect">
            <a:avLst/>
          </a:prstGeom>
          <a:noFill/>
          <a:ln/>
        </p:spPr>
        <p:txBody>
          <a:bodyPr wrap="square" lIns="0" tIns="0" rIns="0" bIns="0" rtlCol="0" anchor="ctr"/>
          <a:lstStyle/>
          <a:p>
            <a:pPr marL="0" indent="0">
              <a:buNone/>
            </a:pPr>
            <a:r>
              <a:rPr lang="en-US" sz="1100" b="1" dirty="0">
                <a:solidFill>
                  <a:srgbClr val="1A1A1A"/>
                </a:solidFill>
                <a:latin typeface="Helvetica" pitchFamily="34" charset="0"/>
                <a:ea typeface="Helvetica" pitchFamily="34" charset="-122"/>
                <a:cs typeface="Helvetica" pitchFamily="34" charset="-120"/>
              </a:rPr>
              <a:t>WHY?  </a:t>
            </a:r>
            <a:r>
              <a:rPr lang="en-US" sz="1100" i="1" dirty="0">
                <a:solidFill>
                  <a:srgbClr val="4A4A4A"/>
                </a:solidFill>
                <a:latin typeface="Helvetica" pitchFamily="34" charset="0"/>
                <a:ea typeface="Helvetica" pitchFamily="34" charset="-122"/>
                <a:cs typeface="Helvetica" pitchFamily="34" charset="-120"/>
              </a:rPr>
              <a:t>Why use a multi-component loss? (L = αL_recon + βL_cls + γL_KL)</a:t>
            </a:r>
            <a:endParaRPr lang="en-US" sz="1100" dirty="0"/>
          </a:p>
        </p:txBody>
      </p:sp>
      <p:sp>
        <p:nvSpPr>
          <p:cNvPr id="14" name="Text 12"/>
          <p:cNvSpPr/>
          <p:nvPr/>
        </p:nvSpPr>
        <p:spPr>
          <a:xfrm>
            <a:off x="822960" y="4170345"/>
            <a:ext cx="7498080" cy="640080"/>
          </a:xfrm>
          <a:prstGeom prst="rect">
            <a:avLst/>
          </a:prstGeom>
          <a:noFill/>
          <a:ln/>
        </p:spPr>
        <p:txBody>
          <a:bodyPr wrap="square" lIns="0" tIns="0" rIns="0" bIns="0" rtlCol="0" anchor="ctr"/>
          <a:lstStyle/>
          <a:p>
            <a:pPr marL="0" indent="0">
              <a:lnSpc>
                <a:spcPct val="140000"/>
              </a:lnSpc>
              <a:buNone/>
            </a:pPr>
            <a:r>
              <a:rPr lang="en-US" sz="1000" dirty="0">
                <a:solidFill>
                  <a:srgbClr val="4A4A4A"/>
                </a:solidFill>
                <a:latin typeface="Helvetica" pitchFamily="34" charset="0"/>
                <a:ea typeface="Helvetica" pitchFamily="34" charset="-122"/>
                <a:cs typeface="Helvetica" pitchFamily="34" charset="-120"/>
              </a:rPr>
              <a:t>Each loss term serves a distinct purpose: L_recon shapes the latent space for anomaly detection, L_cls drives supervised classification, and L_KL regularises the latent distribution to be smooth and continuous. Balancing them (α=0.20, β=0.65, γ=0.05) ensures the classification head is the dominant learning signal while the VAE path retains enough fidelity for anomaly scoring.</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320040"/>
            <a:ext cx="2743200" cy="274320"/>
          </a:xfrm>
          <a:prstGeom prst="rect">
            <a:avLst/>
          </a:prstGeom>
          <a:noFill/>
          <a:ln/>
        </p:spPr>
        <p:txBody>
          <a:bodyPr wrap="square" lIns="0" tIns="0" rIns="0" bIns="0" rtlCol="0" anchor="ctr"/>
          <a:lstStyle/>
          <a:p>
            <a:pPr marL="0" indent="0">
              <a:buNone/>
            </a:pPr>
            <a:r>
              <a:rPr lang="en-US" sz="800" kern="0" spc="300" dirty="0">
                <a:solidFill>
                  <a:srgbClr val="7A7A7A"/>
                </a:solidFill>
                <a:latin typeface="Helvetica" pitchFamily="34" charset="0"/>
                <a:ea typeface="Helvetica" pitchFamily="34" charset="-122"/>
                <a:cs typeface="Helvetica" pitchFamily="34" charset="-120"/>
              </a:rPr>
              <a:t>LOSS FUNCTIONS</a:t>
            </a:r>
            <a:endParaRPr lang="en-US" sz="800" dirty="0"/>
          </a:p>
        </p:txBody>
      </p:sp>
      <p:sp>
        <p:nvSpPr>
          <p:cNvPr id="3" name="Text 1"/>
          <p:cNvSpPr/>
          <p:nvPr/>
        </p:nvSpPr>
        <p:spPr>
          <a:xfrm>
            <a:off x="640080" y="594360"/>
            <a:ext cx="8229600" cy="502920"/>
          </a:xfrm>
          <a:prstGeom prst="rect">
            <a:avLst/>
          </a:prstGeom>
          <a:noFill/>
          <a:ln/>
        </p:spPr>
        <p:txBody>
          <a:bodyPr wrap="square" lIns="0" tIns="0" rIns="0" bIns="0" rtlCol="0" anchor="ctr"/>
          <a:lstStyle/>
          <a:p>
            <a:pPr marL="0" indent="0">
              <a:buNone/>
            </a:pPr>
            <a:r>
              <a:rPr lang="en-US" sz="2800" b="1" dirty="0">
                <a:solidFill>
                  <a:srgbClr val="1A1A1A"/>
                </a:solidFill>
                <a:latin typeface="Helvetica" pitchFamily="34" charset="0"/>
                <a:ea typeface="Helvetica" pitchFamily="34" charset="-122"/>
                <a:cs typeface="Helvetica" pitchFamily="34" charset="-120"/>
              </a:rPr>
              <a:t>Why this loss? Three objectives, one equation.</a:t>
            </a:r>
            <a:endParaRPr lang="en-US" sz="2800" dirty="0"/>
          </a:p>
        </p:txBody>
      </p:sp>
      <p:sp>
        <p:nvSpPr>
          <p:cNvPr id="4" name="Shape 2"/>
          <p:cNvSpPr/>
          <p:nvPr/>
        </p:nvSpPr>
        <p:spPr>
          <a:xfrm>
            <a:off x="640080" y="1143000"/>
            <a:ext cx="7863840" cy="0"/>
          </a:xfrm>
          <a:prstGeom prst="line">
            <a:avLst/>
          </a:prstGeom>
          <a:noFill/>
          <a:ln w="9525">
            <a:solidFill>
              <a:srgbClr val="D8D8D8"/>
            </a:solidFill>
            <a:prstDash val="solid"/>
          </a:ln>
        </p:spPr>
      </p:sp>
      <p:sp>
        <p:nvSpPr>
          <p:cNvPr id="5" name="Shape 3"/>
          <p:cNvSpPr/>
          <p:nvPr/>
        </p:nvSpPr>
        <p:spPr>
          <a:xfrm>
            <a:off x="640080" y="1325880"/>
            <a:ext cx="7863840" cy="594360"/>
          </a:xfrm>
          <a:prstGeom prst="rect">
            <a:avLst/>
          </a:prstGeom>
          <a:solidFill>
            <a:srgbClr val="F5F5F5"/>
          </a:solidFill>
          <a:ln/>
        </p:spPr>
      </p:sp>
      <p:sp>
        <p:nvSpPr>
          <p:cNvPr id="6" name="Text 4"/>
          <p:cNvSpPr/>
          <p:nvPr/>
        </p:nvSpPr>
        <p:spPr>
          <a:xfrm>
            <a:off x="822960" y="1325880"/>
            <a:ext cx="7498080" cy="594360"/>
          </a:xfrm>
          <a:prstGeom prst="rect">
            <a:avLst/>
          </a:prstGeom>
          <a:noFill/>
          <a:ln/>
        </p:spPr>
        <p:txBody>
          <a:bodyPr wrap="square" lIns="0" tIns="0" rIns="0" bIns="0" rtlCol="0" anchor="ctr"/>
          <a:lstStyle/>
          <a:p>
            <a:pPr marL="0" indent="0">
              <a:buNone/>
            </a:pPr>
            <a:r>
              <a:rPr lang="en-US" sz="1600" b="1" i="1" dirty="0">
                <a:solidFill>
                  <a:srgbClr val="1A1A1A"/>
                </a:solidFill>
                <a:latin typeface="Helvetica" pitchFamily="34" charset="0"/>
                <a:ea typeface="Helvetica" pitchFamily="34" charset="-122"/>
                <a:cs typeface="Helvetica" pitchFamily="34" charset="-120"/>
              </a:rPr>
              <a:t>L</a:t>
            </a:r>
            <a:r>
              <a:rPr lang="en-US" sz="1000" b="1" dirty="0">
                <a:solidFill>
                  <a:srgbClr val="1A1A1A"/>
                </a:solidFill>
                <a:latin typeface="Helvetica" pitchFamily="34" charset="0"/>
                <a:ea typeface="Helvetica" pitchFamily="34" charset="-122"/>
                <a:cs typeface="Helvetica" pitchFamily="34" charset="-120"/>
              </a:rPr>
              <a:t>total</a:t>
            </a:r>
            <a:r>
              <a:rPr lang="en-US" sz="1600" dirty="0">
                <a:solidFill>
                  <a:srgbClr val="1A1A1A"/>
                </a:solidFill>
                <a:latin typeface="Helvetica" pitchFamily="34" charset="0"/>
                <a:ea typeface="Helvetica" pitchFamily="34" charset="-122"/>
                <a:cs typeface="Helvetica" pitchFamily="34" charset="-120"/>
              </a:rPr>
              <a:t>  =  </a:t>
            </a:r>
            <a:r>
              <a:rPr lang="en-US" sz="1600" i="1" dirty="0">
                <a:solidFill>
                  <a:srgbClr val="2D2D2D"/>
                </a:solidFill>
                <a:latin typeface="Helvetica" pitchFamily="34" charset="0"/>
                <a:ea typeface="Helvetica" pitchFamily="34" charset="-122"/>
                <a:cs typeface="Helvetica" pitchFamily="34" charset="-120"/>
              </a:rPr>
              <a:t>α</a:t>
            </a:r>
            <a:r>
              <a:rPr lang="en-US" sz="1600" dirty="0">
                <a:solidFill>
                  <a:srgbClr val="1A1A1A"/>
                </a:solidFill>
                <a:latin typeface="Helvetica" pitchFamily="34" charset="0"/>
                <a:ea typeface="Helvetica" pitchFamily="34" charset="-122"/>
                <a:cs typeface="Helvetica" pitchFamily="34" charset="-120"/>
              </a:rPr>
              <a:t> · </a:t>
            </a:r>
            <a:r>
              <a:rPr lang="en-US" sz="1600" b="1" i="1" dirty="0">
                <a:solidFill>
                  <a:srgbClr val="1A1A1A"/>
                </a:solidFill>
                <a:latin typeface="Helvetica" pitchFamily="34" charset="0"/>
                <a:ea typeface="Helvetica" pitchFamily="34" charset="-122"/>
                <a:cs typeface="Helvetica" pitchFamily="34" charset="-120"/>
              </a:rPr>
              <a:t>L</a:t>
            </a:r>
            <a:r>
              <a:rPr lang="en-US" sz="1000" b="1" dirty="0">
                <a:solidFill>
                  <a:srgbClr val="1A1A1A"/>
                </a:solidFill>
                <a:latin typeface="Helvetica" pitchFamily="34" charset="0"/>
                <a:ea typeface="Helvetica" pitchFamily="34" charset="-122"/>
                <a:cs typeface="Helvetica" pitchFamily="34" charset="-120"/>
              </a:rPr>
              <a:t>recon</a:t>
            </a:r>
            <a:r>
              <a:rPr lang="en-US" sz="1600" dirty="0">
                <a:solidFill>
                  <a:srgbClr val="1A1A1A"/>
                </a:solidFill>
                <a:latin typeface="Helvetica" pitchFamily="34" charset="0"/>
                <a:ea typeface="Helvetica" pitchFamily="34" charset="-122"/>
                <a:cs typeface="Helvetica" pitchFamily="34" charset="-120"/>
              </a:rPr>
              <a:t>  +  </a:t>
            </a:r>
            <a:r>
              <a:rPr lang="en-US" sz="1600" i="1" dirty="0">
                <a:solidFill>
                  <a:srgbClr val="2D2D2D"/>
                </a:solidFill>
                <a:latin typeface="Helvetica" pitchFamily="34" charset="0"/>
                <a:ea typeface="Helvetica" pitchFamily="34" charset="-122"/>
                <a:cs typeface="Helvetica" pitchFamily="34" charset="-120"/>
              </a:rPr>
              <a:t>β</a:t>
            </a:r>
            <a:r>
              <a:rPr lang="en-US" sz="1600" dirty="0">
                <a:solidFill>
                  <a:srgbClr val="1A1A1A"/>
                </a:solidFill>
                <a:latin typeface="Helvetica" pitchFamily="34" charset="0"/>
                <a:ea typeface="Helvetica" pitchFamily="34" charset="-122"/>
                <a:cs typeface="Helvetica" pitchFamily="34" charset="-120"/>
              </a:rPr>
              <a:t> · </a:t>
            </a:r>
            <a:r>
              <a:rPr lang="en-US" sz="1600" b="1" i="1" dirty="0">
                <a:solidFill>
                  <a:srgbClr val="1A1A1A"/>
                </a:solidFill>
                <a:latin typeface="Helvetica" pitchFamily="34" charset="0"/>
                <a:ea typeface="Helvetica" pitchFamily="34" charset="-122"/>
                <a:cs typeface="Helvetica" pitchFamily="34" charset="-120"/>
              </a:rPr>
              <a:t>L</a:t>
            </a:r>
            <a:r>
              <a:rPr lang="en-US" sz="1000" b="1" dirty="0">
                <a:solidFill>
                  <a:srgbClr val="1A1A1A"/>
                </a:solidFill>
                <a:latin typeface="Helvetica" pitchFamily="34" charset="0"/>
                <a:ea typeface="Helvetica" pitchFamily="34" charset="-122"/>
                <a:cs typeface="Helvetica" pitchFamily="34" charset="-120"/>
              </a:rPr>
              <a:t>cls</a:t>
            </a:r>
            <a:r>
              <a:rPr lang="en-US" sz="1600" dirty="0">
                <a:solidFill>
                  <a:srgbClr val="1A1A1A"/>
                </a:solidFill>
                <a:latin typeface="Helvetica" pitchFamily="34" charset="0"/>
                <a:ea typeface="Helvetica" pitchFamily="34" charset="-122"/>
                <a:cs typeface="Helvetica" pitchFamily="34" charset="-120"/>
              </a:rPr>
              <a:t>  +  </a:t>
            </a:r>
            <a:r>
              <a:rPr lang="en-US" sz="1600" i="1" dirty="0">
                <a:solidFill>
                  <a:srgbClr val="2D2D2D"/>
                </a:solidFill>
                <a:latin typeface="Helvetica" pitchFamily="34" charset="0"/>
                <a:ea typeface="Helvetica" pitchFamily="34" charset="-122"/>
                <a:cs typeface="Helvetica" pitchFamily="34" charset="-120"/>
              </a:rPr>
              <a:t>γ</a:t>
            </a:r>
            <a:r>
              <a:rPr lang="en-US" sz="1600" dirty="0">
                <a:solidFill>
                  <a:srgbClr val="1A1A1A"/>
                </a:solidFill>
                <a:latin typeface="Helvetica" pitchFamily="34" charset="0"/>
                <a:ea typeface="Helvetica" pitchFamily="34" charset="-122"/>
                <a:cs typeface="Helvetica" pitchFamily="34" charset="-120"/>
              </a:rPr>
              <a:t> · </a:t>
            </a:r>
            <a:r>
              <a:rPr lang="en-US" sz="1600" b="1" i="1" dirty="0">
                <a:solidFill>
                  <a:srgbClr val="1A1A1A"/>
                </a:solidFill>
                <a:latin typeface="Helvetica" pitchFamily="34" charset="0"/>
                <a:ea typeface="Helvetica" pitchFamily="34" charset="-122"/>
                <a:cs typeface="Helvetica" pitchFamily="34" charset="-120"/>
              </a:rPr>
              <a:t>L</a:t>
            </a:r>
            <a:r>
              <a:rPr lang="en-US" sz="1000" b="1" dirty="0">
                <a:solidFill>
                  <a:srgbClr val="1A1A1A"/>
                </a:solidFill>
                <a:latin typeface="Helvetica" pitchFamily="34" charset="0"/>
                <a:ea typeface="Helvetica" pitchFamily="34" charset="-122"/>
                <a:cs typeface="Helvetica" pitchFamily="34" charset="-120"/>
              </a:rPr>
              <a:t>KL</a:t>
            </a:r>
            <a:r>
              <a:rPr lang="en-US" sz="1000" dirty="0">
                <a:solidFill>
                  <a:srgbClr val="7A7A7A"/>
                </a:solidFill>
                <a:latin typeface="Helvetica" pitchFamily="34" charset="0"/>
                <a:ea typeface="Helvetica" pitchFamily="34" charset="-122"/>
                <a:cs typeface="Helvetica" pitchFamily="34" charset="-120"/>
              </a:rPr>
              <a:t>          α = 0.20    β = 0.65    γ = 0.05</a:t>
            </a:r>
            <a:endParaRPr lang="en-US" sz="1600" dirty="0"/>
          </a:p>
        </p:txBody>
      </p:sp>
      <p:sp>
        <p:nvSpPr>
          <p:cNvPr id="7" name="Shape 5"/>
          <p:cNvSpPr/>
          <p:nvPr/>
        </p:nvSpPr>
        <p:spPr>
          <a:xfrm>
            <a:off x="640080" y="2103120"/>
            <a:ext cx="2514600" cy="2743200"/>
          </a:xfrm>
          <a:prstGeom prst="rect">
            <a:avLst/>
          </a:prstGeom>
          <a:solidFill>
            <a:srgbClr val="F5F5F5"/>
          </a:solidFill>
          <a:ln/>
        </p:spPr>
      </p:sp>
      <p:sp>
        <p:nvSpPr>
          <p:cNvPr id="8" name="Text 6"/>
          <p:cNvSpPr/>
          <p:nvPr/>
        </p:nvSpPr>
        <p:spPr>
          <a:xfrm>
            <a:off x="777240" y="2194560"/>
            <a:ext cx="2240280" cy="411480"/>
          </a:xfrm>
          <a:prstGeom prst="rect">
            <a:avLst/>
          </a:prstGeom>
          <a:noFill/>
          <a:ln/>
        </p:spPr>
        <p:txBody>
          <a:bodyPr wrap="square" lIns="0" tIns="0" rIns="0" bIns="0" rtlCol="0" anchor="ctr"/>
          <a:lstStyle/>
          <a:p>
            <a:pPr marL="0" indent="0">
              <a:lnSpc>
                <a:spcPct val="120000"/>
              </a:lnSpc>
              <a:buNone/>
            </a:pPr>
            <a:r>
              <a:rPr lang="en-US" sz="1000" b="1" dirty="0">
                <a:solidFill>
                  <a:srgbClr val="1A1A1A"/>
                </a:solidFill>
                <a:latin typeface="Helvetica" pitchFamily="34" charset="0"/>
                <a:ea typeface="Helvetica" pitchFamily="34" charset="-122"/>
                <a:cs typeface="Helvetica" pitchFamily="34" charset="-120"/>
              </a:rPr>
              <a:t>L_recon — Reconstruction (α = 0.20)</a:t>
            </a:r>
            <a:endParaRPr lang="en-US" sz="1000" dirty="0"/>
          </a:p>
        </p:txBody>
      </p:sp>
      <p:sp>
        <p:nvSpPr>
          <p:cNvPr id="9" name="Text 7"/>
          <p:cNvSpPr/>
          <p:nvPr/>
        </p:nvSpPr>
        <p:spPr>
          <a:xfrm>
            <a:off x="777240" y="2651760"/>
            <a:ext cx="2240280" cy="640080"/>
          </a:xfrm>
          <a:prstGeom prst="rect">
            <a:avLst/>
          </a:prstGeom>
          <a:noFill/>
          <a:ln/>
        </p:spPr>
        <p:txBody>
          <a:bodyPr wrap="square" lIns="0" tIns="0" rIns="0" bIns="0" rtlCol="0" anchor="ctr"/>
          <a:lstStyle/>
          <a:p>
            <a:pPr marL="0" indent="0">
              <a:lnSpc>
                <a:spcPct val="130000"/>
              </a:lnSpc>
              <a:buNone/>
            </a:pPr>
            <a:r>
              <a:rPr lang="en-US" sz="850" i="1" dirty="0">
                <a:solidFill>
                  <a:srgbClr val="4A4A4A"/>
                </a:solidFill>
                <a:latin typeface="Helvetica" pitchFamily="34" charset="0"/>
                <a:ea typeface="Helvetica" pitchFamily="34" charset="-122"/>
                <a:cs typeface="Helvetica" pitchFamily="34" charset="-120"/>
              </a:rPr>
              <a:t>Why? Teaches the decoder to reconstruct normal traffic. High error at inference = anomaly.</a:t>
            </a:r>
            <a:endParaRPr lang="en-US" sz="850" dirty="0"/>
          </a:p>
        </p:txBody>
      </p:sp>
      <p:sp>
        <p:nvSpPr>
          <p:cNvPr id="10" name="Shape 8"/>
          <p:cNvSpPr/>
          <p:nvPr/>
        </p:nvSpPr>
        <p:spPr>
          <a:xfrm>
            <a:off x="777240" y="3383280"/>
            <a:ext cx="2240280" cy="502920"/>
          </a:xfrm>
          <a:prstGeom prst="rect">
            <a:avLst/>
          </a:prstGeom>
          <a:solidFill>
            <a:srgbClr val="FFFFFF"/>
          </a:solidFill>
          <a:ln/>
        </p:spPr>
      </p:sp>
      <p:sp>
        <p:nvSpPr>
          <p:cNvPr id="11" name="Text 9"/>
          <p:cNvSpPr/>
          <p:nvPr/>
        </p:nvSpPr>
        <p:spPr>
          <a:xfrm>
            <a:off x="868680" y="3383280"/>
            <a:ext cx="2057400" cy="502920"/>
          </a:xfrm>
          <a:prstGeom prst="rect">
            <a:avLst/>
          </a:prstGeom>
          <a:noFill/>
          <a:ln/>
        </p:spPr>
        <p:txBody>
          <a:bodyPr wrap="square" lIns="0" tIns="0" rIns="0" bIns="0" rtlCol="0" anchor="ctr"/>
          <a:lstStyle/>
          <a:p>
            <a:pPr marL="0" indent="0">
              <a:buNone/>
            </a:pPr>
            <a:r>
              <a:rPr lang="en-US" sz="1100" dirty="0">
                <a:solidFill>
                  <a:srgbClr val="1A1A1A"/>
                </a:solidFill>
                <a:latin typeface="Consolas" pitchFamily="34" charset="0"/>
                <a:ea typeface="Consolas" pitchFamily="34" charset="-122"/>
                <a:cs typeface="Consolas" pitchFamily="34" charset="-120"/>
              </a:rPr>
              <a:t>L_recon = (1/n) Σ |xᵢ − x̂ᵢ|</a:t>
            </a:r>
            <a:endParaRPr lang="en-US" sz="1100" dirty="0"/>
          </a:p>
        </p:txBody>
      </p:sp>
      <p:sp>
        <p:nvSpPr>
          <p:cNvPr id="12" name="Text 10"/>
          <p:cNvSpPr/>
          <p:nvPr/>
        </p:nvSpPr>
        <p:spPr>
          <a:xfrm>
            <a:off x="777240" y="4023360"/>
            <a:ext cx="2240280" cy="731520"/>
          </a:xfrm>
          <a:prstGeom prst="rect">
            <a:avLst/>
          </a:prstGeom>
          <a:noFill/>
          <a:ln/>
        </p:spPr>
        <p:txBody>
          <a:bodyPr wrap="square" lIns="0" tIns="0" rIns="0" bIns="0" rtlCol="0" anchor="ctr"/>
          <a:lstStyle/>
          <a:p>
            <a:pPr marL="0" indent="0">
              <a:lnSpc>
                <a:spcPct val="130000"/>
              </a:lnSpc>
              <a:buNone/>
            </a:pPr>
            <a:r>
              <a:rPr lang="en-US" sz="800" dirty="0">
                <a:solidFill>
                  <a:srgbClr val="7A7A7A"/>
                </a:solidFill>
                <a:latin typeface="Helvetica" pitchFamily="34" charset="0"/>
                <a:ea typeface="Helvetica" pitchFamily="34" charset="-122"/>
                <a:cs typeface="Helvetica" pitchFamily="34" charset="-120"/>
              </a:rPr>
              <a:t>L1 loss, trained on BENIGN batches only. Attacks are never reconstructed well → high error → anomaly flag.</a:t>
            </a:r>
            <a:endParaRPr lang="en-US" sz="800" dirty="0"/>
          </a:p>
        </p:txBody>
      </p:sp>
      <p:sp>
        <p:nvSpPr>
          <p:cNvPr id="13" name="Shape 11"/>
          <p:cNvSpPr/>
          <p:nvPr/>
        </p:nvSpPr>
        <p:spPr>
          <a:xfrm>
            <a:off x="3337560" y="2103120"/>
            <a:ext cx="2514600" cy="2743200"/>
          </a:xfrm>
          <a:prstGeom prst="rect">
            <a:avLst/>
          </a:prstGeom>
          <a:solidFill>
            <a:srgbClr val="F5F5F5"/>
          </a:solidFill>
          <a:ln/>
        </p:spPr>
      </p:sp>
      <p:sp>
        <p:nvSpPr>
          <p:cNvPr id="14" name="Text 12"/>
          <p:cNvSpPr/>
          <p:nvPr/>
        </p:nvSpPr>
        <p:spPr>
          <a:xfrm>
            <a:off x="3474720" y="2194560"/>
            <a:ext cx="2240280" cy="411480"/>
          </a:xfrm>
          <a:prstGeom prst="rect">
            <a:avLst/>
          </a:prstGeom>
          <a:noFill/>
          <a:ln/>
        </p:spPr>
        <p:txBody>
          <a:bodyPr wrap="square" lIns="0" tIns="0" rIns="0" bIns="0" rtlCol="0" anchor="ctr"/>
          <a:lstStyle/>
          <a:p>
            <a:pPr marL="0" indent="0">
              <a:lnSpc>
                <a:spcPct val="120000"/>
              </a:lnSpc>
              <a:buNone/>
            </a:pPr>
            <a:r>
              <a:rPr lang="en-US" sz="1000" b="1" dirty="0">
                <a:solidFill>
                  <a:srgbClr val="1A1A1A"/>
                </a:solidFill>
                <a:latin typeface="Helvetica" pitchFamily="34" charset="0"/>
                <a:ea typeface="Helvetica" pitchFamily="34" charset="-122"/>
                <a:cs typeface="Helvetica" pitchFamily="34" charset="-120"/>
              </a:rPr>
              <a:t>L_cls — Focal Loss (β = 0.65)</a:t>
            </a:r>
            <a:endParaRPr lang="en-US" sz="1000" dirty="0"/>
          </a:p>
        </p:txBody>
      </p:sp>
      <p:sp>
        <p:nvSpPr>
          <p:cNvPr id="15" name="Text 13"/>
          <p:cNvSpPr/>
          <p:nvPr/>
        </p:nvSpPr>
        <p:spPr>
          <a:xfrm>
            <a:off x="3474720" y="2651760"/>
            <a:ext cx="2240280" cy="640080"/>
          </a:xfrm>
          <a:prstGeom prst="rect">
            <a:avLst/>
          </a:prstGeom>
          <a:noFill/>
          <a:ln/>
        </p:spPr>
        <p:txBody>
          <a:bodyPr wrap="square" lIns="0" tIns="0" rIns="0" bIns="0" rtlCol="0" anchor="ctr"/>
          <a:lstStyle/>
          <a:p>
            <a:pPr marL="0" indent="0">
              <a:lnSpc>
                <a:spcPct val="130000"/>
              </a:lnSpc>
              <a:buNone/>
            </a:pPr>
            <a:r>
              <a:rPr lang="en-US" sz="850" i="1" dirty="0">
                <a:solidFill>
                  <a:srgbClr val="4A4A4A"/>
                </a:solidFill>
                <a:latin typeface="Helvetica" pitchFamily="34" charset="0"/>
                <a:ea typeface="Helvetica" pitchFamily="34" charset="-122"/>
                <a:cs typeface="Helvetica" pitchFamily="34" charset="-120"/>
              </a:rPr>
              <a:t>Why? Standard CE ignores rare classes. Focal Loss down-weights easy examples, forcing the model to learn minorities.</a:t>
            </a:r>
            <a:endParaRPr lang="en-US" sz="850" dirty="0"/>
          </a:p>
        </p:txBody>
      </p:sp>
      <p:sp>
        <p:nvSpPr>
          <p:cNvPr id="16" name="Shape 14"/>
          <p:cNvSpPr/>
          <p:nvPr/>
        </p:nvSpPr>
        <p:spPr>
          <a:xfrm>
            <a:off x="3474720" y="3383280"/>
            <a:ext cx="2240280" cy="502920"/>
          </a:xfrm>
          <a:prstGeom prst="rect">
            <a:avLst/>
          </a:prstGeom>
          <a:solidFill>
            <a:srgbClr val="FFFFFF"/>
          </a:solidFill>
          <a:ln/>
        </p:spPr>
      </p:sp>
      <p:sp>
        <p:nvSpPr>
          <p:cNvPr id="17" name="Text 15"/>
          <p:cNvSpPr/>
          <p:nvPr/>
        </p:nvSpPr>
        <p:spPr>
          <a:xfrm>
            <a:off x="3528375" y="3383280"/>
            <a:ext cx="2286000" cy="502920"/>
          </a:xfrm>
          <a:prstGeom prst="rect">
            <a:avLst/>
          </a:prstGeom>
          <a:noFill/>
          <a:ln/>
        </p:spPr>
        <p:txBody>
          <a:bodyPr wrap="square" lIns="0" tIns="0" rIns="0" bIns="0" rtlCol="0" anchor="ctr"/>
          <a:lstStyle/>
          <a:p>
            <a:pPr marL="0" indent="0">
              <a:buNone/>
            </a:pPr>
            <a:r>
              <a:rPr lang="en-US" sz="1050" dirty="0">
                <a:solidFill>
                  <a:srgbClr val="1A1A1A"/>
                </a:solidFill>
                <a:latin typeface="Consolas" pitchFamily="34" charset="0"/>
                <a:ea typeface="Consolas" pitchFamily="34" charset="-122"/>
                <a:cs typeface="Consolas" pitchFamily="34" charset="-120"/>
              </a:rPr>
              <a:t>FL(pₜ) = −αₜ (1 − pₜ)^γ  log(pₜ)</a:t>
            </a:r>
            <a:endParaRPr lang="en-US" sz="1050" dirty="0"/>
          </a:p>
        </p:txBody>
      </p:sp>
      <p:sp>
        <p:nvSpPr>
          <p:cNvPr id="18" name="Text 16"/>
          <p:cNvSpPr/>
          <p:nvPr/>
        </p:nvSpPr>
        <p:spPr>
          <a:xfrm>
            <a:off x="3474720" y="4023360"/>
            <a:ext cx="2240280" cy="731520"/>
          </a:xfrm>
          <a:prstGeom prst="rect">
            <a:avLst/>
          </a:prstGeom>
          <a:noFill/>
          <a:ln/>
        </p:spPr>
        <p:txBody>
          <a:bodyPr wrap="square" lIns="0" tIns="0" rIns="0" bIns="0" rtlCol="0" anchor="ctr"/>
          <a:lstStyle/>
          <a:p>
            <a:pPr marL="0" indent="0">
              <a:lnSpc>
                <a:spcPct val="130000"/>
              </a:lnSpc>
              <a:buNone/>
            </a:pPr>
            <a:r>
              <a:rPr lang="en-US" sz="800" dirty="0">
                <a:solidFill>
                  <a:srgbClr val="7A7A7A"/>
                </a:solidFill>
                <a:latin typeface="Helvetica" pitchFamily="34" charset="0"/>
                <a:ea typeface="Helvetica" pitchFamily="34" charset="-122"/>
                <a:cs typeface="Helvetica" pitchFamily="34" charset="-120"/>
              </a:rPr>
              <a:t>γ = 1.5, class weights αₜ inversely proportional to frequency. Dominant term — classification is the primary task.</a:t>
            </a:r>
            <a:endParaRPr lang="en-US" sz="800" dirty="0"/>
          </a:p>
        </p:txBody>
      </p:sp>
      <p:sp>
        <p:nvSpPr>
          <p:cNvPr id="19" name="Shape 17"/>
          <p:cNvSpPr/>
          <p:nvPr/>
        </p:nvSpPr>
        <p:spPr>
          <a:xfrm>
            <a:off x="6035040" y="2103120"/>
            <a:ext cx="2514600" cy="2743200"/>
          </a:xfrm>
          <a:prstGeom prst="rect">
            <a:avLst/>
          </a:prstGeom>
          <a:solidFill>
            <a:srgbClr val="F5F5F5"/>
          </a:solidFill>
          <a:ln/>
        </p:spPr>
      </p:sp>
      <p:sp>
        <p:nvSpPr>
          <p:cNvPr id="20" name="Text 18"/>
          <p:cNvSpPr/>
          <p:nvPr/>
        </p:nvSpPr>
        <p:spPr>
          <a:xfrm>
            <a:off x="6172200" y="2194560"/>
            <a:ext cx="2240280" cy="411480"/>
          </a:xfrm>
          <a:prstGeom prst="rect">
            <a:avLst/>
          </a:prstGeom>
          <a:noFill/>
          <a:ln/>
        </p:spPr>
        <p:txBody>
          <a:bodyPr wrap="square" lIns="0" tIns="0" rIns="0" bIns="0" rtlCol="0" anchor="ctr"/>
          <a:lstStyle/>
          <a:p>
            <a:pPr marL="0" indent="0">
              <a:lnSpc>
                <a:spcPct val="120000"/>
              </a:lnSpc>
              <a:buNone/>
            </a:pPr>
            <a:r>
              <a:rPr lang="en-US" sz="1000" b="1" dirty="0">
                <a:solidFill>
                  <a:srgbClr val="1A1A1A"/>
                </a:solidFill>
                <a:latin typeface="Helvetica" pitchFamily="34" charset="0"/>
                <a:ea typeface="Helvetica" pitchFamily="34" charset="-122"/>
                <a:cs typeface="Helvetica" pitchFamily="34" charset="-120"/>
              </a:rPr>
              <a:t>L_KL — KL Divergence (γ = 0.05)</a:t>
            </a:r>
            <a:endParaRPr lang="en-US" sz="1000" dirty="0"/>
          </a:p>
        </p:txBody>
      </p:sp>
      <p:sp>
        <p:nvSpPr>
          <p:cNvPr id="21" name="Text 19"/>
          <p:cNvSpPr/>
          <p:nvPr/>
        </p:nvSpPr>
        <p:spPr>
          <a:xfrm>
            <a:off x="6172200" y="2651760"/>
            <a:ext cx="2240280" cy="640080"/>
          </a:xfrm>
          <a:prstGeom prst="rect">
            <a:avLst/>
          </a:prstGeom>
          <a:noFill/>
          <a:ln/>
        </p:spPr>
        <p:txBody>
          <a:bodyPr wrap="square" lIns="0" tIns="0" rIns="0" bIns="0" rtlCol="0" anchor="ctr"/>
          <a:lstStyle/>
          <a:p>
            <a:pPr marL="0" indent="0">
              <a:lnSpc>
                <a:spcPct val="130000"/>
              </a:lnSpc>
              <a:buNone/>
            </a:pPr>
            <a:r>
              <a:rPr lang="en-US" sz="850" i="1" dirty="0">
                <a:solidFill>
                  <a:srgbClr val="4A4A4A"/>
                </a:solidFill>
                <a:latin typeface="Helvetica" pitchFamily="34" charset="0"/>
                <a:ea typeface="Helvetica" pitchFamily="34" charset="-122"/>
                <a:cs typeface="Helvetica" pitchFamily="34" charset="-120"/>
              </a:rPr>
              <a:t>Why? Regularises the latent space to be smooth and continuous — essential for meaningful reconstruction scores.</a:t>
            </a:r>
            <a:endParaRPr lang="en-US" sz="850" dirty="0"/>
          </a:p>
        </p:txBody>
      </p:sp>
      <p:sp>
        <p:nvSpPr>
          <p:cNvPr id="22" name="Shape 20"/>
          <p:cNvSpPr/>
          <p:nvPr/>
        </p:nvSpPr>
        <p:spPr>
          <a:xfrm>
            <a:off x="6172200" y="3383280"/>
            <a:ext cx="2240280" cy="502920"/>
          </a:xfrm>
          <a:prstGeom prst="rect">
            <a:avLst/>
          </a:prstGeom>
          <a:solidFill>
            <a:srgbClr val="FFFFFF"/>
          </a:solidFill>
          <a:ln/>
        </p:spPr>
      </p:sp>
      <p:sp>
        <p:nvSpPr>
          <p:cNvPr id="23" name="Text 21"/>
          <p:cNvSpPr/>
          <p:nvPr/>
        </p:nvSpPr>
        <p:spPr>
          <a:xfrm>
            <a:off x="6210741" y="3383280"/>
            <a:ext cx="2606040" cy="502920"/>
          </a:xfrm>
          <a:prstGeom prst="rect">
            <a:avLst/>
          </a:prstGeom>
          <a:noFill/>
          <a:ln/>
        </p:spPr>
        <p:txBody>
          <a:bodyPr wrap="square" lIns="0" tIns="0" rIns="0" bIns="0" rtlCol="0" anchor="ctr"/>
          <a:lstStyle/>
          <a:p>
            <a:pPr marL="0" indent="0">
              <a:buNone/>
            </a:pPr>
            <a:r>
              <a:rPr lang="en-US" sz="900" dirty="0">
                <a:solidFill>
                  <a:srgbClr val="1A1A1A"/>
                </a:solidFill>
                <a:latin typeface="Consolas" pitchFamily="34" charset="0"/>
                <a:ea typeface="Consolas" pitchFamily="34" charset="-122"/>
                <a:cs typeface="Consolas" pitchFamily="34" charset="-120"/>
              </a:rPr>
              <a:t>L_KL = −½ Σ (1 + log σ² − μ² − σ²)</a:t>
            </a:r>
            <a:endParaRPr lang="en-US" sz="900" dirty="0"/>
          </a:p>
        </p:txBody>
      </p:sp>
      <p:sp>
        <p:nvSpPr>
          <p:cNvPr id="24" name="Text 22"/>
          <p:cNvSpPr/>
          <p:nvPr/>
        </p:nvSpPr>
        <p:spPr>
          <a:xfrm>
            <a:off x="6172200" y="4023360"/>
            <a:ext cx="2240280" cy="731520"/>
          </a:xfrm>
          <a:prstGeom prst="rect">
            <a:avLst/>
          </a:prstGeom>
          <a:noFill/>
          <a:ln/>
        </p:spPr>
        <p:txBody>
          <a:bodyPr wrap="square" lIns="0" tIns="0" rIns="0" bIns="0" rtlCol="0" anchor="ctr"/>
          <a:lstStyle/>
          <a:p>
            <a:pPr marL="0" indent="0">
              <a:lnSpc>
                <a:spcPct val="130000"/>
              </a:lnSpc>
              <a:buNone/>
            </a:pPr>
            <a:r>
              <a:rPr lang="en-US" sz="800" dirty="0">
                <a:solidFill>
                  <a:srgbClr val="7A7A7A"/>
                </a:solidFill>
                <a:latin typeface="Helvetica" pitchFamily="34" charset="0"/>
                <a:ea typeface="Helvetica" pitchFamily="34" charset="-122"/>
                <a:cs typeface="Helvetica" pitchFamily="34" charset="-120"/>
              </a:rPr>
              <a:t>Small weight (0.05) prevents posterior collapse while keeping latent space structured for anomaly scoring.</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2743200" cy="274320"/>
          </a:xfrm>
          <a:prstGeom prst="rect">
            <a:avLst/>
          </a:prstGeom>
          <a:noFill/>
          <a:ln/>
        </p:spPr>
        <p:txBody>
          <a:bodyPr wrap="square" lIns="0" tIns="0" rIns="0" bIns="0" rtlCol="0" anchor="ctr"/>
          <a:lstStyle/>
          <a:p>
            <a:pPr marL="0" indent="0">
              <a:buNone/>
            </a:pPr>
            <a:r>
              <a:rPr lang="en-US" sz="800" kern="0" spc="300" dirty="0">
                <a:solidFill>
                  <a:srgbClr val="7A7A7A"/>
                </a:solidFill>
                <a:latin typeface="Helvetica" pitchFamily="34" charset="0"/>
                <a:ea typeface="Helvetica" pitchFamily="34" charset="-122"/>
                <a:cs typeface="Helvetica" pitchFamily="34" charset="-120"/>
              </a:rPr>
              <a:t>BASELINE VANILLA AE</a:t>
            </a:r>
            <a:endParaRPr lang="en-US" sz="800" dirty="0"/>
          </a:p>
        </p:txBody>
      </p:sp>
      <p:sp>
        <p:nvSpPr>
          <p:cNvPr id="3" name="Text 1"/>
          <p:cNvSpPr/>
          <p:nvPr/>
        </p:nvSpPr>
        <p:spPr>
          <a:xfrm>
            <a:off x="8229600" y="4617720"/>
            <a:ext cx="640080" cy="365760"/>
          </a:xfrm>
          <a:prstGeom prst="rect">
            <a:avLst/>
          </a:prstGeom>
          <a:noFill/>
          <a:ln/>
        </p:spPr>
        <p:txBody>
          <a:bodyPr wrap="square" lIns="0" tIns="0" rIns="0" bIns="0" rtlCol="0" anchor="ctr"/>
          <a:lstStyle/>
          <a:p>
            <a:pPr marL="0" indent="0" algn="r">
              <a:buNone/>
            </a:pPr>
            <a:r>
              <a:rPr lang="en-US" sz="900" dirty="0">
                <a:solidFill>
                  <a:srgbClr val="C0C0C0"/>
                </a:solidFill>
                <a:latin typeface="Helvetica" pitchFamily="34" charset="0"/>
                <a:ea typeface="Helvetica" pitchFamily="34" charset="-122"/>
                <a:cs typeface="Helvetica" pitchFamily="34" charset="-120"/>
              </a:rPr>
              <a:t>10</a:t>
            </a:r>
            <a:endParaRPr lang="en-US" sz="900" dirty="0"/>
          </a:p>
        </p:txBody>
      </p:sp>
      <p:sp>
        <p:nvSpPr>
          <p:cNvPr id="4" name="Text 2"/>
          <p:cNvSpPr/>
          <p:nvPr/>
        </p:nvSpPr>
        <p:spPr>
          <a:xfrm>
            <a:off x="640080" y="640080"/>
            <a:ext cx="7315200" cy="548640"/>
          </a:xfrm>
          <a:prstGeom prst="rect">
            <a:avLst/>
          </a:prstGeom>
          <a:noFill/>
          <a:ln/>
        </p:spPr>
        <p:txBody>
          <a:bodyPr wrap="square" lIns="0" tIns="0" rIns="0" bIns="0" rtlCol="0" anchor="ctr"/>
          <a:lstStyle/>
          <a:p>
            <a:pPr marL="0" indent="0">
              <a:buNone/>
            </a:pPr>
            <a:r>
              <a:rPr lang="en-US" sz="2800" b="1" dirty="0">
                <a:solidFill>
                  <a:srgbClr val="1A1A1A"/>
                </a:solidFill>
                <a:latin typeface="Helvetica" pitchFamily="34" charset="0"/>
                <a:ea typeface="Helvetica" pitchFamily="34" charset="-122"/>
                <a:cs typeface="Helvetica" pitchFamily="34" charset="-120"/>
              </a:rPr>
              <a:t>Why start with a Vanilla Autoencoder?</a:t>
            </a:r>
            <a:endParaRPr lang="en-US" sz="2800" dirty="0"/>
          </a:p>
        </p:txBody>
      </p:sp>
      <p:sp>
        <p:nvSpPr>
          <p:cNvPr id="5" name="Shape 3"/>
          <p:cNvSpPr/>
          <p:nvPr/>
        </p:nvSpPr>
        <p:spPr>
          <a:xfrm>
            <a:off x="640080" y="1188720"/>
            <a:ext cx="7863840" cy="0"/>
          </a:xfrm>
          <a:prstGeom prst="line">
            <a:avLst/>
          </a:prstGeom>
          <a:noFill/>
          <a:ln w="9525">
            <a:solidFill>
              <a:srgbClr val="D8D8D8"/>
            </a:solidFill>
            <a:prstDash val="solid"/>
          </a:ln>
        </p:spPr>
      </p:sp>
      <p:sp>
        <p:nvSpPr>
          <p:cNvPr id="6" name="Text 4"/>
          <p:cNvSpPr/>
          <p:nvPr/>
        </p:nvSpPr>
        <p:spPr>
          <a:xfrm>
            <a:off x="640080" y="1371600"/>
            <a:ext cx="5029200" cy="640080"/>
          </a:xfrm>
          <a:prstGeom prst="rect">
            <a:avLst/>
          </a:prstGeom>
          <a:noFill/>
          <a:ln/>
        </p:spPr>
        <p:txBody>
          <a:bodyPr wrap="square" lIns="0" tIns="0" rIns="0" bIns="0" rtlCol="0" anchor="ctr"/>
          <a:lstStyle/>
          <a:p>
            <a:pPr marL="0" indent="0">
              <a:lnSpc>
                <a:spcPct val="140000"/>
              </a:lnSpc>
              <a:buNone/>
            </a:pPr>
            <a:r>
              <a:rPr lang="en-US" sz="1050" dirty="0">
                <a:solidFill>
                  <a:srgbClr val="4A4A4A"/>
                </a:solidFill>
                <a:latin typeface="Helvetica" pitchFamily="34" charset="0"/>
                <a:ea typeface="Helvetica" pitchFamily="34" charset="-122"/>
                <a:cs typeface="Helvetica" pitchFamily="34" charset="-120"/>
              </a:rPr>
              <a:t>Establishes a pure anomaly-detection baseline. No classification head just BENIGN-only L1 reconstruction training. Any performance the HybridVAE adds beyond this is attributable to the dual-path design.</a:t>
            </a:r>
            <a:endParaRPr lang="en-US" sz="1050" dirty="0"/>
          </a:p>
        </p:txBody>
      </p:sp>
      <p:sp>
        <p:nvSpPr>
          <p:cNvPr id="7" name="Text 5"/>
          <p:cNvSpPr/>
          <p:nvPr/>
        </p:nvSpPr>
        <p:spPr>
          <a:xfrm>
            <a:off x="6400800" y="1371600"/>
            <a:ext cx="1097280" cy="320040"/>
          </a:xfrm>
          <a:prstGeom prst="rect">
            <a:avLst/>
          </a:prstGeom>
          <a:noFill/>
          <a:ln/>
        </p:spPr>
        <p:txBody>
          <a:bodyPr wrap="square" lIns="0" tIns="0" rIns="0" bIns="0" rtlCol="0" anchor="ctr"/>
          <a:lstStyle/>
          <a:p>
            <a:pPr marL="0" indent="0" algn="r">
              <a:buNone/>
            </a:pPr>
            <a:r>
              <a:rPr lang="en-US" sz="2000" b="1" dirty="0">
                <a:solidFill>
                  <a:srgbClr val="1A1A1A"/>
                </a:solidFill>
                <a:latin typeface="Helvetica" pitchFamily="34" charset="0"/>
                <a:ea typeface="Helvetica" pitchFamily="34" charset="-122"/>
                <a:cs typeface="Helvetica" pitchFamily="34" charset="-120"/>
              </a:rPr>
              <a:t>495,501</a:t>
            </a:r>
            <a:endParaRPr lang="en-US" sz="2000" dirty="0"/>
          </a:p>
        </p:txBody>
      </p:sp>
      <p:sp>
        <p:nvSpPr>
          <p:cNvPr id="8" name="Text 6"/>
          <p:cNvSpPr/>
          <p:nvPr/>
        </p:nvSpPr>
        <p:spPr>
          <a:xfrm>
            <a:off x="7589520" y="1417320"/>
            <a:ext cx="1188720" cy="274320"/>
          </a:xfrm>
          <a:prstGeom prst="rect">
            <a:avLst/>
          </a:prstGeom>
          <a:noFill/>
          <a:ln/>
        </p:spPr>
        <p:txBody>
          <a:bodyPr wrap="square" lIns="0" tIns="0" rIns="0" bIns="0" rtlCol="0" anchor="ctr"/>
          <a:lstStyle/>
          <a:p>
            <a:pPr marL="0" indent="0">
              <a:buNone/>
            </a:pPr>
            <a:r>
              <a:rPr lang="en-US" sz="800" dirty="0">
                <a:solidFill>
                  <a:srgbClr val="7A7A7A"/>
                </a:solidFill>
                <a:latin typeface="Helvetica" pitchFamily="34" charset="0"/>
                <a:ea typeface="Helvetica" pitchFamily="34" charset="-122"/>
                <a:cs typeface="Helvetica" pitchFamily="34" charset="-120"/>
              </a:rPr>
              <a:t>parameters</a:t>
            </a:r>
            <a:endParaRPr lang="en-US" sz="800" dirty="0"/>
          </a:p>
        </p:txBody>
      </p:sp>
      <p:sp>
        <p:nvSpPr>
          <p:cNvPr id="9" name="Text 7"/>
          <p:cNvSpPr/>
          <p:nvPr/>
        </p:nvSpPr>
        <p:spPr>
          <a:xfrm>
            <a:off x="6400800" y="1783080"/>
            <a:ext cx="1097280" cy="320040"/>
          </a:xfrm>
          <a:prstGeom prst="rect">
            <a:avLst/>
          </a:prstGeom>
          <a:noFill/>
          <a:ln/>
        </p:spPr>
        <p:txBody>
          <a:bodyPr wrap="square" lIns="0" tIns="0" rIns="0" bIns="0" rtlCol="0" anchor="ctr"/>
          <a:lstStyle/>
          <a:p>
            <a:pPr marL="0" indent="0" algn="r">
              <a:buNone/>
            </a:pPr>
            <a:r>
              <a:rPr lang="en-US" sz="2000" b="1" dirty="0">
                <a:solidFill>
                  <a:srgbClr val="1A1A1A"/>
                </a:solidFill>
                <a:latin typeface="Helvetica" pitchFamily="34" charset="0"/>
                <a:ea typeface="Helvetica" pitchFamily="34" charset="-122"/>
                <a:cs typeface="Helvetica" pitchFamily="34" charset="-120"/>
              </a:rPr>
              <a:t>0.7587</a:t>
            </a:r>
            <a:endParaRPr lang="en-US" sz="2000" dirty="0"/>
          </a:p>
        </p:txBody>
      </p:sp>
      <p:sp>
        <p:nvSpPr>
          <p:cNvPr id="10" name="Text 8"/>
          <p:cNvSpPr/>
          <p:nvPr/>
        </p:nvSpPr>
        <p:spPr>
          <a:xfrm>
            <a:off x="7589520" y="1828800"/>
            <a:ext cx="1188720" cy="274320"/>
          </a:xfrm>
          <a:prstGeom prst="rect">
            <a:avLst/>
          </a:prstGeom>
          <a:noFill/>
          <a:ln/>
        </p:spPr>
        <p:txBody>
          <a:bodyPr wrap="square" lIns="0" tIns="0" rIns="0" bIns="0" rtlCol="0" anchor="ctr"/>
          <a:lstStyle/>
          <a:p>
            <a:pPr marL="0" indent="0">
              <a:buNone/>
            </a:pPr>
            <a:r>
              <a:rPr lang="en-US" sz="800" dirty="0">
                <a:solidFill>
                  <a:srgbClr val="7A7A7A"/>
                </a:solidFill>
                <a:latin typeface="Helvetica" pitchFamily="34" charset="0"/>
                <a:ea typeface="Helvetica" pitchFamily="34" charset="-122"/>
                <a:cs typeface="Helvetica" pitchFamily="34" charset="-120"/>
              </a:rPr>
              <a:t>test AUROC</a:t>
            </a:r>
            <a:endParaRPr lang="en-US" sz="800" dirty="0"/>
          </a:p>
        </p:txBody>
      </p:sp>
      <p:sp>
        <p:nvSpPr>
          <p:cNvPr id="11" name="Text 9"/>
          <p:cNvSpPr/>
          <p:nvPr/>
        </p:nvSpPr>
        <p:spPr>
          <a:xfrm>
            <a:off x="6400800" y="2194560"/>
            <a:ext cx="1097280" cy="320040"/>
          </a:xfrm>
          <a:prstGeom prst="rect">
            <a:avLst/>
          </a:prstGeom>
          <a:noFill/>
          <a:ln/>
        </p:spPr>
        <p:txBody>
          <a:bodyPr wrap="square" lIns="0" tIns="0" rIns="0" bIns="0" rtlCol="0" anchor="ctr"/>
          <a:lstStyle/>
          <a:p>
            <a:pPr marL="0" indent="0" algn="r">
              <a:buNone/>
            </a:pPr>
            <a:r>
              <a:rPr lang="en-US" sz="2000" b="1" dirty="0">
                <a:solidFill>
                  <a:srgbClr val="1A1A1A"/>
                </a:solidFill>
                <a:latin typeface="Helvetica" pitchFamily="34" charset="0"/>
                <a:ea typeface="Helvetica" pitchFamily="34" charset="-122"/>
                <a:cs typeface="Helvetica" pitchFamily="34" charset="-120"/>
              </a:rPr>
              <a:t>60.15%</a:t>
            </a:r>
            <a:endParaRPr lang="en-US" sz="2000" dirty="0"/>
          </a:p>
        </p:txBody>
      </p:sp>
      <p:sp>
        <p:nvSpPr>
          <p:cNvPr id="12" name="Text 10"/>
          <p:cNvSpPr/>
          <p:nvPr/>
        </p:nvSpPr>
        <p:spPr>
          <a:xfrm>
            <a:off x="7589520" y="2240280"/>
            <a:ext cx="1188720" cy="274320"/>
          </a:xfrm>
          <a:prstGeom prst="rect">
            <a:avLst/>
          </a:prstGeom>
          <a:noFill/>
          <a:ln/>
        </p:spPr>
        <p:txBody>
          <a:bodyPr wrap="square" lIns="0" tIns="0" rIns="0" bIns="0" rtlCol="0" anchor="ctr"/>
          <a:lstStyle/>
          <a:p>
            <a:pPr marL="0" indent="0">
              <a:buNone/>
            </a:pPr>
            <a:r>
              <a:rPr lang="en-US" sz="800" dirty="0">
                <a:solidFill>
                  <a:srgbClr val="7A7A7A"/>
                </a:solidFill>
                <a:latin typeface="Helvetica" pitchFamily="34" charset="0"/>
                <a:ea typeface="Helvetica" pitchFamily="34" charset="-122"/>
                <a:cs typeface="Helvetica" pitchFamily="34" charset="-120"/>
              </a:rPr>
              <a:t>attacks flagged at 95th-pct threshold</a:t>
            </a:r>
            <a:endParaRPr lang="en-US" sz="800" dirty="0"/>
          </a:p>
        </p:txBody>
      </p:sp>
      <p:sp>
        <p:nvSpPr>
          <p:cNvPr id="13" name="Text 11"/>
          <p:cNvSpPr/>
          <p:nvPr/>
        </p:nvSpPr>
        <p:spPr>
          <a:xfrm>
            <a:off x="6400800" y="2606040"/>
            <a:ext cx="1097280" cy="320040"/>
          </a:xfrm>
          <a:prstGeom prst="rect">
            <a:avLst/>
          </a:prstGeom>
          <a:noFill/>
          <a:ln/>
        </p:spPr>
        <p:txBody>
          <a:bodyPr wrap="square" lIns="0" tIns="0" rIns="0" bIns="0" rtlCol="0" anchor="ctr"/>
          <a:lstStyle/>
          <a:p>
            <a:pPr marL="0" indent="0" algn="r">
              <a:buNone/>
            </a:pPr>
            <a:r>
              <a:rPr lang="en-US" sz="2000" b="1" dirty="0">
                <a:solidFill>
                  <a:srgbClr val="1A1A1A"/>
                </a:solidFill>
                <a:latin typeface="Helvetica" pitchFamily="34" charset="0"/>
                <a:ea typeface="Helvetica" pitchFamily="34" charset="-122"/>
                <a:cs typeface="Helvetica" pitchFamily="34" charset="-120"/>
              </a:rPr>
              <a:t>0.4920</a:t>
            </a:r>
            <a:endParaRPr lang="en-US" sz="2000" dirty="0"/>
          </a:p>
        </p:txBody>
      </p:sp>
      <p:sp>
        <p:nvSpPr>
          <p:cNvPr id="14" name="Text 12"/>
          <p:cNvSpPr/>
          <p:nvPr/>
        </p:nvSpPr>
        <p:spPr>
          <a:xfrm>
            <a:off x="7589520" y="2651760"/>
            <a:ext cx="1188720" cy="274320"/>
          </a:xfrm>
          <a:prstGeom prst="rect">
            <a:avLst/>
          </a:prstGeom>
          <a:noFill/>
          <a:ln/>
        </p:spPr>
        <p:txBody>
          <a:bodyPr wrap="square" lIns="0" tIns="0" rIns="0" bIns="0" rtlCol="0" anchor="ctr"/>
          <a:lstStyle/>
          <a:p>
            <a:pPr marL="0" indent="0">
              <a:buNone/>
            </a:pPr>
            <a:r>
              <a:rPr lang="en-US" sz="800" dirty="0">
                <a:solidFill>
                  <a:srgbClr val="7A7A7A"/>
                </a:solidFill>
                <a:latin typeface="Helvetica" pitchFamily="34" charset="0"/>
                <a:ea typeface="Helvetica" pitchFamily="34" charset="-122"/>
                <a:cs typeface="Helvetica" pitchFamily="34" charset="-120"/>
              </a:rPr>
              <a:t>95th-pct reconstruction threshold</a:t>
            </a:r>
            <a:endParaRPr lang="en-US" sz="800" dirty="0"/>
          </a:p>
        </p:txBody>
      </p:sp>
      <p:sp>
        <p:nvSpPr>
          <p:cNvPr id="15" name="Text 13"/>
          <p:cNvSpPr/>
          <p:nvPr/>
        </p:nvSpPr>
        <p:spPr>
          <a:xfrm>
            <a:off x="640080" y="4480560"/>
            <a:ext cx="7863840" cy="320040"/>
          </a:xfrm>
          <a:prstGeom prst="rect">
            <a:avLst/>
          </a:prstGeom>
          <a:noFill/>
          <a:ln/>
        </p:spPr>
        <p:txBody>
          <a:bodyPr wrap="square" lIns="0" tIns="0" rIns="0" bIns="0" rtlCol="0" anchor="ctr"/>
          <a:lstStyle/>
          <a:p>
            <a:pPr marL="0" indent="0">
              <a:buNone/>
            </a:pPr>
            <a:r>
              <a:rPr lang="en-US" sz="1000" b="1" dirty="0">
                <a:solidFill>
                  <a:srgbClr val="2D2D2D"/>
                </a:solidFill>
                <a:latin typeface="Helvetica" pitchFamily="34" charset="0"/>
                <a:ea typeface="Helvetica" pitchFamily="34" charset="-122"/>
                <a:cs typeface="Helvetica" pitchFamily="34" charset="-120"/>
              </a:rPr>
              <a:t>Verdict: Moderate anomaly detection, but misses 40% of attacks. No attack classification capability.</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2743200" cy="274320"/>
          </a:xfrm>
          <a:prstGeom prst="rect">
            <a:avLst/>
          </a:prstGeom>
          <a:noFill/>
          <a:ln/>
        </p:spPr>
        <p:txBody>
          <a:bodyPr wrap="square" lIns="0" tIns="0" rIns="0" bIns="0" rtlCol="0" anchor="ctr"/>
          <a:lstStyle/>
          <a:p>
            <a:pPr marL="0" indent="0">
              <a:buNone/>
            </a:pPr>
            <a:r>
              <a:rPr lang="en-US" sz="800" kern="0" spc="300" dirty="0">
                <a:solidFill>
                  <a:srgbClr val="7A7A7A"/>
                </a:solidFill>
                <a:latin typeface="Helvetica" pitchFamily="34" charset="0"/>
                <a:ea typeface="Helvetica" pitchFamily="34" charset="-122"/>
                <a:cs typeface="Helvetica" pitchFamily="34" charset="-120"/>
              </a:rPr>
              <a:t>BASELINE XGBOOST</a:t>
            </a:r>
            <a:endParaRPr lang="en-US" sz="800" dirty="0"/>
          </a:p>
        </p:txBody>
      </p:sp>
      <p:sp>
        <p:nvSpPr>
          <p:cNvPr id="3" name="Text 1"/>
          <p:cNvSpPr/>
          <p:nvPr/>
        </p:nvSpPr>
        <p:spPr>
          <a:xfrm>
            <a:off x="8229600" y="4617720"/>
            <a:ext cx="640080" cy="365760"/>
          </a:xfrm>
          <a:prstGeom prst="rect">
            <a:avLst/>
          </a:prstGeom>
          <a:noFill/>
          <a:ln/>
        </p:spPr>
        <p:txBody>
          <a:bodyPr wrap="square" lIns="0" tIns="0" rIns="0" bIns="0" rtlCol="0" anchor="ctr"/>
          <a:lstStyle/>
          <a:p>
            <a:pPr marL="0" indent="0" algn="r">
              <a:buNone/>
            </a:pPr>
            <a:r>
              <a:rPr lang="en-US" sz="900" dirty="0">
                <a:solidFill>
                  <a:srgbClr val="C0C0C0"/>
                </a:solidFill>
                <a:latin typeface="Helvetica" pitchFamily="34" charset="0"/>
                <a:ea typeface="Helvetica" pitchFamily="34" charset="-122"/>
                <a:cs typeface="Helvetica" pitchFamily="34" charset="-120"/>
              </a:rPr>
              <a:t>11</a:t>
            </a:r>
            <a:endParaRPr lang="en-US" sz="900" dirty="0"/>
          </a:p>
        </p:txBody>
      </p:sp>
      <p:sp>
        <p:nvSpPr>
          <p:cNvPr id="4" name="Text 2"/>
          <p:cNvSpPr/>
          <p:nvPr/>
        </p:nvSpPr>
        <p:spPr>
          <a:xfrm>
            <a:off x="640080" y="640080"/>
            <a:ext cx="7315200" cy="548640"/>
          </a:xfrm>
          <a:prstGeom prst="rect">
            <a:avLst/>
          </a:prstGeom>
          <a:noFill/>
          <a:ln/>
        </p:spPr>
        <p:txBody>
          <a:bodyPr wrap="square" lIns="0" tIns="0" rIns="0" bIns="0" rtlCol="0" anchor="ctr"/>
          <a:lstStyle/>
          <a:p>
            <a:pPr marL="0" indent="0">
              <a:buNone/>
            </a:pPr>
            <a:r>
              <a:rPr lang="en-US" sz="2800" b="1" dirty="0">
                <a:solidFill>
                  <a:srgbClr val="1A1A1A"/>
                </a:solidFill>
                <a:latin typeface="Helvetica" pitchFamily="34" charset="0"/>
                <a:ea typeface="Helvetica" pitchFamily="34" charset="-122"/>
                <a:cs typeface="Helvetica" pitchFamily="34" charset="-120"/>
              </a:rPr>
              <a:t>Why compare against XGBoost?</a:t>
            </a:r>
            <a:endParaRPr lang="en-US" sz="2800" dirty="0"/>
          </a:p>
        </p:txBody>
      </p:sp>
      <p:sp>
        <p:nvSpPr>
          <p:cNvPr id="5" name="Shape 3"/>
          <p:cNvSpPr/>
          <p:nvPr/>
        </p:nvSpPr>
        <p:spPr>
          <a:xfrm>
            <a:off x="640080" y="1188720"/>
            <a:ext cx="7863840" cy="0"/>
          </a:xfrm>
          <a:prstGeom prst="line">
            <a:avLst/>
          </a:prstGeom>
          <a:noFill/>
          <a:ln w="9525">
            <a:solidFill>
              <a:srgbClr val="D8D8D8"/>
            </a:solidFill>
            <a:prstDash val="solid"/>
          </a:ln>
        </p:spPr>
      </p:sp>
      <p:sp>
        <p:nvSpPr>
          <p:cNvPr id="6" name="Text 4"/>
          <p:cNvSpPr/>
          <p:nvPr/>
        </p:nvSpPr>
        <p:spPr>
          <a:xfrm>
            <a:off x="640080" y="1371600"/>
            <a:ext cx="5029200" cy="548640"/>
          </a:xfrm>
          <a:prstGeom prst="rect">
            <a:avLst/>
          </a:prstGeom>
          <a:noFill/>
          <a:ln/>
        </p:spPr>
        <p:txBody>
          <a:bodyPr wrap="square" lIns="0" tIns="0" rIns="0" bIns="0" rtlCol="0" anchor="ctr"/>
          <a:lstStyle/>
          <a:p>
            <a:pPr marL="0" indent="0">
              <a:lnSpc>
                <a:spcPct val="140000"/>
              </a:lnSpc>
              <a:buNone/>
            </a:pPr>
            <a:r>
              <a:rPr lang="en-US" sz="1050" dirty="0">
                <a:solidFill>
                  <a:srgbClr val="4A4A4A"/>
                </a:solidFill>
                <a:latin typeface="Helvetica" pitchFamily="34" charset="0"/>
                <a:ea typeface="Helvetica" pitchFamily="34" charset="-122"/>
                <a:cs typeface="Helvetica" pitchFamily="34" charset="-120"/>
              </a:rPr>
              <a:t>XGBoost is the dominant tabular-data classifier. It represents the best achievable closed-set supervised performance the ceiling the HybridVAE's classification head should approach.</a:t>
            </a:r>
            <a:endParaRPr lang="en-US" sz="1050" dirty="0"/>
          </a:p>
        </p:txBody>
      </p:sp>
      <p:pic>
        <p:nvPicPr>
          <p:cNvPr id="7" name="Image 0" descr="preencoded.png"/>
          <p:cNvPicPr>
            <a:picLocks noChangeAspect="1"/>
          </p:cNvPicPr>
          <p:nvPr/>
        </p:nvPicPr>
        <p:blipFill>
          <a:blip r:embed="rId3"/>
          <a:stretch>
            <a:fillRect/>
          </a:stretch>
        </p:blipFill>
        <p:spPr>
          <a:xfrm>
            <a:off x="640080" y="2171133"/>
            <a:ext cx="5303520" cy="2103120"/>
          </a:xfrm>
          <a:prstGeom prst="rect">
            <a:avLst/>
          </a:prstGeom>
        </p:spPr>
      </p:pic>
      <p:sp>
        <p:nvSpPr>
          <p:cNvPr id="8" name="Text 5"/>
          <p:cNvSpPr/>
          <p:nvPr/>
        </p:nvSpPr>
        <p:spPr>
          <a:xfrm>
            <a:off x="6400800" y="2194560"/>
            <a:ext cx="1097280" cy="320040"/>
          </a:xfrm>
          <a:prstGeom prst="rect">
            <a:avLst/>
          </a:prstGeom>
          <a:noFill/>
          <a:ln/>
        </p:spPr>
        <p:txBody>
          <a:bodyPr wrap="square" lIns="0" tIns="0" rIns="0" bIns="0" rtlCol="0" anchor="ctr"/>
          <a:lstStyle/>
          <a:p>
            <a:pPr marL="0" indent="0" algn="r">
              <a:buNone/>
            </a:pPr>
            <a:r>
              <a:rPr lang="en-US" sz="2000" b="1" dirty="0">
                <a:solidFill>
                  <a:srgbClr val="1A1A1A"/>
                </a:solidFill>
                <a:latin typeface="Helvetica" pitchFamily="34" charset="0"/>
                <a:ea typeface="Helvetica" pitchFamily="34" charset="-122"/>
                <a:cs typeface="Helvetica" pitchFamily="34" charset="-120"/>
              </a:rPr>
              <a:t>0.9162</a:t>
            </a:r>
            <a:endParaRPr lang="en-US" sz="2000" dirty="0"/>
          </a:p>
        </p:txBody>
      </p:sp>
      <p:sp>
        <p:nvSpPr>
          <p:cNvPr id="9" name="Text 6"/>
          <p:cNvSpPr/>
          <p:nvPr/>
        </p:nvSpPr>
        <p:spPr>
          <a:xfrm>
            <a:off x="7589520" y="2240280"/>
            <a:ext cx="1188720" cy="274320"/>
          </a:xfrm>
          <a:prstGeom prst="rect">
            <a:avLst/>
          </a:prstGeom>
          <a:noFill/>
          <a:ln/>
        </p:spPr>
        <p:txBody>
          <a:bodyPr wrap="square" lIns="0" tIns="0" rIns="0" bIns="0" rtlCol="0" anchor="ctr"/>
          <a:lstStyle/>
          <a:p>
            <a:pPr marL="0" indent="0">
              <a:buNone/>
            </a:pPr>
            <a:r>
              <a:rPr lang="en-US" sz="800" dirty="0">
                <a:solidFill>
                  <a:srgbClr val="7A7A7A"/>
                </a:solidFill>
                <a:latin typeface="Helvetica" pitchFamily="34" charset="0"/>
                <a:ea typeface="Helvetica" pitchFamily="34" charset="-122"/>
                <a:cs typeface="Helvetica" pitchFamily="34" charset="-120"/>
              </a:rPr>
              <a:t>Macro F1</a:t>
            </a:r>
            <a:endParaRPr lang="en-US" sz="800" dirty="0"/>
          </a:p>
        </p:txBody>
      </p:sp>
      <p:sp>
        <p:nvSpPr>
          <p:cNvPr id="12" name="Text 9"/>
          <p:cNvSpPr/>
          <p:nvPr/>
        </p:nvSpPr>
        <p:spPr>
          <a:xfrm>
            <a:off x="6400800" y="2548986"/>
            <a:ext cx="1097280" cy="320040"/>
          </a:xfrm>
          <a:prstGeom prst="rect">
            <a:avLst/>
          </a:prstGeom>
          <a:noFill/>
          <a:ln/>
        </p:spPr>
        <p:txBody>
          <a:bodyPr wrap="square" lIns="0" tIns="0" rIns="0" bIns="0" rtlCol="0" anchor="ctr"/>
          <a:lstStyle/>
          <a:p>
            <a:pPr marL="0" indent="0" algn="r">
              <a:buNone/>
            </a:pPr>
            <a:r>
              <a:rPr lang="en-US" sz="2000" b="1" dirty="0">
                <a:solidFill>
                  <a:srgbClr val="1A1A1A"/>
                </a:solidFill>
                <a:latin typeface="Helvetica" pitchFamily="34" charset="0"/>
                <a:ea typeface="Helvetica" pitchFamily="34" charset="-122"/>
                <a:cs typeface="Helvetica" pitchFamily="34" charset="-120"/>
              </a:rPr>
              <a:t>500</a:t>
            </a:r>
            <a:endParaRPr lang="en-US" sz="2000" dirty="0"/>
          </a:p>
        </p:txBody>
      </p:sp>
      <p:sp>
        <p:nvSpPr>
          <p:cNvPr id="13" name="Text 10"/>
          <p:cNvSpPr/>
          <p:nvPr/>
        </p:nvSpPr>
        <p:spPr>
          <a:xfrm>
            <a:off x="7589520" y="2594706"/>
            <a:ext cx="1188720" cy="274320"/>
          </a:xfrm>
          <a:prstGeom prst="rect">
            <a:avLst/>
          </a:prstGeom>
          <a:noFill/>
          <a:ln/>
        </p:spPr>
        <p:txBody>
          <a:bodyPr wrap="square" lIns="0" tIns="0" rIns="0" bIns="0" rtlCol="0" anchor="ctr"/>
          <a:lstStyle/>
          <a:p>
            <a:pPr marL="0" indent="0">
              <a:buNone/>
            </a:pPr>
            <a:r>
              <a:rPr lang="en-US" sz="800" dirty="0">
                <a:solidFill>
                  <a:srgbClr val="7A7A7A"/>
                </a:solidFill>
                <a:latin typeface="Helvetica" pitchFamily="34" charset="0"/>
                <a:ea typeface="Helvetica" pitchFamily="34" charset="-122"/>
                <a:cs typeface="Helvetica" pitchFamily="34" charset="-120"/>
              </a:rPr>
              <a:t>estimators</a:t>
            </a:r>
            <a:endParaRPr lang="en-US" sz="800" dirty="0"/>
          </a:p>
        </p:txBody>
      </p:sp>
      <p:sp>
        <p:nvSpPr>
          <p:cNvPr id="14" name="Text 11"/>
          <p:cNvSpPr/>
          <p:nvPr/>
        </p:nvSpPr>
        <p:spPr>
          <a:xfrm>
            <a:off x="6128747" y="2960466"/>
            <a:ext cx="1369333" cy="320040"/>
          </a:xfrm>
          <a:prstGeom prst="rect">
            <a:avLst/>
          </a:prstGeom>
          <a:noFill/>
          <a:ln/>
        </p:spPr>
        <p:txBody>
          <a:bodyPr wrap="square" lIns="0" tIns="0" rIns="0" bIns="0" rtlCol="0" anchor="ctr"/>
          <a:lstStyle/>
          <a:p>
            <a:pPr marL="0" indent="0" algn="r">
              <a:buNone/>
            </a:pPr>
            <a:r>
              <a:rPr lang="en-US" sz="2000" b="1" dirty="0">
                <a:solidFill>
                  <a:srgbClr val="1A1A1A"/>
                </a:solidFill>
                <a:latin typeface="Helvetica" pitchFamily="34" charset="0"/>
                <a:ea typeface="Helvetica" pitchFamily="34" charset="-122"/>
                <a:cs typeface="Helvetica" pitchFamily="34" charset="-120"/>
              </a:rPr>
              <a:t>18.18 MB</a:t>
            </a:r>
            <a:endParaRPr lang="en-US" sz="2000" dirty="0"/>
          </a:p>
        </p:txBody>
      </p:sp>
      <p:sp>
        <p:nvSpPr>
          <p:cNvPr id="15" name="Text 12"/>
          <p:cNvSpPr/>
          <p:nvPr/>
        </p:nvSpPr>
        <p:spPr>
          <a:xfrm>
            <a:off x="7589520" y="3006186"/>
            <a:ext cx="1188720" cy="274320"/>
          </a:xfrm>
          <a:prstGeom prst="rect">
            <a:avLst/>
          </a:prstGeom>
          <a:noFill/>
          <a:ln/>
        </p:spPr>
        <p:txBody>
          <a:bodyPr wrap="square" lIns="0" tIns="0" rIns="0" bIns="0" rtlCol="0" anchor="ctr"/>
          <a:lstStyle/>
          <a:p>
            <a:pPr marL="0" indent="0">
              <a:buNone/>
            </a:pPr>
            <a:r>
              <a:rPr lang="en-US" sz="800" dirty="0">
                <a:solidFill>
                  <a:srgbClr val="7A7A7A"/>
                </a:solidFill>
                <a:latin typeface="Helvetica" pitchFamily="34" charset="0"/>
                <a:ea typeface="Helvetica" pitchFamily="34" charset="-122"/>
                <a:cs typeface="Helvetica" pitchFamily="34" charset="-120"/>
              </a:rPr>
              <a:t>model size (pickle)</a:t>
            </a:r>
            <a:endParaRPr lang="en-US" sz="800" dirty="0"/>
          </a:p>
        </p:txBody>
      </p:sp>
      <p:sp>
        <p:nvSpPr>
          <p:cNvPr id="16" name="Text 13"/>
          <p:cNvSpPr/>
          <p:nvPr/>
        </p:nvSpPr>
        <p:spPr>
          <a:xfrm>
            <a:off x="640080" y="4480560"/>
            <a:ext cx="7863840" cy="320040"/>
          </a:xfrm>
          <a:prstGeom prst="rect">
            <a:avLst/>
          </a:prstGeom>
          <a:noFill/>
          <a:ln/>
        </p:spPr>
        <p:txBody>
          <a:bodyPr wrap="square" lIns="0" tIns="0" rIns="0" bIns="0" rtlCol="0" anchor="ctr"/>
          <a:lstStyle/>
          <a:p>
            <a:pPr marL="0" indent="0">
              <a:buNone/>
            </a:pPr>
            <a:r>
              <a:rPr lang="en-US" sz="1000" b="1" dirty="0">
                <a:solidFill>
                  <a:srgbClr val="2D2D2D"/>
                </a:solidFill>
                <a:latin typeface="Helvetica" pitchFamily="34" charset="0"/>
                <a:ea typeface="Helvetica" pitchFamily="34" charset="-122"/>
                <a:cs typeface="Helvetica" pitchFamily="34" charset="-120"/>
              </a:rPr>
              <a:t>Verdict: Best Macro F1 (0.9162), but zero anomaly detection completely blind to novel attacks.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2743200" cy="274320"/>
          </a:xfrm>
          <a:prstGeom prst="rect">
            <a:avLst/>
          </a:prstGeom>
          <a:noFill/>
          <a:ln/>
        </p:spPr>
        <p:txBody>
          <a:bodyPr wrap="square" lIns="0" tIns="0" rIns="0" bIns="0" rtlCol="0" anchor="ctr"/>
          <a:lstStyle/>
          <a:p>
            <a:pPr marL="0" indent="0">
              <a:buNone/>
            </a:pPr>
            <a:r>
              <a:rPr lang="en-US" sz="800" kern="0" spc="300" dirty="0">
                <a:solidFill>
                  <a:srgbClr val="7A7A7A"/>
                </a:solidFill>
                <a:latin typeface="Helvetica" pitchFamily="34" charset="0"/>
                <a:ea typeface="Helvetica" pitchFamily="34" charset="-122"/>
                <a:cs typeface="Helvetica" pitchFamily="34" charset="-120"/>
              </a:rPr>
              <a:t>HYBRIDVAE RESULTS</a:t>
            </a:r>
            <a:endParaRPr lang="en-US" sz="800" dirty="0"/>
          </a:p>
        </p:txBody>
      </p:sp>
      <p:sp>
        <p:nvSpPr>
          <p:cNvPr id="3" name="Text 1"/>
          <p:cNvSpPr/>
          <p:nvPr/>
        </p:nvSpPr>
        <p:spPr>
          <a:xfrm>
            <a:off x="8229600" y="4617720"/>
            <a:ext cx="640080" cy="365760"/>
          </a:xfrm>
          <a:prstGeom prst="rect">
            <a:avLst/>
          </a:prstGeom>
          <a:noFill/>
          <a:ln/>
        </p:spPr>
        <p:txBody>
          <a:bodyPr wrap="square" lIns="0" tIns="0" rIns="0" bIns="0" rtlCol="0" anchor="ctr"/>
          <a:lstStyle/>
          <a:p>
            <a:pPr marL="0" indent="0" algn="r">
              <a:buNone/>
            </a:pPr>
            <a:r>
              <a:rPr lang="en-US" sz="900" dirty="0">
                <a:solidFill>
                  <a:srgbClr val="C0C0C0"/>
                </a:solidFill>
                <a:latin typeface="Helvetica" pitchFamily="34" charset="0"/>
                <a:ea typeface="Helvetica" pitchFamily="34" charset="-122"/>
                <a:cs typeface="Helvetica" pitchFamily="34" charset="-120"/>
              </a:rPr>
              <a:t>12</a:t>
            </a:r>
            <a:endParaRPr lang="en-US" sz="900" dirty="0"/>
          </a:p>
        </p:txBody>
      </p:sp>
      <p:sp>
        <p:nvSpPr>
          <p:cNvPr id="4" name="Text 2"/>
          <p:cNvSpPr/>
          <p:nvPr/>
        </p:nvSpPr>
        <p:spPr>
          <a:xfrm>
            <a:off x="640080" y="640080"/>
            <a:ext cx="7315200" cy="548640"/>
          </a:xfrm>
          <a:prstGeom prst="rect">
            <a:avLst/>
          </a:prstGeom>
          <a:noFill/>
          <a:ln/>
        </p:spPr>
        <p:txBody>
          <a:bodyPr wrap="square" lIns="0" tIns="0" rIns="0" bIns="0" rtlCol="0" anchor="ctr"/>
          <a:lstStyle/>
          <a:p>
            <a:pPr marL="0" indent="0">
              <a:buNone/>
            </a:pPr>
            <a:r>
              <a:rPr lang="en-US" sz="2800" b="1" dirty="0">
                <a:solidFill>
                  <a:srgbClr val="1A1A1A"/>
                </a:solidFill>
                <a:latin typeface="Helvetica" pitchFamily="34" charset="0"/>
                <a:ea typeface="Helvetica" pitchFamily="34" charset="-122"/>
                <a:cs typeface="Helvetica" pitchFamily="34" charset="-120"/>
              </a:rPr>
              <a:t>Full </a:t>
            </a:r>
            <a:r>
              <a:rPr lang="en-US" sz="2800" b="1" dirty="0" err="1">
                <a:solidFill>
                  <a:srgbClr val="1A1A1A"/>
                </a:solidFill>
                <a:latin typeface="Helvetica" pitchFamily="34" charset="0"/>
                <a:ea typeface="Helvetica" pitchFamily="34" charset="-122"/>
                <a:cs typeface="Helvetica" pitchFamily="34" charset="-120"/>
              </a:rPr>
              <a:t>HybridVAE</a:t>
            </a:r>
            <a:r>
              <a:rPr lang="en-US" sz="2800" b="1" dirty="0">
                <a:solidFill>
                  <a:srgbClr val="1A1A1A"/>
                </a:solidFill>
                <a:latin typeface="Helvetica" pitchFamily="34" charset="0"/>
                <a:ea typeface="Helvetica" pitchFamily="34" charset="-122"/>
                <a:cs typeface="Helvetica" pitchFamily="34" charset="-120"/>
              </a:rPr>
              <a:t> 9 class results</a:t>
            </a:r>
            <a:endParaRPr lang="en-US" sz="2800" dirty="0"/>
          </a:p>
        </p:txBody>
      </p:sp>
      <p:sp>
        <p:nvSpPr>
          <p:cNvPr id="5" name="Shape 3"/>
          <p:cNvSpPr/>
          <p:nvPr/>
        </p:nvSpPr>
        <p:spPr>
          <a:xfrm>
            <a:off x="640080" y="1188720"/>
            <a:ext cx="7863840" cy="0"/>
          </a:xfrm>
          <a:prstGeom prst="line">
            <a:avLst/>
          </a:prstGeom>
          <a:noFill/>
          <a:ln w="9525">
            <a:solidFill>
              <a:srgbClr val="D8D8D8"/>
            </a:solidFill>
            <a:prstDash val="solid"/>
          </a:ln>
        </p:spPr>
      </p:sp>
      <p:pic>
        <p:nvPicPr>
          <p:cNvPr id="6" name="Image 0" descr="preencoded.png"/>
          <p:cNvPicPr>
            <a:picLocks noChangeAspect="1"/>
          </p:cNvPicPr>
          <p:nvPr/>
        </p:nvPicPr>
        <p:blipFill>
          <a:blip r:embed="rId3"/>
          <a:stretch>
            <a:fillRect/>
          </a:stretch>
        </p:blipFill>
        <p:spPr>
          <a:xfrm>
            <a:off x="457200" y="1228017"/>
            <a:ext cx="5852160" cy="1609344"/>
          </a:xfrm>
          <a:prstGeom prst="rect">
            <a:avLst/>
          </a:prstGeom>
        </p:spPr>
      </p:pic>
      <p:pic>
        <p:nvPicPr>
          <p:cNvPr id="7" name="Image 1" descr="preencoded.png"/>
          <p:cNvPicPr>
            <a:picLocks noChangeAspect="1"/>
          </p:cNvPicPr>
          <p:nvPr/>
        </p:nvPicPr>
        <p:blipFill>
          <a:blip r:embed="rId4"/>
          <a:stretch>
            <a:fillRect/>
          </a:stretch>
        </p:blipFill>
        <p:spPr>
          <a:xfrm>
            <a:off x="419414" y="2896607"/>
            <a:ext cx="5641319" cy="2042547"/>
          </a:xfrm>
          <a:prstGeom prst="rect">
            <a:avLst/>
          </a:prstGeom>
        </p:spPr>
      </p:pic>
      <p:sp>
        <p:nvSpPr>
          <p:cNvPr id="8" name="Text 4"/>
          <p:cNvSpPr/>
          <p:nvPr/>
        </p:nvSpPr>
        <p:spPr>
          <a:xfrm>
            <a:off x="6400800" y="1371600"/>
            <a:ext cx="1097280" cy="274320"/>
          </a:xfrm>
          <a:prstGeom prst="rect">
            <a:avLst/>
          </a:prstGeom>
          <a:noFill/>
          <a:ln/>
        </p:spPr>
        <p:txBody>
          <a:bodyPr wrap="square" lIns="0" tIns="0" rIns="0" bIns="0" rtlCol="0" anchor="ctr"/>
          <a:lstStyle/>
          <a:p>
            <a:pPr marL="0" indent="0" algn="r">
              <a:buNone/>
            </a:pPr>
            <a:r>
              <a:rPr lang="en-US" sz="1800" b="1" dirty="0">
                <a:solidFill>
                  <a:srgbClr val="1A1A1A"/>
                </a:solidFill>
                <a:latin typeface="Helvetica" pitchFamily="34" charset="0"/>
                <a:ea typeface="Helvetica" pitchFamily="34" charset="-122"/>
                <a:cs typeface="Helvetica" pitchFamily="34" charset="-120"/>
              </a:rPr>
              <a:t>0.8702</a:t>
            </a:r>
            <a:endParaRPr lang="en-US" sz="1800" dirty="0"/>
          </a:p>
        </p:txBody>
      </p:sp>
      <p:sp>
        <p:nvSpPr>
          <p:cNvPr id="9" name="Text 5"/>
          <p:cNvSpPr/>
          <p:nvPr/>
        </p:nvSpPr>
        <p:spPr>
          <a:xfrm>
            <a:off x="7589520" y="1399032"/>
            <a:ext cx="1188720" cy="228600"/>
          </a:xfrm>
          <a:prstGeom prst="rect">
            <a:avLst/>
          </a:prstGeom>
          <a:noFill/>
          <a:ln/>
        </p:spPr>
        <p:txBody>
          <a:bodyPr wrap="square" lIns="0" tIns="0" rIns="0" bIns="0" rtlCol="0" anchor="ctr"/>
          <a:lstStyle/>
          <a:p>
            <a:pPr marL="0" indent="0">
              <a:buNone/>
            </a:pPr>
            <a:r>
              <a:rPr lang="en-US" sz="800" dirty="0">
                <a:solidFill>
                  <a:srgbClr val="7A7A7A"/>
                </a:solidFill>
                <a:latin typeface="Helvetica" pitchFamily="34" charset="0"/>
                <a:ea typeface="Helvetica" pitchFamily="34" charset="-122"/>
                <a:cs typeface="Helvetica" pitchFamily="34" charset="-120"/>
              </a:rPr>
              <a:t>Macro F1</a:t>
            </a:r>
            <a:endParaRPr lang="en-US" sz="800" dirty="0"/>
          </a:p>
        </p:txBody>
      </p:sp>
      <p:sp>
        <p:nvSpPr>
          <p:cNvPr id="10" name="Text 6"/>
          <p:cNvSpPr/>
          <p:nvPr/>
        </p:nvSpPr>
        <p:spPr>
          <a:xfrm>
            <a:off x="6400800" y="1737360"/>
            <a:ext cx="1097280" cy="274320"/>
          </a:xfrm>
          <a:prstGeom prst="rect">
            <a:avLst/>
          </a:prstGeom>
          <a:noFill/>
          <a:ln/>
        </p:spPr>
        <p:txBody>
          <a:bodyPr wrap="square" lIns="0" tIns="0" rIns="0" bIns="0" rtlCol="0" anchor="ctr"/>
          <a:lstStyle/>
          <a:p>
            <a:pPr marL="0" indent="0" algn="r">
              <a:buNone/>
            </a:pPr>
            <a:r>
              <a:rPr lang="en-US" sz="1800" b="1" dirty="0">
                <a:solidFill>
                  <a:srgbClr val="1A1A1A"/>
                </a:solidFill>
                <a:latin typeface="Helvetica" pitchFamily="34" charset="0"/>
                <a:ea typeface="Helvetica" pitchFamily="34" charset="-122"/>
                <a:cs typeface="Helvetica" pitchFamily="34" charset="-120"/>
              </a:rPr>
              <a:t>0.8740</a:t>
            </a:r>
            <a:endParaRPr lang="en-US" sz="1800" dirty="0"/>
          </a:p>
        </p:txBody>
      </p:sp>
      <p:sp>
        <p:nvSpPr>
          <p:cNvPr id="11" name="Text 7"/>
          <p:cNvSpPr/>
          <p:nvPr/>
        </p:nvSpPr>
        <p:spPr>
          <a:xfrm>
            <a:off x="7589520" y="1764792"/>
            <a:ext cx="1188720" cy="228600"/>
          </a:xfrm>
          <a:prstGeom prst="rect">
            <a:avLst/>
          </a:prstGeom>
          <a:noFill/>
          <a:ln/>
        </p:spPr>
        <p:txBody>
          <a:bodyPr wrap="square" lIns="0" tIns="0" rIns="0" bIns="0" rtlCol="0" anchor="ctr"/>
          <a:lstStyle/>
          <a:p>
            <a:pPr marL="0" indent="0">
              <a:buNone/>
            </a:pPr>
            <a:r>
              <a:rPr lang="en-US" sz="800" dirty="0">
                <a:solidFill>
                  <a:srgbClr val="7A7A7A"/>
                </a:solidFill>
                <a:latin typeface="Helvetica" pitchFamily="34" charset="0"/>
                <a:ea typeface="Helvetica" pitchFamily="34" charset="-122"/>
                <a:cs typeface="Helvetica" pitchFamily="34" charset="-120"/>
              </a:rPr>
              <a:t>Anomaly AUROC</a:t>
            </a:r>
            <a:endParaRPr lang="en-US" sz="800" dirty="0"/>
          </a:p>
        </p:txBody>
      </p:sp>
      <p:sp>
        <p:nvSpPr>
          <p:cNvPr id="12" name="Text 8"/>
          <p:cNvSpPr/>
          <p:nvPr/>
        </p:nvSpPr>
        <p:spPr>
          <a:xfrm>
            <a:off x="6400800" y="2103120"/>
            <a:ext cx="1097280" cy="274320"/>
          </a:xfrm>
          <a:prstGeom prst="rect">
            <a:avLst/>
          </a:prstGeom>
          <a:noFill/>
          <a:ln/>
        </p:spPr>
        <p:txBody>
          <a:bodyPr wrap="square" lIns="0" tIns="0" rIns="0" bIns="0" rtlCol="0" anchor="ctr"/>
          <a:lstStyle/>
          <a:p>
            <a:pPr marL="0" indent="0" algn="r">
              <a:buNone/>
            </a:pPr>
            <a:r>
              <a:rPr lang="en-US" sz="1800" b="1" dirty="0">
                <a:solidFill>
                  <a:srgbClr val="1A1A1A"/>
                </a:solidFill>
                <a:latin typeface="Helvetica" pitchFamily="34" charset="0"/>
                <a:ea typeface="Helvetica" pitchFamily="34" charset="-122"/>
                <a:cs typeface="Helvetica" pitchFamily="34" charset="-120"/>
              </a:rPr>
              <a:t>0.9899</a:t>
            </a:r>
            <a:endParaRPr lang="en-US" sz="1800" dirty="0"/>
          </a:p>
        </p:txBody>
      </p:sp>
      <p:sp>
        <p:nvSpPr>
          <p:cNvPr id="13" name="Text 9"/>
          <p:cNvSpPr/>
          <p:nvPr/>
        </p:nvSpPr>
        <p:spPr>
          <a:xfrm>
            <a:off x="7589520" y="2130552"/>
            <a:ext cx="1188720" cy="228600"/>
          </a:xfrm>
          <a:prstGeom prst="rect">
            <a:avLst/>
          </a:prstGeom>
          <a:noFill/>
          <a:ln/>
        </p:spPr>
        <p:txBody>
          <a:bodyPr wrap="square" lIns="0" tIns="0" rIns="0" bIns="0" rtlCol="0" anchor="ctr"/>
          <a:lstStyle/>
          <a:p>
            <a:pPr marL="0" indent="0">
              <a:buNone/>
            </a:pPr>
            <a:r>
              <a:rPr lang="en-US" sz="800" dirty="0">
                <a:solidFill>
                  <a:srgbClr val="7A7A7A"/>
                </a:solidFill>
                <a:latin typeface="Helvetica" pitchFamily="34" charset="0"/>
                <a:ea typeface="Helvetica" pitchFamily="34" charset="-122"/>
                <a:cs typeface="Helvetica" pitchFamily="34" charset="-120"/>
              </a:rPr>
              <a:t>Weighted F1</a:t>
            </a:r>
            <a:endParaRPr lang="en-US" sz="800" dirty="0"/>
          </a:p>
        </p:txBody>
      </p:sp>
      <p:sp>
        <p:nvSpPr>
          <p:cNvPr id="14" name="Text 10"/>
          <p:cNvSpPr/>
          <p:nvPr/>
        </p:nvSpPr>
        <p:spPr>
          <a:xfrm>
            <a:off x="6400800" y="2468880"/>
            <a:ext cx="1097280" cy="274320"/>
          </a:xfrm>
          <a:prstGeom prst="rect">
            <a:avLst/>
          </a:prstGeom>
          <a:noFill/>
          <a:ln/>
        </p:spPr>
        <p:txBody>
          <a:bodyPr wrap="square" lIns="0" tIns="0" rIns="0" bIns="0" rtlCol="0" anchor="ctr"/>
          <a:lstStyle/>
          <a:p>
            <a:pPr marL="0" indent="0" algn="r">
              <a:buNone/>
            </a:pPr>
            <a:r>
              <a:rPr lang="en-US" sz="1800" b="1" dirty="0">
                <a:solidFill>
                  <a:srgbClr val="1A1A1A"/>
                </a:solidFill>
                <a:latin typeface="Helvetica" pitchFamily="34" charset="0"/>
                <a:ea typeface="Helvetica" pitchFamily="34" charset="-122"/>
                <a:cs typeface="Helvetica" pitchFamily="34" charset="-120"/>
              </a:rPr>
              <a:t>749,270</a:t>
            </a:r>
            <a:endParaRPr lang="en-US" sz="1800" dirty="0"/>
          </a:p>
        </p:txBody>
      </p:sp>
      <p:sp>
        <p:nvSpPr>
          <p:cNvPr id="15" name="Text 11"/>
          <p:cNvSpPr/>
          <p:nvPr/>
        </p:nvSpPr>
        <p:spPr>
          <a:xfrm>
            <a:off x="7589520" y="2496312"/>
            <a:ext cx="1188720" cy="228600"/>
          </a:xfrm>
          <a:prstGeom prst="rect">
            <a:avLst/>
          </a:prstGeom>
          <a:noFill/>
          <a:ln/>
        </p:spPr>
        <p:txBody>
          <a:bodyPr wrap="square" lIns="0" tIns="0" rIns="0" bIns="0" rtlCol="0" anchor="ctr"/>
          <a:lstStyle/>
          <a:p>
            <a:pPr marL="0" indent="0">
              <a:buNone/>
            </a:pPr>
            <a:r>
              <a:rPr lang="en-US" sz="800" dirty="0">
                <a:solidFill>
                  <a:srgbClr val="7A7A7A"/>
                </a:solidFill>
                <a:latin typeface="Helvetica" pitchFamily="34" charset="0"/>
                <a:ea typeface="Helvetica" pitchFamily="34" charset="-122"/>
                <a:cs typeface="Helvetica" pitchFamily="34" charset="-120"/>
              </a:rPr>
              <a:t>parameters</a:t>
            </a:r>
            <a:endParaRPr lang="en-US" sz="800" dirty="0"/>
          </a:p>
        </p:txBody>
      </p:sp>
      <p:sp>
        <p:nvSpPr>
          <p:cNvPr id="16" name="Text 12"/>
          <p:cNvSpPr/>
          <p:nvPr/>
        </p:nvSpPr>
        <p:spPr>
          <a:xfrm>
            <a:off x="6400800" y="2834640"/>
            <a:ext cx="1097280" cy="274320"/>
          </a:xfrm>
          <a:prstGeom prst="rect">
            <a:avLst/>
          </a:prstGeom>
          <a:noFill/>
          <a:ln/>
        </p:spPr>
        <p:txBody>
          <a:bodyPr wrap="square" lIns="0" tIns="0" rIns="0" bIns="0" rtlCol="0" anchor="ctr"/>
          <a:lstStyle/>
          <a:p>
            <a:pPr marL="0" indent="0" algn="r">
              <a:buNone/>
            </a:pPr>
            <a:r>
              <a:rPr lang="en-US" sz="1800" b="1" dirty="0">
                <a:solidFill>
                  <a:srgbClr val="1A1A1A"/>
                </a:solidFill>
                <a:latin typeface="Helvetica" pitchFamily="34" charset="0"/>
                <a:ea typeface="Helvetica" pitchFamily="34" charset="-122"/>
                <a:cs typeface="Helvetica" pitchFamily="34" charset="-120"/>
              </a:rPr>
              <a:t>2.92 MB</a:t>
            </a:r>
            <a:endParaRPr lang="en-US" sz="1800" dirty="0"/>
          </a:p>
        </p:txBody>
      </p:sp>
      <p:sp>
        <p:nvSpPr>
          <p:cNvPr id="17" name="Text 13"/>
          <p:cNvSpPr/>
          <p:nvPr/>
        </p:nvSpPr>
        <p:spPr>
          <a:xfrm>
            <a:off x="7589520" y="2862072"/>
            <a:ext cx="1188720" cy="228600"/>
          </a:xfrm>
          <a:prstGeom prst="rect">
            <a:avLst/>
          </a:prstGeom>
          <a:noFill/>
          <a:ln/>
        </p:spPr>
        <p:txBody>
          <a:bodyPr wrap="square" lIns="0" tIns="0" rIns="0" bIns="0" rtlCol="0" anchor="ctr"/>
          <a:lstStyle/>
          <a:p>
            <a:pPr marL="0" indent="0">
              <a:buNone/>
            </a:pPr>
            <a:r>
              <a:rPr lang="en-US" sz="800" dirty="0">
                <a:solidFill>
                  <a:srgbClr val="7A7A7A"/>
                </a:solidFill>
                <a:latin typeface="Helvetica" pitchFamily="34" charset="0"/>
                <a:ea typeface="Helvetica" pitchFamily="34" charset="-122"/>
                <a:cs typeface="Helvetica" pitchFamily="34" charset="-120"/>
              </a:rPr>
              <a:t>model size</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2743200" cy="274320"/>
          </a:xfrm>
          <a:prstGeom prst="rect">
            <a:avLst/>
          </a:prstGeom>
          <a:noFill/>
          <a:ln/>
        </p:spPr>
        <p:txBody>
          <a:bodyPr wrap="square" lIns="0" tIns="0" rIns="0" bIns="0" rtlCol="0" anchor="ctr"/>
          <a:lstStyle/>
          <a:p>
            <a:pPr marL="0" indent="0">
              <a:buNone/>
            </a:pPr>
            <a:r>
              <a:rPr lang="en-US" sz="800" kern="0" spc="300" dirty="0">
                <a:solidFill>
                  <a:srgbClr val="7A7A7A"/>
                </a:solidFill>
                <a:latin typeface="Helvetica" pitchFamily="34" charset="0"/>
                <a:ea typeface="Helvetica" pitchFamily="34" charset="-122"/>
                <a:cs typeface="Helvetica" pitchFamily="34" charset="-120"/>
              </a:rPr>
              <a:t>COMPARISON</a:t>
            </a:r>
            <a:endParaRPr lang="en-US" sz="800" dirty="0"/>
          </a:p>
        </p:txBody>
      </p:sp>
      <p:sp>
        <p:nvSpPr>
          <p:cNvPr id="3" name="Text 1"/>
          <p:cNvSpPr/>
          <p:nvPr/>
        </p:nvSpPr>
        <p:spPr>
          <a:xfrm>
            <a:off x="8229600" y="4617720"/>
            <a:ext cx="640080" cy="365760"/>
          </a:xfrm>
          <a:prstGeom prst="rect">
            <a:avLst/>
          </a:prstGeom>
          <a:noFill/>
          <a:ln/>
        </p:spPr>
        <p:txBody>
          <a:bodyPr wrap="square" lIns="0" tIns="0" rIns="0" bIns="0" rtlCol="0" anchor="ctr"/>
          <a:lstStyle/>
          <a:p>
            <a:pPr marL="0" indent="0" algn="r">
              <a:buNone/>
            </a:pPr>
            <a:r>
              <a:rPr lang="en-US" sz="900" dirty="0">
                <a:solidFill>
                  <a:srgbClr val="C0C0C0"/>
                </a:solidFill>
                <a:latin typeface="Helvetica" pitchFamily="34" charset="0"/>
                <a:ea typeface="Helvetica" pitchFamily="34" charset="-122"/>
                <a:cs typeface="Helvetica" pitchFamily="34" charset="-120"/>
              </a:rPr>
              <a:t>13</a:t>
            </a:r>
            <a:endParaRPr lang="en-US" sz="900" dirty="0"/>
          </a:p>
        </p:txBody>
      </p:sp>
      <p:sp>
        <p:nvSpPr>
          <p:cNvPr id="4" name="Text 2"/>
          <p:cNvSpPr/>
          <p:nvPr/>
        </p:nvSpPr>
        <p:spPr>
          <a:xfrm>
            <a:off x="640080" y="640080"/>
            <a:ext cx="7315200" cy="548640"/>
          </a:xfrm>
          <a:prstGeom prst="rect">
            <a:avLst/>
          </a:prstGeom>
          <a:noFill/>
          <a:ln/>
        </p:spPr>
        <p:txBody>
          <a:bodyPr wrap="square" lIns="0" tIns="0" rIns="0" bIns="0" rtlCol="0" anchor="ctr"/>
          <a:lstStyle/>
          <a:p>
            <a:pPr marL="0" indent="0">
              <a:buNone/>
            </a:pPr>
            <a:r>
              <a:rPr lang="en-US" sz="3200" b="1" dirty="0">
                <a:solidFill>
                  <a:srgbClr val="1A1A1A"/>
                </a:solidFill>
                <a:latin typeface="Helvetica" pitchFamily="34" charset="0"/>
                <a:ea typeface="Helvetica" pitchFamily="34" charset="-122"/>
                <a:cs typeface="Helvetica" pitchFamily="34" charset="-120"/>
              </a:rPr>
              <a:t>Three baselines, one verdict</a:t>
            </a:r>
            <a:endParaRPr lang="en-US" sz="3200" dirty="0"/>
          </a:p>
        </p:txBody>
      </p:sp>
      <p:sp>
        <p:nvSpPr>
          <p:cNvPr id="5" name="Shape 3"/>
          <p:cNvSpPr/>
          <p:nvPr/>
        </p:nvSpPr>
        <p:spPr>
          <a:xfrm>
            <a:off x="640080" y="1234440"/>
            <a:ext cx="7863840" cy="0"/>
          </a:xfrm>
          <a:prstGeom prst="line">
            <a:avLst/>
          </a:prstGeom>
          <a:noFill/>
          <a:ln w="9525">
            <a:solidFill>
              <a:srgbClr val="D8D8D8"/>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1508760"/>
          <a:ext cx="7315200" cy="1280160"/>
        </p:xfrm>
        <a:graphic>
          <a:graphicData uri="http://schemas.openxmlformats.org/drawingml/2006/table">
            <a:tbl>
              <a:tblPr/>
              <a:tblGrid>
                <a:gridCol w="18288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320040">
                <a:tc>
                  <a:txBody>
                    <a:bodyPr/>
                    <a:lstStyle/>
                    <a:p>
                      <a:pPr marL="0" indent="0">
                        <a:buNone/>
                      </a:pPr>
                      <a:r>
                        <a:rPr lang="en-US" sz="1100" b="1" dirty="0">
                          <a:solidFill>
                            <a:srgbClr val="2D2D2D"/>
                          </a:solidFill>
                          <a:latin typeface="Helvetica" pitchFamily="34" charset="0"/>
                          <a:ea typeface="Helvetica" pitchFamily="34" charset="-122"/>
                          <a:cs typeface="Helvetica" pitchFamily="34" charset="-120"/>
                        </a:rPr>
                        <a:t>Model</a:t>
                      </a:r>
                      <a:endParaRPr lang="en-US" sz="11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5F5F5"/>
                    </a:solidFill>
                  </a:tcPr>
                </a:tc>
                <a:tc>
                  <a:txBody>
                    <a:bodyPr/>
                    <a:lstStyle/>
                    <a:p>
                      <a:pPr marL="0" indent="0">
                        <a:buNone/>
                      </a:pPr>
                      <a:r>
                        <a:rPr lang="en-US" sz="1100" b="1" dirty="0">
                          <a:solidFill>
                            <a:srgbClr val="2D2D2D"/>
                          </a:solidFill>
                          <a:latin typeface="Helvetica" pitchFamily="34" charset="0"/>
                          <a:ea typeface="Helvetica" pitchFamily="34" charset="-122"/>
                          <a:cs typeface="Helvetica" pitchFamily="34" charset="-120"/>
                        </a:rPr>
                        <a:t>Params</a:t>
                      </a:r>
                      <a:endParaRPr lang="en-US" sz="11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5F5F5"/>
                    </a:solidFill>
                  </a:tcPr>
                </a:tc>
                <a:tc>
                  <a:txBody>
                    <a:bodyPr/>
                    <a:lstStyle/>
                    <a:p>
                      <a:pPr marL="0" indent="0">
                        <a:buNone/>
                      </a:pPr>
                      <a:r>
                        <a:rPr lang="en-US" sz="1100" b="1" dirty="0">
                          <a:solidFill>
                            <a:srgbClr val="2D2D2D"/>
                          </a:solidFill>
                          <a:latin typeface="Helvetica" pitchFamily="34" charset="0"/>
                          <a:ea typeface="Helvetica" pitchFamily="34" charset="-122"/>
                          <a:cs typeface="Helvetica" pitchFamily="34" charset="-120"/>
                        </a:rPr>
                        <a:t>Macro F1</a:t>
                      </a:r>
                      <a:endParaRPr lang="en-US" sz="11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5F5F5"/>
                    </a:solidFill>
                  </a:tcPr>
                </a:tc>
                <a:tc>
                  <a:txBody>
                    <a:bodyPr/>
                    <a:lstStyle/>
                    <a:p>
                      <a:pPr marL="0" indent="0">
                        <a:buNone/>
                      </a:pPr>
                      <a:r>
                        <a:rPr lang="en-US" sz="1100" b="1" dirty="0">
                          <a:solidFill>
                            <a:srgbClr val="2D2D2D"/>
                          </a:solidFill>
                          <a:latin typeface="Helvetica" pitchFamily="34" charset="0"/>
                          <a:ea typeface="Helvetica" pitchFamily="34" charset="-122"/>
                          <a:cs typeface="Helvetica" pitchFamily="34" charset="-120"/>
                        </a:rPr>
                        <a:t>AUROC</a:t>
                      </a:r>
                      <a:endParaRPr lang="en-US" sz="11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5F5F5"/>
                    </a:solidFill>
                  </a:tcPr>
                </a:tc>
                <a:tc>
                  <a:txBody>
                    <a:bodyPr/>
                    <a:lstStyle/>
                    <a:p>
                      <a:pPr marL="0" indent="0">
                        <a:buNone/>
                      </a:pPr>
                      <a:r>
                        <a:rPr lang="en-US" sz="1100" b="1" dirty="0">
                          <a:solidFill>
                            <a:srgbClr val="2D2D2D"/>
                          </a:solidFill>
                          <a:latin typeface="Helvetica" pitchFamily="34" charset="0"/>
                          <a:ea typeface="Helvetica" pitchFamily="34" charset="-122"/>
                          <a:cs typeface="Helvetica" pitchFamily="34" charset="-120"/>
                        </a:rPr>
                        <a:t>Size (MB)</a:t>
                      </a:r>
                      <a:endParaRPr lang="en-US" sz="11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5F5F5"/>
                    </a:solidFill>
                  </a:tcPr>
                </a:tc>
                <a:extLst>
                  <a:ext uri="{0D108BD9-81ED-4DB2-BD59-A6C34878D82A}">
                    <a16:rowId xmlns:a16="http://schemas.microsoft.com/office/drawing/2014/main" val="10000"/>
                  </a:ext>
                </a:extLst>
              </a:tr>
              <a:tr h="320040">
                <a:tc>
                  <a:txBody>
                    <a:bodyPr/>
                    <a:lstStyle/>
                    <a:p>
                      <a:pPr marL="0" indent="0">
                        <a:buNone/>
                      </a:pPr>
                      <a:r>
                        <a:rPr lang="en-US" sz="1100" dirty="0">
                          <a:solidFill>
                            <a:srgbClr val="2D2D2D"/>
                          </a:solidFill>
                          <a:latin typeface="Helvetica" pitchFamily="34" charset="0"/>
                          <a:ea typeface="Helvetica" pitchFamily="34" charset="-122"/>
                          <a:cs typeface="Helvetica" pitchFamily="34" charset="-120"/>
                        </a:rPr>
                        <a:t>Vanilla AE</a:t>
                      </a:r>
                      <a:endParaRPr lang="en-US" sz="11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1100" dirty="0">
                          <a:solidFill>
                            <a:srgbClr val="2D2D2D"/>
                          </a:solidFill>
                          <a:latin typeface="Helvetica" pitchFamily="34" charset="0"/>
                          <a:ea typeface="Helvetica" pitchFamily="34" charset="-122"/>
                          <a:cs typeface="Helvetica" pitchFamily="34" charset="-120"/>
                        </a:rPr>
                        <a:t>495,501</a:t>
                      </a:r>
                      <a:endParaRPr lang="en-US" sz="11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1100" dirty="0">
                          <a:solidFill>
                            <a:srgbClr val="2D2D2D"/>
                          </a:solidFill>
                          <a:latin typeface="Helvetica" pitchFamily="34" charset="0"/>
                          <a:ea typeface="Helvetica" pitchFamily="34" charset="-122"/>
                          <a:cs typeface="Helvetica" pitchFamily="34" charset="-120"/>
                        </a:rPr>
                        <a:t>—</a:t>
                      </a:r>
                      <a:endParaRPr lang="en-US" sz="11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1100" dirty="0">
                          <a:solidFill>
                            <a:srgbClr val="2D2D2D"/>
                          </a:solidFill>
                          <a:latin typeface="Helvetica" pitchFamily="34" charset="0"/>
                          <a:ea typeface="Helvetica" pitchFamily="34" charset="-122"/>
                          <a:cs typeface="Helvetica" pitchFamily="34" charset="-120"/>
                        </a:rPr>
                        <a:t>0.7587</a:t>
                      </a:r>
                      <a:endParaRPr lang="en-US" sz="11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1100" dirty="0">
                          <a:solidFill>
                            <a:srgbClr val="2D2D2D"/>
                          </a:solidFill>
                          <a:latin typeface="Helvetica" pitchFamily="34" charset="0"/>
                          <a:ea typeface="Helvetica" pitchFamily="34" charset="-122"/>
                          <a:cs typeface="Helvetica" pitchFamily="34" charset="-120"/>
                        </a:rPr>
                        <a:t>1.93</a:t>
                      </a:r>
                      <a:endParaRPr lang="en-US" sz="11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1"/>
                  </a:ext>
                </a:extLst>
              </a:tr>
              <a:tr h="320040">
                <a:tc>
                  <a:txBody>
                    <a:bodyPr/>
                    <a:lstStyle/>
                    <a:p>
                      <a:pPr marL="0" indent="0">
                        <a:buNone/>
                      </a:pPr>
                      <a:r>
                        <a:rPr lang="en-US" sz="1100" dirty="0">
                          <a:solidFill>
                            <a:srgbClr val="2D2D2D"/>
                          </a:solidFill>
                          <a:latin typeface="Helvetica" pitchFamily="34" charset="0"/>
                          <a:ea typeface="Helvetica" pitchFamily="34" charset="-122"/>
                          <a:cs typeface="Helvetica" pitchFamily="34" charset="-120"/>
                        </a:rPr>
                        <a:t>HybridVAE</a:t>
                      </a:r>
                      <a:endParaRPr lang="en-US" sz="11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1100" dirty="0">
                          <a:solidFill>
                            <a:srgbClr val="2D2D2D"/>
                          </a:solidFill>
                          <a:latin typeface="Helvetica" pitchFamily="34" charset="0"/>
                          <a:ea typeface="Helvetica" pitchFamily="34" charset="-122"/>
                          <a:cs typeface="Helvetica" pitchFamily="34" charset="-120"/>
                        </a:rPr>
                        <a:t>749,270</a:t>
                      </a:r>
                      <a:endParaRPr lang="en-US" sz="11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1100" dirty="0">
                          <a:solidFill>
                            <a:srgbClr val="2D2D2D"/>
                          </a:solidFill>
                          <a:latin typeface="Helvetica" pitchFamily="34" charset="0"/>
                          <a:ea typeface="Helvetica" pitchFamily="34" charset="-122"/>
                          <a:cs typeface="Helvetica" pitchFamily="34" charset="-120"/>
                        </a:rPr>
                        <a:t>0.8702</a:t>
                      </a:r>
                      <a:endParaRPr lang="en-US" sz="11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1100" dirty="0">
                          <a:solidFill>
                            <a:srgbClr val="2D2D2D"/>
                          </a:solidFill>
                          <a:latin typeface="Helvetica" pitchFamily="34" charset="0"/>
                          <a:ea typeface="Helvetica" pitchFamily="34" charset="-122"/>
                          <a:cs typeface="Helvetica" pitchFamily="34" charset="-120"/>
                        </a:rPr>
                        <a:t>0.8740</a:t>
                      </a:r>
                      <a:endParaRPr lang="en-US" sz="11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1100" dirty="0">
                          <a:solidFill>
                            <a:srgbClr val="2D2D2D"/>
                          </a:solidFill>
                          <a:latin typeface="Helvetica" pitchFamily="34" charset="0"/>
                          <a:ea typeface="Helvetica" pitchFamily="34" charset="-122"/>
                          <a:cs typeface="Helvetica" pitchFamily="34" charset="-120"/>
                        </a:rPr>
                        <a:t>2.92</a:t>
                      </a:r>
                      <a:endParaRPr lang="en-US" sz="11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2"/>
                  </a:ext>
                </a:extLst>
              </a:tr>
              <a:tr h="320040">
                <a:tc>
                  <a:txBody>
                    <a:bodyPr/>
                    <a:lstStyle/>
                    <a:p>
                      <a:pPr marL="0" indent="0">
                        <a:buNone/>
                      </a:pPr>
                      <a:r>
                        <a:rPr lang="en-US" sz="1100" dirty="0">
                          <a:solidFill>
                            <a:srgbClr val="2D2D2D"/>
                          </a:solidFill>
                          <a:latin typeface="Helvetica" pitchFamily="34" charset="0"/>
                          <a:ea typeface="Helvetica" pitchFamily="34" charset="-122"/>
                          <a:cs typeface="Helvetica" pitchFamily="34" charset="-120"/>
                        </a:rPr>
                        <a:t>XGBoost</a:t>
                      </a:r>
                      <a:endParaRPr lang="en-US" sz="11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1100" dirty="0">
                          <a:solidFill>
                            <a:srgbClr val="2D2D2D"/>
                          </a:solidFill>
                          <a:latin typeface="Helvetica" pitchFamily="34" charset="0"/>
                          <a:ea typeface="Helvetica" pitchFamily="34" charset="-122"/>
                          <a:cs typeface="Helvetica" pitchFamily="34" charset="-120"/>
                        </a:rPr>
                        <a:t>N/A (trees)</a:t>
                      </a:r>
                      <a:endParaRPr lang="en-US" sz="11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1100" dirty="0">
                          <a:solidFill>
                            <a:srgbClr val="2D2D2D"/>
                          </a:solidFill>
                          <a:latin typeface="Helvetica" pitchFamily="34" charset="0"/>
                          <a:ea typeface="Helvetica" pitchFamily="34" charset="-122"/>
                          <a:cs typeface="Helvetica" pitchFamily="34" charset="-120"/>
                        </a:rPr>
                        <a:t>0.9162</a:t>
                      </a:r>
                      <a:endParaRPr lang="en-US" sz="11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1100" dirty="0">
                          <a:solidFill>
                            <a:srgbClr val="2D2D2D"/>
                          </a:solidFill>
                          <a:latin typeface="Helvetica" pitchFamily="34" charset="0"/>
                          <a:ea typeface="Helvetica" pitchFamily="34" charset="-122"/>
                          <a:cs typeface="Helvetica" pitchFamily="34" charset="-120"/>
                        </a:rPr>
                        <a:t>N/A</a:t>
                      </a:r>
                      <a:endParaRPr lang="en-US" sz="11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1100" dirty="0">
                          <a:solidFill>
                            <a:srgbClr val="2D2D2D"/>
                          </a:solidFill>
                          <a:latin typeface="Helvetica" pitchFamily="34" charset="0"/>
                          <a:ea typeface="Helvetica" pitchFamily="34" charset="-122"/>
                          <a:cs typeface="Helvetica" pitchFamily="34" charset="-120"/>
                        </a:rPr>
                        <a:t>18.18</a:t>
                      </a:r>
                      <a:endParaRPr lang="en-US" sz="11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Shape 4"/>
          <p:cNvSpPr/>
          <p:nvPr/>
        </p:nvSpPr>
        <p:spPr>
          <a:xfrm>
            <a:off x="640080" y="2926080"/>
            <a:ext cx="7863840" cy="594360"/>
          </a:xfrm>
          <a:prstGeom prst="rect">
            <a:avLst/>
          </a:prstGeom>
          <a:solidFill>
            <a:srgbClr val="F5F5F5"/>
          </a:solidFill>
          <a:ln/>
        </p:spPr>
      </p:sp>
      <p:sp>
        <p:nvSpPr>
          <p:cNvPr id="8" name="Text 5"/>
          <p:cNvSpPr/>
          <p:nvPr/>
        </p:nvSpPr>
        <p:spPr>
          <a:xfrm>
            <a:off x="822960" y="2926080"/>
            <a:ext cx="1645920" cy="594360"/>
          </a:xfrm>
          <a:prstGeom prst="rect">
            <a:avLst/>
          </a:prstGeom>
          <a:noFill/>
          <a:ln/>
        </p:spPr>
        <p:txBody>
          <a:bodyPr wrap="square" lIns="0" tIns="0" rIns="0" bIns="0" rtlCol="0" anchor="ctr"/>
          <a:lstStyle/>
          <a:p>
            <a:pPr marL="0" indent="0">
              <a:buNone/>
            </a:pPr>
            <a:r>
              <a:rPr lang="en-US" sz="1100" b="1" dirty="0">
                <a:solidFill>
                  <a:srgbClr val="1A1A1A"/>
                </a:solidFill>
                <a:latin typeface="Helvetica" pitchFamily="34" charset="0"/>
                <a:ea typeface="Helvetica" pitchFamily="34" charset="-122"/>
                <a:cs typeface="Helvetica" pitchFamily="34" charset="-120"/>
              </a:rPr>
              <a:t>Vanilla AE</a:t>
            </a:r>
            <a:endParaRPr lang="en-US" sz="1100" dirty="0"/>
          </a:p>
        </p:txBody>
      </p:sp>
      <p:sp>
        <p:nvSpPr>
          <p:cNvPr id="9" name="Text 6"/>
          <p:cNvSpPr/>
          <p:nvPr/>
        </p:nvSpPr>
        <p:spPr>
          <a:xfrm>
            <a:off x="2560320" y="2971800"/>
            <a:ext cx="2743200" cy="256032"/>
          </a:xfrm>
          <a:prstGeom prst="rect">
            <a:avLst/>
          </a:prstGeom>
          <a:noFill/>
          <a:ln/>
        </p:spPr>
        <p:txBody>
          <a:bodyPr wrap="square" lIns="0" tIns="0" rIns="0" bIns="0" rtlCol="0" anchor="ctr"/>
          <a:lstStyle/>
          <a:p>
            <a:pPr marL="0" indent="0">
              <a:buNone/>
            </a:pPr>
            <a:r>
              <a:rPr lang="en-US" sz="900" dirty="0">
                <a:solidFill>
                  <a:srgbClr val="4A4A4A"/>
                </a:solidFill>
                <a:latin typeface="Helvetica" pitchFamily="34" charset="0"/>
                <a:ea typeface="Helvetica" pitchFamily="34" charset="-122"/>
                <a:cs typeface="Helvetica" pitchFamily="34" charset="-120"/>
              </a:rPr>
              <a:t>+ Simplest model; pure anomaly scoring</a:t>
            </a:r>
            <a:endParaRPr lang="en-US" sz="900" dirty="0"/>
          </a:p>
        </p:txBody>
      </p:sp>
      <p:sp>
        <p:nvSpPr>
          <p:cNvPr id="10" name="Text 7"/>
          <p:cNvSpPr/>
          <p:nvPr/>
        </p:nvSpPr>
        <p:spPr>
          <a:xfrm>
            <a:off x="2560320" y="3227832"/>
            <a:ext cx="5303520" cy="256032"/>
          </a:xfrm>
          <a:prstGeom prst="rect">
            <a:avLst/>
          </a:prstGeom>
          <a:noFill/>
          <a:ln/>
        </p:spPr>
        <p:txBody>
          <a:bodyPr wrap="square" lIns="0" tIns="0" rIns="0" bIns="0" rtlCol="0" anchor="ctr"/>
          <a:lstStyle/>
          <a:p>
            <a:pPr marL="0" indent="0">
              <a:buNone/>
            </a:pPr>
            <a:r>
              <a:rPr lang="en-US" sz="900" dirty="0">
                <a:solidFill>
                  <a:srgbClr val="7A7A7A"/>
                </a:solidFill>
                <a:latin typeface="Helvetica" pitchFamily="34" charset="0"/>
                <a:ea typeface="Helvetica" pitchFamily="34" charset="-122"/>
                <a:cs typeface="Helvetica" pitchFamily="34" charset="-120"/>
              </a:rPr>
              <a:t>− No classification; lowest AUROC (0.76)</a:t>
            </a:r>
            <a:endParaRPr lang="en-US" sz="900" dirty="0"/>
          </a:p>
        </p:txBody>
      </p:sp>
      <p:sp>
        <p:nvSpPr>
          <p:cNvPr id="11" name="Shape 8"/>
          <p:cNvSpPr/>
          <p:nvPr/>
        </p:nvSpPr>
        <p:spPr>
          <a:xfrm>
            <a:off x="640080" y="3639312"/>
            <a:ext cx="7863840" cy="594360"/>
          </a:xfrm>
          <a:prstGeom prst="rect">
            <a:avLst/>
          </a:prstGeom>
          <a:solidFill>
            <a:srgbClr val="F5F5F5"/>
          </a:solidFill>
          <a:ln/>
        </p:spPr>
      </p:sp>
      <p:sp>
        <p:nvSpPr>
          <p:cNvPr id="12" name="Text 9"/>
          <p:cNvSpPr/>
          <p:nvPr/>
        </p:nvSpPr>
        <p:spPr>
          <a:xfrm>
            <a:off x="822960" y="3639312"/>
            <a:ext cx="1645920" cy="594360"/>
          </a:xfrm>
          <a:prstGeom prst="rect">
            <a:avLst/>
          </a:prstGeom>
          <a:noFill/>
          <a:ln/>
        </p:spPr>
        <p:txBody>
          <a:bodyPr wrap="square" lIns="0" tIns="0" rIns="0" bIns="0" rtlCol="0" anchor="ctr"/>
          <a:lstStyle/>
          <a:p>
            <a:pPr marL="0" indent="0">
              <a:buNone/>
            </a:pPr>
            <a:r>
              <a:rPr lang="en-US" sz="1100" b="1" dirty="0">
                <a:solidFill>
                  <a:srgbClr val="1A1A1A"/>
                </a:solidFill>
                <a:latin typeface="Helvetica" pitchFamily="34" charset="0"/>
                <a:ea typeface="Helvetica" pitchFamily="34" charset="-122"/>
                <a:cs typeface="Helvetica" pitchFamily="34" charset="-120"/>
              </a:rPr>
              <a:t>HybridVAE</a:t>
            </a:r>
            <a:endParaRPr lang="en-US" sz="1100" dirty="0"/>
          </a:p>
        </p:txBody>
      </p:sp>
      <p:sp>
        <p:nvSpPr>
          <p:cNvPr id="13" name="Text 10"/>
          <p:cNvSpPr/>
          <p:nvPr/>
        </p:nvSpPr>
        <p:spPr>
          <a:xfrm>
            <a:off x="2560320" y="3685032"/>
            <a:ext cx="2743200" cy="256032"/>
          </a:xfrm>
          <a:prstGeom prst="rect">
            <a:avLst/>
          </a:prstGeom>
          <a:noFill/>
          <a:ln/>
        </p:spPr>
        <p:txBody>
          <a:bodyPr wrap="square" lIns="0" tIns="0" rIns="0" bIns="0" rtlCol="0" anchor="ctr"/>
          <a:lstStyle/>
          <a:p>
            <a:pPr marL="0" indent="0">
              <a:buNone/>
            </a:pPr>
            <a:r>
              <a:rPr lang="en-US" sz="900" dirty="0">
                <a:solidFill>
                  <a:srgbClr val="4A4A4A"/>
                </a:solidFill>
                <a:latin typeface="Helvetica" pitchFamily="34" charset="0"/>
                <a:ea typeface="Helvetica" pitchFamily="34" charset="-122"/>
                <a:cs typeface="Helvetica" pitchFamily="34" charset="-120"/>
              </a:rPr>
              <a:t>+ Both classification + anomaly detection; smallest deployable binary (2.92 MB)</a:t>
            </a:r>
            <a:endParaRPr lang="en-US" sz="900" dirty="0"/>
          </a:p>
        </p:txBody>
      </p:sp>
      <p:sp>
        <p:nvSpPr>
          <p:cNvPr id="6" name="Text 11"/>
          <p:cNvSpPr/>
          <p:nvPr/>
        </p:nvSpPr>
        <p:spPr>
          <a:xfrm>
            <a:off x="2560320" y="3941064"/>
            <a:ext cx="5303520" cy="256032"/>
          </a:xfrm>
          <a:prstGeom prst="rect">
            <a:avLst/>
          </a:prstGeom>
          <a:noFill/>
          <a:ln/>
        </p:spPr>
        <p:txBody>
          <a:bodyPr wrap="square" lIns="0" tIns="0" rIns="0" bIns="0" rtlCol="0" anchor="ctr"/>
          <a:lstStyle/>
          <a:p>
            <a:pPr marL="0" indent="0">
              <a:buNone/>
            </a:pPr>
            <a:r>
              <a:rPr lang="en-US" sz="900" dirty="0">
                <a:solidFill>
                  <a:srgbClr val="7A7A7A"/>
                </a:solidFill>
                <a:latin typeface="Helvetica" pitchFamily="34" charset="0"/>
                <a:ea typeface="Helvetica" pitchFamily="34" charset="-122"/>
                <a:cs typeface="Helvetica" pitchFamily="34" charset="-120"/>
              </a:rPr>
              <a:t>− Lower Macro F1 than XGBoost (0.87 vs 0.92)</a:t>
            </a:r>
            <a:endParaRPr lang="en-US" sz="900" dirty="0"/>
          </a:p>
        </p:txBody>
      </p:sp>
      <p:sp>
        <p:nvSpPr>
          <p:cNvPr id="15" name="Shape 12"/>
          <p:cNvSpPr/>
          <p:nvPr/>
        </p:nvSpPr>
        <p:spPr>
          <a:xfrm>
            <a:off x="640080" y="4352544"/>
            <a:ext cx="7863840" cy="594360"/>
          </a:xfrm>
          <a:prstGeom prst="rect">
            <a:avLst/>
          </a:prstGeom>
          <a:solidFill>
            <a:srgbClr val="F5F5F5"/>
          </a:solidFill>
          <a:ln/>
        </p:spPr>
      </p:sp>
      <p:sp>
        <p:nvSpPr>
          <p:cNvPr id="16" name="Text 13"/>
          <p:cNvSpPr/>
          <p:nvPr/>
        </p:nvSpPr>
        <p:spPr>
          <a:xfrm>
            <a:off x="822960" y="4352544"/>
            <a:ext cx="1645920" cy="594360"/>
          </a:xfrm>
          <a:prstGeom prst="rect">
            <a:avLst/>
          </a:prstGeom>
          <a:noFill/>
          <a:ln/>
        </p:spPr>
        <p:txBody>
          <a:bodyPr wrap="square" lIns="0" tIns="0" rIns="0" bIns="0" rtlCol="0" anchor="ctr"/>
          <a:lstStyle/>
          <a:p>
            <a:pPr marL="0" indent="0">
              <a:buNone/>
            </a:pPr>
            <a:r>
              <a:rPr lang="en-US" sz="1100" b="1" dirty="0">
                <a:solidFill>
                  <a:srgbClr val="1A1A1A"/>
                </a:solidFill>
                <a:latin typeface="Helvetica" pitchFamily="34" charset="0"/>
                <a:ea typeface="Helvetica" pitchFamily="34" charset="-122"/>
                <a:cs typeface="Helvetica" pitchFamily="34" charset="-120"/>
              </a:rPr>
              <a:t>XGBoost</a:t>
            </a:r>
            <a:endParaRPr lang="en-US" sz="1100" dirty="0"/>
          </a:p>
        </p:txBody>
      </p:sp>
      <p:sp>
        <p:nvSpPr>
          <p:cNvPr id="17" name="Text 14"/>
          <p:cNvSpPr/>
          <p:nvPr/>
        </p:nvSpPr>
        <p:spPr>
          <a:xfrm>
            <a:off x="2560320" y="4398264"/>
            <a:ext cx="2743200" cy="256032"/>
          </a:xfrm>
          <a:prstGeom prst="rect">
            <a:avLst/>
          </a:prstGeom>
          <a:noFill/>
          <a:ln/>
        </p:spPr>
        <p:txBody>
          <a:bodyPr wrap="square" lIns="0" tIns="0" rIns="0" bIns="0" rtlCol="0" anchor="ctr"/>
          <a:lstStyle/>
          <a:p>
            <a:pPr marL="0" indent="0">
              <a:buNone/>
            </a:pPr>
            <a:r>
              <a:rPr lang="en-US" sz="900" dirty="0">
                <a:solidFill>
                  <a:srgbClr val="4A4A4A"/>
                </a:solidFill>
                <a:latin typeface="Helvetica" pitchFamily="34" charset="0"/>
                <a:ea typeface="Helvetica" pitchFamily="34" charset="-122"/>
                <a:cs typeface="Helvetica" pitchFamily="34" charset="-120"/>
              </a:rPr>
              <a:t>+ Best closed-set Macro F1 (0.9162)</a:t>
            </a:r>
            <a:endParaRPr lang="en-US" sz="900" dirty="0"/>
          </a:p>
        </p:txBody>
      </p:sp>
      <p:sp>
        <p:nvSpPr>
          <p:cNvPr id="18" name="Text 15"/>
          <p:cNvSpPr/>
          <p:nvPr/>
        </p:nvSpPr>
        <p:spPr>
          <a:xfrm>
            <a:off x="2560320" y="4654296"/>
            <a:ext cx="5303520" cy="256032"/>
          </a:xfrm>
          <a:prstGeom prst="rect">
            <a:avLst/>
          </a:prstGeom>
          <a:noFill/>
          <a:ln/>
        </p:spPr>
        <p:txBody>
          <a:bodyPr wrap="square" lIns="0" tIns="0" rIns="0" bIns="0" rtlCol="0" anchor="ctr"/>
          <a:lstStyle/>
          <a:p>
            <a:pPr marL="0" indent="0">
              <a:buNone/>
            </a:pPr>
            <a:r>
              <a:rPr lang="en-US" sz="900" dirty="0">
                <a:solidFill>
                  <a:srgbClr val="7A7A7A"/>
                </a:solidFill>
                <a:latin typeface="Helvetica" pitchFamily="34" charset="0"/>
                <a:ea typeface="Helvetica" pitchFamily="34" charset="-122"/>
                <a:cs typeface="Helvetica" pitchFamily="34" charset="-120"/>
              </a:rPr>
              <a:t>− No anomaly detection; 6× larger model (18 MB); blind to unknown attacks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1A1A1A"/>
        </a:solidFill>
        <a:effectLst/>
      </p:bgPr>
    </p:bg>
    <p:spTree>
      <p:nvGrpSpPr>
        <p:cNvPr id="1" name=""/>
        <p:cNvGrpSpPr/>
        <p:nvPr/>
      </p:nvGrpSpPr>
      <p:grpSpPr>
        <a:xfrm>
          <a:off x="0" y="0"/>
          <a:ext cx="0" cy="0"/>
          <a:chOff x="0" y="0"/>
          <a:chExt cx="0" cy="0"/>
        </a:xfrm>
      </p:grpSpPr>
      <p:sp>
        <p:nvSpPr>
          <p:cNvPr id="2" name="Text 0"/>
          <p:cNvSpPr/>
          <p:nvPr/>
        </p:nvSpPr>
        <p:spPr>
          <a:xfrm>
            <a:off x="640080" y="914400"/>
            <a:ext cx="1828800" cy="1097280"/>
          </a:xfrm>
          <a:prstGeom prst="rect">
            <a:avLst/>
          </a:prstGeom>
          <a:noFill/>
          <a:ln/>
        </p:spPr>
        <p:txBody>
          <a:bodyPr wrap="square" lIns="0" tIns="0" rIns="0" bIns="0" rtlCol="0" anchor="ctr"/>
          <a:lstStyle/>
          <a:p>
            <a:pPr marL="0" indent="0">
              <a:buNone/>
            </a:pPr>
            <a:r>
              <a:rPr lang="en-US" sz="7200" b="1" dirty="0">
                <a:solidFill>
                  <a:srgbClr val="7A7A7A"/>
                </a:solidFill>
                <a:latin typeface="Helvetica" pitchFamily="34" charset="0"/>
                <a:ea typeface="Helvetica" pitchFamily="34" charset="-122"/>
                <a:cs typeface="Helvetica" pitchFamily="34" charset="-120"/>
              </a:rPr>
              <a:t>02</a:t>
            </a:r>
            <a:endParaRPr lang="en-US" sz="7200" dirty="0"/>
          </a:p>
        </p:txBody>
      </p:sp>
      <p:sp>
        <p:nvSpPr>
          <p:cNvPr id="3" name="Text 1"/>
          <p:cNvSpPr/>
          <p:nvPr/>
        </p:nvSpPr>
        <p:spPr>
          <a:xfrm>
            <a:off x="640080" y="2011680"/>
            <a:ext cx="7315200" cy="1371600"/>
          </a:xfrm>
          <a:prstGeom prst="rect">
            <a:avLst/>
          </a:prstGeom>
          <a:noFill/>
          <a:ln/>
        </p:spPr>
        <p:txBody>
          <a:bodyPr wrap="square" lIns="0" tIns="0" rIns="0" bIns="0" rtlCol="0" anchor="ctr"/>
          <a:lstStyle/>
          <a:p>
            <a:pPr marL="0" indent="0">
              <a:lnSpc>
                <a:spcPct val="110000"/>
              </a:lnSpc>
              <a:buNone/>
            </a:pPr>
            <a:r>
              <a:rPr lang="en-US" sz="4000" b="1" dirty="0">
                <a:solidFill>
                  <a:srgbClr val="FFFFFF"/>
                </a:solidFill>
                <a:latin typeface="Helvetica" pitchFamily="34" charset="0"/>
                <a:ea typeface="Helvetica" pitchFamily="34" charset="-122"/>
                <a:cs typeface="Helvetica" pitchFamily="34" charset="-120"/>
              </a:rPr>
              <a:t>TESTING FOR</a:t>
            </a:r>
            <a:endParaRPr lang="en-US" sz="4000" dirty="0"/>
          </a:p>
          <a:p>
            <a:pPr marL="0" indent="0">
              <a:lnSpc>
                <a:spcPct val="110000"/>
              </a:lnSpc>
              <a:buNone/>
            </a:pPr>
            <a:r>
              <a:rPr lang="en-US" sz="4000" b="1" dirty="0">
                <a:solidFill>
                  <a:srgbClr val="FFFFFF"/>
                </a:solidFill>
                <a:latin typeface="Helvetica" pitchFamily="34" charset="0"/>
                <a:ea typeface="Helvetica" pitchFamily="34" charset="-122"/>
                <a:cs typeface="Helvetica" pitchFamily="34" charset="-120"/>
              </a:rPr>
              <a:t>ZERO-DAY THREATS</a:t>
            </a:r>
            <a:endParaRPr lang="en-US" sz="4000" dirty="0"/>
          </a:p>
        </p:txBody>
      </p:sp>
      <p:sp>
        <p:nvSpPr>
          <p:cNvPr id="4" name="Shape 2"/>
          <p:cNvSpPr/>
          <p:nvPr/>
        </p:nvSpPr>
        <p:spPr>
          <a:xfrm>
            <a:off x="640080" y="3474720"/>
            <a:ext cx="2743200" cy="0"/>
          </a:xfrm>
          <a:prstGeom prst="line">
            <a:avLst/>
          </a:prstGeom>
          <a:noFill/>
          <a:ln w="9525">
            <a:solidFill>
              <a:srgbClr val="D8D8D8"/>
            </a:solidFill>
            <a:prstDash val="solid"/>
          </a:ln>
        </p:spPr>
      </p:sp>
      <p:sp>
        <p:nvSpPr>
          <p:cNvPr id="5" name="Text 3"/>
          <p:cNvSpPr/>
          <p:nvPr/>
        </p:nvSpPr>
        <p:spPr>
          <a:xfrm>
            <a:off x="640080" y="3657600"/>
            <a:ext cx="7315200" cy="365760"/>
          </a:xfrm>
          <a:prstGeom prst="rect">
            <a:avLst/>
          </a:prstGeom>
          <a:noFill/>
          <a:ln/>
        </p:spPr>
        <p:txBody>
          <a:bodyPr wrap="square" lIns="0" tIns="0" rIns="0" bIns="0" rtlCol="0" anchor="ctr"/>
          <a:lstStyle/>
          <a:p>
            <a:pPr marL="0" indent="0">
              <a:buNone/>
            </a:pPr>
            <a:r>
              <a:rPr lang="en-US" sz="1200" dirty="0">
                <a:solidFill>
                  <a:srgbClr val="7A7A7A"/>
                </a:solidFill>
                <a:latin typeface="Helvetica" pitchFamily="34" charset="0"/>
                <a:ea typeface="Helvetica" pitchFamily="34" charset="-122"/>
                <a:cs typeface="Helvetica" pitchFamily="34" charset="-120"/>
              </a:rPr>
              <a:t>Withheld-class experiment  ·  Heartbleed as unseen attack</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2743200" cy="274320"/>
          </a:xfrm>
          <a:prstGeom prst="rect">
            <a:avLst/>
          </a:prstGeom>
          <a:noFill/>
          <a:ln/>
        </p:spPr>
        <p:txBody>
          <a:bodyPr wrap="square" lIns="0" tIns="0" rIns="0" bIns="0" rtlCol="0" anchor="ctr"/>
          <a:lstStyle/>
          <a:p>
            <a:pPr marL="0" indent="0">
              <a:buNone/>
            </a:pPr>
            <a:r>
              <a:rPr lang="en-US" sz="800" kern="0" spc="300" dirty="0">
                <a:solidFill>
                  <a:srgbClr val="7A7A7A"/>
                </a:solidFill>
                <a:latin typeface="Helvetica" pitchFamily="34" charset="0"/>
                <a:ea typeface="Helvetica" pitchFamily="34" charset="-122"/>
                <a:cs typeface="Helvetica" pitchFamily="34" charset="-120"/>
              </a:rPr>
              <a:t>ZERO-DAY PROOF</a:t>
            </a:r>
            <a:endParaRPr lang="en-US" sz="800" dirty="0"/>
          </a:p>
        </p:txBody>
      </p:sp>
      <p:sp>
        <p:nvSpPr>
          <p:cNvPr id="3" name="Text 1"/>
          <p:cNvSpPr/>
          <p:nvPr/>
        </p:nvSpPr>
        <p:spPr>
          <a:xfrm>
            <a:off x="8229600" y="4617720"/>
            <a:ext cx="640080" cy="365760"/>
          </a:xfrm>
          <a:prstGeom prst="rect">
            <a:avLst/>
          </a:prstGeom>
          <a:noFill/>
          <a:ln/>
        </p:spPr>
        <p:txBody>
          <a:bodyPr wrap="square" lIns="0" tIns="0" rIns="0" bIns="0" rtlCol="0" anchor="ctr"/>
          <a:lstStyle/>
          <a:p>
            <a:pPr marL="0" indent="0" algn="r">
              <a:buNone/>
            </a:pPr>
            <a:r>
              <a:rPr lang="en-US" sz="900" dirty="0">
                <a:solidFill>
                  <a:srgbClr val="C0C0C0"/>
                </a:solidFill>
                <a:latin typeface="Helvetica" pitchFamily="34" charset="0"/>
                <a:ea typeface="Helvetica" pitchFamily="34" charset="-122"/>
                <a:cs typeface="Helvetica" pitchFamily="34" charset="-120"/>
              </a:rPr>
              <a:t>15</a:t>
            </a:r>
            <a:endParaRPr lang="en-US" sz="900" dirty="0"/>
          </a:p>
        </p:txBody>
      </p:sp>
      <p:sp>
        <p:nvSpPr>
          <p:cNvPr id="4" name="Text 2"/>
          <p:cNvSpPr/>
          <p:nvPr/>
        </p:nvSpPr>
        <p:spPr>
          <a:xfrm>
            <a:off x="640080" y="640080"/>
            <a:ext cx="7315200" cy="548640"/>
          </a:xfrm>
          <a:prstGeom prst="rect">
            <a:avLst/>
          </a:prstGeom>
          <a:noFill/>
          <a:ln/>
        </p:spPr>
        <p:txBody>
          <a:bodyPr wrap="square" lIns="0" tIns="0" rIns="0" bIns="0" rtlCol="0" anchor="ctr"/>
          <a:lstStyle/>
          <a:p>
            <a:pPr marL="0" indent="0">
              <a:buNone/>
            </a:pPr>
            <a:r>
              <a:rPr lang="en-US" sz="3200" b="1" dirty="0">
                <a:solidFill>
                  <a:srgbClr val="1A1A1A"/>
                </a:solidFill>
                <a:latin typeface="Helvetica" pitchFamily="34" charset="0"/>
                <a:ea typeface="Helvetica" pitchFamily="34" charset="-122"/>
                <a:cs typeface="Helvetica" pitchFamily="34" charset="-120"/>
              </a:rPr>
              <a:t>Why withhold a class?</a:t>
            </a:r>
            <a:endParaRPr lang="en-US" sz="3200" dirty="0"/>
          </a:p>
        </p:txBody>
      </p:sp>
      <p:sp>
        <p:nvSpPr>
          <p:cNvPr id="5" name="Shape 3"/>
          <p:cNvSpPr/>
          <p:nvPr/>
        </p:nvSpPr>
        <p:spPr>
          <a:xfrm>
            <a:off x="640080" y="1234440"/>
            <a:ext cx="7863840" cy="0"/>
          </a:xfrm>
          <a:prstGeom prst="line">
            <a:avLst/>
          </a:prstGeom>
          <a:noFill/>
          <a:ln w="9525">
            <a:solidFill>
              <a:srgbClr val="D8D8D8"/>
            </a:solidFill>
            <a:prstDash val="solid"/>
          </a:ln>
        </p:spPr>
      </p:sp>
      <p:sp>
        <p:nvSpPr>
          <p:cNvPr id="6" name="Text 4"/>
          <p:cNvSpPr/>
          <p:nvPr/>
        </p:nvSpPr>
        <p:spPr>
          <a:xfrm>
            <a:off x="640080" y="1417320"/>
            <a:ext cx="7863840" cy="640080"/>
          </a:xfrm>
          <a:prstGeom prst="rect">
            <a:avLst/>
          </a:prstGeom>
          <a:noFill/>
          <a:ln/>
        </p:spPr>
        <p:txBody>
          <a:bodyPr wrap="square" lIns="0" tIns="0" rIns="0" bIns="0" rtlCol="0" anchor="ctr"/>
          <a:lstStyle/>
          <a:p>
            <a:pPr marL="0" indent="0">
              <a:lnSpc>
                <a:spcPct val="140000"/>
              </a:lnSpc>
              <a:buNone/>
            </a:pPr>
            <a:r>
              <a:rPr lang="en-US" sz="1100" dirty="0">
                <a:solidFill>
                  <a:srgbClr val="4A4A4A"/>
                </a:solidFill>
                <a:latin typeface="Helvetica" pitchFamily="34" charset="0"/>
                <a:ea typeface="Helvetica" pitchFamily="34" charset="-122"/>
                <a:cs typeface="Helvetica" pitchFamily="34" charset="-120"/>
              </a:rPr>
              <a:t>In production, new attack types emerge that were absent from training data. To simulate this, we remove Heartbleed entirely from training and retrain both models on 8 classes. At test time, we feed Heartbleed samples to both models and ask: can they detect something is wrong?</a:t>
            </a:r>
            <a:endParaRPr lang="en-US" sz="1100" dirty="0"/>
          </a:p>
        </p:txBody>
      </p:sp>
      <p:sp>
        <p:nvSpPr>
          <p:cNvPr id="7" name="Text 5"/>
          <p:cNvSpPr/>
          <p:nvPr/>
        </p:nvSpPr>
        <p:spPr>
          <a:xfrm>
            <a:off x="640080" y="2286000"/>
            <a:ext cx="3657600" cy="320040"/>
          </a:xfrm>
          <a:prstGeom prst="rect">
            <a:avLst/>
          </a:prstGeom>
          <a:noFill/>
          <a:ln/>
        </p:spPr>
        <p:txBody>
          <a:bodyPr wrap="square" lIns="0" tIns="0" rIns="0" bIns="0" rtlCol="0" anchor="ctr"/>
          <a:lstStyle/>
          <a:p>
            <a:pPr marL="0" indent="0">
              <a:buNone/>
            </a:pPr>
            <a:r>
              <a:rPr lang="en-US" sz="1400" b="1" dirty="0">
                <a:solidFill>
                  <a:srgbClr val="1A1A1A"/>
                </a:solidFill>
                <a:latin typeface="Helvetica" pitchFamily="34" charset="0"/>
                <a:ea typeface="Helvetica" pitchFamily="34" charset="-122"/>
                <a:cs typeface="Helvetica" pitchFamily="34" charset="-120"/>
              </a:rPr>
              <a:t>Experimental setup</a:t>
            </a:r>
            <a:endParaRPr lang="en-US" sz="1400" dirty="0"/>
          </a:p>
        </p:txBody>
      </p:sp>
      <p:sp>
        <p:nvSpPr>
          <p:cNvPr id="8" name="Text 6"/>
          <p:cNvSpPr/>
          <p:nvPr/>
        </p:nvSpPr>
        <p:spPr>
          <a:xfrm>
            <a:off x="822960" y="2697480"/>
            <a:ext cx="1277145" cy="274320"/>
          </a:xfrm>
          <a:prstGeom prst="rect">
            <a:avLst/>
          </a:prstGeom>
          <a:noFill/>
          <a:ln/>
        </p:spPr>
        <p:txBody>
          <a:bodyPr wrap="square" lIns="0" tIns="0" rIns="0" bIns="0" rtlCol="0" anchor="ctr"/>
          <a:lstStyle/>
          <a:p>
            <a:pPr marL="0" indent="0">
              <a:buNone/>
            </a:pPr>
            <a:r>
              <a:rPr lang="en-US" sz="1000" b="1" dirty="0">
                <a:solidFill>
                  <a:srgbClr val="2D2D2D"/>
                </a:solidFill>
                <a:latin typeface="Helvetica" pitchFamily="34" charset="0"/>
                <a:ea typeface="Helvetica" pitchFamily="34" charset="-122"/>
                <a:cs typeface="Helvetica" pitchFamily="34" charset="-120"/>
              </a:rPr>
              <a:t>Withheld class</a:t>
            </a:r>
            <a:endParaRPr lang="en-US" sz="1000" dirty="0"/>
          </a:p>
        </p:txBody>
      </p:sp>
      <p:sp>
        <p:nvSpPr>
          <p:cNvPr id="9" name="Text 7"/>
          <p:cNvSpPr/>
          <p:nvPr/>
        </p:nvSpPr>
        <p:spPr>
          <a:xfrm>
            <a:off x="2095087" y="2697480"/>
            <a:ext cx="2858750" cy="274320"/>
          </a:xfrm>
          <a:prstGeom prst="rect">
            <a:avLst/>
          </a:prstGeom>
          <a:noFill/>
          <a:ln/>
        </p:spPr>
        <p:txBody>
          <a:bodyPr wrap="square" lIns="0" tIns="0" rIns="0" bIns="0" rtlCol="0" anchor="ctr"/>
          <a:lstStyle/>
          <a:p>
            <a:pPr marL="0" indent="0">
              <a:buNone/>
            </a:pPr>
            <a:r>
              <a:rPr lang="en-US" sz="1000" dirty="0">
                <a:solidFill>
                  <a:srgbClr val="4A4A4A"/>
                </a:solidFill>
                <a:latin typeface="Helvetica" pitchFamily="34" charset="0"/>
                <a:ea typeface="Helvetica" pitchFamily="34" charset="-122"/>
                <a:cs typeface="Helvetica" pitchFamily="34" charset="-120"/>
              </a:rPr>
              <a:t>Heartbleed (index 5)</a:t>
            </a:r>
            <a:endParaRPr lang="en-US" sz="1000" dirty="0"/>
          </a:p>
        </p:txBody>
      </p:sp>
      <p:sp>
        <p:nvSpPr>
          <p:cNvPr id="10" name="Text 8"/>
          <p:cNvSpPr/>
          <p:nvPr/>
        </p:nvSpPr>
        <p:spPr>
          <a:xfrm>
            <a:off x="822960" y="3017520"/>
            <a:ext cx="1277145" cy="274320"/>
          </a:xfrm>
          <a:prstGeom prst="rect">
            <a:avLst/>
          </a:prstGeom>
          <a:noFill/>
          <a:ln/>
        </p:spPr>
        <p:txBody>
          <a:bodyPr wrap="square" lIns="0" tIns="0" rIns="0" bIns="0" rtlCol="0" anchor="ctr"/>
          <a:lstStyle/>
          <a:p>
            <a:pPr marL="0" indent="0">
              <a:buNone/>
            </a:pPr>
            <a:r>
              <a:rPr lang="en-US" sz="1000" b="1" dirty="0">
                <a:solidFill>
                  <a:srgbClr val="2D2D2D"/>
                </a:solidFill>
                <a:latin typeface="Helvetica" pitchFamily="34" charset="0"/>
                <a:ea typeface="Helvetica" pitchFamily="34" charset="-122"/>
                <a:cs typeface="Helvetica" pitchFamily="34" charset="-120"/>
              </a:rPr>
              <a:t>Training set</a:t>
            </a:r>
            <a:endParaRPr lang="en-US" sz="1000" dirty="0"/>
          </a:p>
        </p:txBody>
      </p:sp>
      <p:sp>
        <p:nvSpPr>
          <p:cNvPr id="11" name="Text 9"/>
          <p:cNvSpPr/>
          <p:nvPr/>
        </p:nvSpPr>
        <p:spPr>
          <a:xfrm>
            <a:off x="2095087" y="3017520"/>
            <a:ext cx="2858750" cy="274320"/>
          </a:xfrm>
          <a:prstGeom prst="rect">
            <a:avLst/>
          </a:prstGeom>
          <a:noFill/>
          <a:ln/>
        </p:spPr>
        <p:txBody>
          <a:bodyPr wrap="square" lIns="0" tIns="0" rIns="0" bIns="0" rtlCol="0" anchor="ctr"/>
          <a:lstStyle/>
          <a:p>
            <a:pPr marL="0" indent="0">
              <a:buNone/>
            </a:pPr>
            <a:r>
              <a:rPr lang="en-US" sz="1000" dirty="0">
                <a:solidFill>
                  <a:srgbClr val="4A4A4A"/>
                </a:solidFill>
                <a:latin typeface="Helvetica" pitchFamily="34" charset="0"/>
                <a:ea typeface="Helvetica" pitchFamily="34" charset="-122"/>
                <a:cs typeface="Helvetica" pitchFamily="34" charset="-120"/>
              </a:rPr>
              <a:t>1,780,534 samples (8 classes)</a:t>
            </a:r>
            <a:endParaRPr lang="en-US" sz="1000" dirty="0"/>
          </a:p>
        </p:txBody>
      </p:sp>
      <p:sp>
        <p:nvSpPr>
          <p:cNvPr id="12" name="Text 10"/>
          <p:cNvSpPr/>
          <p:nvPr/>
        </p:nvSpPr>
        <p:spPr>
          <a:xfrm>
            <a:off x="822960" y="3337560"/>
            <a:ext cx="1277145" cy="274320"/>
          </a:xfrm>
          <a:prstGeom prst="rect">
            <a:avLst/>
          </a:prstGeom>
          <a:noFill/>
          <a:ln/>
        </p:spPr>
        <p:txBody>
          <a:bodyPr wrap="square" lIns="0" tIns="0" rIns="0" bIns="0" rtlCol="0" anchor="ctr"/>
          <a:lstStyle/>
          <a:p>
            <a:pPr marL="0" indent="0">
              <a:buNone/>
            </a:pPr>
            <a:r>
              <a:rPr lang="en-US" sz="1000" b="1" dirty="0">
                <a:solidFill>
                  <a:srgbClr val="2D2D2D"/>
                </a:solidFill>
                <a:latin typeface="Helvetica" pitchFamily="34" charset="0"/>
                <a:ea typeface="Helvetica" pitchFamily="34" charset="-122"/>
                <a:cs typeface="Helvetica" pitchFamily="34" charset="-120"/>
              </a:rPr>
              <a:t>Withheld test</a:t>
            </a:r>
            <a:endParaRPr lang="en-US" sz="1000" dirty="0"/>
          </a:p>
        </p:txBody>
      </p:sp>
      <p:sp>
        <p:nvSpPr>
          <p:cNvPr id="13" name="Text 11"/>
          <p:cNvSpPr/>
          <p:nvPr/>
        </p:nvSpPr>
        <p:spPr>
          <a:xfrm>
            <a:off x="2095087" y="3337560"/>
            <a:ext cx="2858750" cy="274320"/>
          </a:xfrm>
          <a:prstGeom prst="rect">
            <a:avLst/>
          </a:prstGeom>
          <a:noFill/>
          <a:ln/>
        </p:spPr>
        <p:txBody>
          <a:bodyPr wrap="square" lIns="0" tIns="0" rIns="0" bIns="0" rtlCol="0" anchor="ctr"/>
          <a:lstStyle/>
          <a:p>
            <a:pPr marL="0" indent="0">
              <a:buNone/>
            </a:pPr>
            <a:r>
              <a:rPr lang="en-US" sz="1000" dirty="0">
                <a:solidFill>
                  <a:srgbClr val="4A4A4A"/>
                </a:solidFill>
                <a:latin typeface="Helvetica" pitchFamily="34" charset="0"/>
                <a:ea typeface="Helvetica" pitchFamily="34" charset="-122"/>
                <a:cs typeface="Helvetica" pitchFamily="34" charset="-120"/>
              </a:rPr>
              <a:t>4 Heartbleed samples</a:t>
            </a:r>
            <a:endParaRPr lang="en-US" sz="1000" dirty="0"/>
          </a:p>
        </p:txBody>
      </p:sp>
      <p:sp>
        <p:nvSpPr>
          <p:cNvPr id="14" name="Text 12"/>
          <p:cNvSpPr/>
          <p:nvPr/>
        </p:nvSpPr>
        <p:spPr>
          <a:xfrm>
            <a:off x="822960" y="3657600"/>
            <a:ext cx="1277145" cy="274320"/>
          </a:xfrm>
          <a:prstGeom prst="rect">
            <a:avLst/>
          </a:prstGeom>
          <a:noFill/>
          <a:ln/>
        </p:spPr>
        <p:txBody>
          <a:bodyPr wrap="square" lIns="0" tIns="0" rIns="0" bIns="0" rtlCol="0" anchor="ctr"/>
          <a:lstStyle/>
          <a:p>
            <a:pPr marL="0" indent="0">
              <a:buNone/>
            </a:pPr>
            <a:r>
              <a:rPr lang="en-US" sz="1000" b="1" dirty="0">
                <a:solidFill>
                  <a:srgbClr val="2D2D2D"/>
                </a:solidFill>
                <a:latin typeface="Helvetica" pitchFamily="34" charset="0"/>
                <a:ea typeface="Helvetica" pitchFamily="34" charset="-122"/>
                <a:cs typeface="Helvetica" pitchFamily="34" charset="-120"/>
              </a:rPr>
              <a:t>XGBoost (8-class)</a:t>
            </a:r>
            <a:endParaRPr lang="en-US" sz="1000" dirty="0"/>
          </a:p>
        </p:txBody>
      </p:sp>
      <p:sp>
        <p:nvSpPr>
          <p:cNvPr id="15" name="Text 13"/>
          <p:cNvSpPr/>
          <p:nvPr/>
        </p:nvSpPr>
        <p:spPr>
          <a:xfrm>
            <a:off x="2095087" y="3657600"/>
            <a:ext cx="2858750" cy="274320"/>
          </a:xfrm>
          <a:prstGeom prst="rect">
            <a:avLst/>
          </a:prstGeom>
          <a:noFill/>
          <a:ln/>
        </p:spPr>
        <p:txBody>
          <a:bodyPr wrap="square" lIns="0" tIns="0" rIns="0" bIns="0" rtlCol="0" anchor="ctr"/>
          <a:lstStyle/>
          <a:p>
            <a:pPr marL="0" indent="0">
              <a:buNone/>
            </a:pPr>
            <a:r>
              <a:rPr lang="en-US" sz="1000" dirty="0">
                <a:solidFill>
                  <a:srgbClr val="4A4A4A"/>
                </a:solidFill>
                <a:latin typeface="Helvetica" pitchFamily="34" charset="0"/>
                <a:ea typeface="Helvetica" pitchFamily="34" charset="-122"/>
                <a:cs typeface="Helvetica" pitchFamily="34" charset="-120"/>
              </a:rPr>
              <a:t>Retrained, identical hyperparameters</a:t>
            </a:r>
            <a:endParaRPr lang="en-US" sz="1000" dirty="0"/>
          </a:p>
        </p:txBody>
      </p:sp>
      <p:sp>
        <p:nvSpPr>
          <p:cNvPr id="16" name="Text 14"/>
          <p:cNvSpPr/>
          <p:nvPr/>
        </p:nvSpPr>
        <p:spPr>
          <a:xfrm>
            <a:off x="822960" y="3977640"/>
            <a:ext cx="1277145" cy="274320"/>
          </a:xfrm>
          <a:prstGeom prst="rect">
            <a:avLst/>
          </a:prstGeom>
          <a:noFill/>
          <a:ln/>
        </p:spPr>
        <p:txBody>
          <a:bodyPr wrap="square" lIns="0" tIns="0" rIns="0" bIns="0" rtlCol="0" anchor="ctr"/>
          <a:lstStyle/>
          <a:p>
            <a:pPr marL="0" indent="0">
              <a:buNone/>
            </a:pPr>
            <a:r>
              <a:rPr lang="en-US" sz="1000" b="1" dirty="0">
                <a:solidFill>
                  <a:srgbClr val="2D2D2D"/>
                </a:solidFill>
                <a:latin typeface="Helvetica" pitchFamily="34" charset="0"/>
                <a:ea typeface="Helvetica" pitchFamily="34" charset="-122"/>
                <a:cs typeface="Helvetica" pitchFamily="34" charset="-120"/>
              </a:rPr>
              <a:t>HybridVAE (8-class)</a:t>
            </a:r>
            <a:endParaRPr lang="en-US" sz="1000" dirty="0"/>
          </a:p>
        </p:txBody>
      </p:sp>
      <p:sp>
        <p:nvSpPr>
          <p:cNvPr id="17" name="Text 15"/>
          <p:cNvSpPr/>
          <p:nvPr/>
        </p:nvSpPr>
        <p:spPr>
          <a:xfrm>
            <a:off x="2095087" y="3977640"/>
            <a:ext cx="2858750" cy="274320"/>
          </a:xfrm>
          <a:prstGeom prst="rect">
            <a:avLst/>
          </a:prstGeom>
          <a:noFill/>
          <a:ln/>
        </p:spPr>
        <p:txBody>
          <a:bodyPr wrap="square" lIns="0" tIns="0" rIns="0" bIns="0" rtlCol="0" anchor="ctr"/>
          <a:lstStyle/>
          <a:p>
            <a:pPr marL="0" indent="0">
              <a:buNone/>
            </a:pPr>
            <a:r>
              <a:rPr lang="en-US" sz="1000" dirty="0">
                <a:solidFill>
                  <a:srgbClr val="4A4A4A"/>
                </a:solidFill>
                <a:latin typeface="Helvetica" pitchFamily="34" charset="0"/>
                <a:ea typeface="Helvetica" pitchFamily="34" charset="-122"/>
                <a:cs typeface="Helvetica" pitchFamily="34" charset="-120"/>
              </a:rPr>
              <a:t>Retrained, model_d, 749,141 params</a:t>
            </a:r>
            <a:endParaRPr lang="en-US" sz="1000" dirty="0"/>
          </a:p>
        </p:txBody>
      </p:sp>
      <p:sp>
        <p:nvSpPr>
          <p:cNvPr id="18" name="Text 16"/>
          <p:cNvSpPr/>
          <p:nvPr/>
        </p:nvSpPr>
        <p:spPr>
          <a:xfrm>
            <a:off x="822960" y="4297680"/>
            <a:ext cx="1277145" cy="274320"/>
          </a:xfrm>
          <a:prstGeom prst="rect">
            <a:avLst/>
          </a:prstGeom>
          <a:noFill/>
          <a:ln/>
        </p:spPr>
        <p:txBody>
          <a:bodyPr wrap="square" lIns="0" tIns="0" rIns="0" bIns="0" rtlCol="0" anchor="ctr"/>
          <a:lstStyle/>
          <a:p>
            <a:pPr marL="0" indent="0">
              <a:buNone/>
            </a:pPr>
            <a:r>
              <a:rPr lang="en-US" sz="1000" b="1" dirty="0">
                <a:solidFill>
                  <a:srgbClr val="2D2D2D"/>
                </a:solidFill>
                <a:latin typeface="Helvetica" pitchFamily="34" charset="0"/>
                <a:ea typeface="Helvetica" pitchFamily="34" charset="-122"/>
                <a:cs typeface="Helvetica" pitchFamily="34" charset="-120"/>
              </a:rPr>
              <a:t>Anomaly threshold</a:t>
            </a:r>
            <a:endParaRPr lang="en-US" sz="1000" dirty="0"/>
          </a:p>
        </p:txBody>
      </p:sp>
      <p:sp>
        <p:nvSpPr>
          <p:cNvPr id="19" name="Text 17"/>
          <p:cNvSpPr/>
          <p:nvPr/>
        </p:nvSpPr>
        <p:spPr>
          <a:xfrm>
            <a:off x="2095087" y="4297680"/>
            <a:ext cx="2858750" cy="274320"/>
          </a:xfrm>
          <a:prstGeom prst="rect">
            <a:avLst/>
          </a:prstGeom>
          <a:noFill/>
          <a:ln/>
        </p:spPr>
        <p:txBody>
          <a:bodyPr wrap="square" lIns="0" tIns="0" rIns="0" bIns="0" rtlCol="0" anchor="ctr"/>
          <a:lstStyle/>
          <a:p>
            <a:pPr marL="0" indent="0">
              <a:buNone/>
            </a:pPr>
            <a:r>
              <a:rPr lang="en-US" sz="1000" dirty="0">
                <a:solidFill>
                  <a:srgbClr val="4A4A4A"/>
                </a:solidFill>
                <a:latin typeface="Helvetica" pitchFamily="34" charset="0"/>
                <a:ea typeface="Helvetica" pitchFamily="34" charset="-122"/>
                <a:cs typeface="Helvetica" pitchFamily="34" charset="-120"/>
              </a:rPr>
              <a:t>95th percentile of BENIGN val recon error = 0.648</a:t>
            </a:r>
            <a:endParaRPr lang="en-US" sz="1000" dirty="0"/>
          </a:p>
        </p:txBody>
      </p:sp>
      <p:pic>
        <p:nvPicPr>
          <p:cNvPr id="20" name="Image 0" descr="preencoded.png"/>
          <p:cNvPicPr>
            <a:picLocks noChangeAspect="1"/>
          </p:cNvPicPr>
          <p:nvPr/>
        </p:nvPicPr>
        <p:blipFill>
          <a:blip r:embed="rId3"/>
          <a:srcRect l="50000" t="7888"/>
          <a:stretch>
            <a:fillRect/>
          </a:stretch>
        </p:blipFill>
        <p:spPr>
          <a:xfrm>
            <a:off x="4953835" y="1954170"/>
            <a:ext cx="3831437" cy="1411677"/>
          </a:xfrm>
          <a:prstGeom prst="rect">
            <a:avLst/>
          </a:prstGeom>
        </p:spPr>
      </p:pic>
      <p:pic>
        <p:nvPicPr>
          <p:cNvPr id="21" name="Image 0" descr="preencoded.png">
            <a:extLst>
              <a:ext uri="{FF2B5EF4-FFF2-40B4-BE49-F238E27FC236}">
                <a16:creationId xmlns:a16="http://schemas.microsoft.com/office/drawing/2014/main" id="{330E641E-6BF9-AC9F-2412-DC41112EDDB5}"/>
              </a:ext>
            </a:extLst>
          </p:cNvPr>
          <p:cNvPicPr>
            <a:picLocks noChangeAspect="1"/>
          </p:cNvPicPr>
          <p:nvPr/>
        </p:nvPicPr>
        <p:blipFill>
          <a:blip r:embed="rId3"/>
          <a:srcRect t="8519" r="49443"/>
          <a:stretch>
            <a:fillRect/>
          </a:stretch>
        </p:blipFill>
        <p:spPr>
          <a:xfrm>
            <a:off x="4953835" y="3414024"/>
            <a:ext cx="3831437" cy="138657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2743200" cy="274320"/>
          </a:xfrm>
          <a:prstGeom prst="rect">
            <a:avLst/>
          </a:prstGeom>
          <a:noFill/>
          <a:ln/>
        </p:spPr>
        <p:txBody>
          <a:bodyPr wrap="square" lIns="0" tIns="0" rIns="0" bIns="0" rtlCol="0" anchor="ctr"/>
          <a:lstStyle/>
          <a:p>
            <a:pPr marL="0" indent="0">
              <a:buNone/>
            </a:pPr>
            <a:r>
              <a:rPr lang="en-US" sz="800" kern="0" spc="300" dirty="0">
                <a:solidFill>
                  <a:srgbClr val="7A7A7A"/>
                </a:solidFill>
                <a:latin typeface="Helvetica" pitchFamily="34" charset="0"/>
                <a:ea typeface="Helvetica" pitchFamily="34" charset="-122"/>
                <a:cs typeface="Helvetica" pitchFamily="34" charset="-120"/>
              </a:rPr>
              <a:t>ZERO-DAY RESULTS</a:t>
            </a:r>
            <a:endParaRPr lang="en-US" sz="800" dirty="0"/>
          </a:p>
        </p:txBody>
      </p:sp>
      <p:sp>
        <p:nvSpPr>
          <p:cNvPr id="3" name="Text 1"/>
          <p:cNvSpPr/>
          <p:nvPr/>
        </p:nvSpPr>
        <p:spPr>
          <a:xfrm>
            <a:off x="8229600" y="4617720"/>
            <a:ext cx="640080" cy="365760"/>
          </a:xfrm>
          <a:prstGeom prst="rect">
            <a:avLst/>
          </a:prstGeom>
          <a:noFill/>
          <a:ln/>
        </p:spPr>
        <p:txBody>
          <a:bodyPr wrap="square" lIns="0" tIns="0" rIns="0" bIns="0" rtlCol="0" anchor="ctr"/>
          <a:lstStyle/>
          <a:p>
            <a:pPr marL="0" indent="0" algn="r">
              <a:buNone/>
            </a:pPr>
            <a:r>
              <a:rPr lang="en-US" sz="900" dirty="0">
                <a:solidFill>
                  <a:srgbClr val="C0C0C0"/>
                </a:solidFill>
                <a:latin typeface="Helvetica" pitchFamily="34" charset="0"/>
                <a:ea typeface="Helvetica" pitchFamily="34" charset="-122"/>
                <a:cs typeface="Helvetica" pitchFamily="34" charset="-120"/>
              </a:rPr>
              <a:t>16</a:t>
            </a:r>
            <a:endParaRPr lang="en-US" sz="900" dirty="0"/>
          </a:p>
        </p:txBody>
      </p:sp>
      <p:sp>
        <p:nvSpPr>
          <p:cNvPr id="4" name="Text 2"/>
          <p:cNvSpPr/>
          <p:nvPr/>
        </p:nvSpPr>
        <p:spPr>
          <a:xfrm>
            <a:off x="640080" y="594360"/>
            <a:ext cx="7315200" cy="777240"/>
          </a:xfrm>
          <a:prstGeom prst="rect">
            <a:avLst/>
          </a:prstGeom>
          <a:noFill/>
          <a:ln/>
        </p:spPr>
        <p:txBody>
          <a:bodyPr wrap="square" lIns="0" tIns="0" rIns="0" bIns="0" rtlCol="0" anchor="ctr"/>
          <a:lstStyle/>
          <a:p>
            <a:pPr marL="0" indent="0">
              <a:lnSpc>
                <a:spcPct val="110000"/>
              </a:lnSpc>
              <a:buNone/>
            </a:pPr>
            <a:r>
              <a:rPr lang="en-US" sz="2800" b="1" dirty="0">
                <a:solidFill>
                  <a:srgbClr val="1A1A1A"/>
                </a:solidFill>
                <a:latin typeface="Helvetica" pitchFamily="34" charset="0"/>
                <a:ea typeface="Helvetica" pitchFamily="34" charset="-122"/>
                <a:cs typeface="Helvetica" pitchFamily="34" charset="-120"/>
              </a:rPr>
              <a:t>XGBoost is blind.</a:t>
            </a:r>
            <a:endParaRPr lang="en-US" sz="2800" dirty="0"/>
          </a:p>
          <a:p>
            <a:pPr marL="0" indent="0">
              <a:lnSpc>
                <a:spcPct val="110000"/>
              </a:lnSpc>
              <a:buNone/>
            </a:pPr>
            <a:r>
              <a:rPr lang="en-US" sz="2800" b="1" dirty="0">
                <a:solidFill>
                  <a:srgbClr val="1A1A1A"/>
                </a:solidFill>
                <a:latin typeface="Helvetica" pitchFamily="34" charset="0"/>
                <a:ea typeface="Helvetica" pitchFamily="34" charset="-122"/>
                <a:cs typeface="Helvetica" pitchFamily="34" charset="-120"/>
              </a:rPr>
              <a:t>HybridVAE catches all 4.</a:t>
            </a:r>
            <a:endParaRPr lang="en-US" sz="2800" dirty="0"/>
          </a:p>
        </p:txBody>
      </p:sp>
      <p:sp>
        <p:nvSpPr>
          <p:cNvPr id="5" name="Shape 3"/>
          <p:cNvSpPr/>
          <p:nvPr/>
        </p:nvSpPr>
        <p:spPr>
          <a:xfrm>
            <a:off x="640080" y="1463040"/>
            <a:ext cx="7863840" cy="0"/>
          </a:xfrm>
          <a:prstGeom prst="line">
            <a:avLst/>
          </a:prstGeom>
          <a:noFill/>
          <a:ln w="9525">
            <a:solidFill>
              <a:srgbClr val="D8D8D8"/>
            </a:solidFill>
            <a:prstDash val="solid"/>
          </a:ln>
        </p:spPr>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7863840" cy="1600200"/>
        </p:xfrm>
        <a:graphic>
          <a:graphicData uri="http://schemas.openxmlformats.org/drawingml/2006/table">
            <a:tbl>
              <a:tblPr/>
              <a:tblGrid>
                <a:gridCol w="5486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320040">
                <a:tc>
                  <a:txBody>
                    <a:bodyPr/>
                    <a:lstStyle/>
                    <a:p>
                      <a:pPr marL="0" indent="0">
                        <a:buNone/>
                      </a:pPr>
                      <a:r>
                        <a:rPr lang="en-US" sz="1100" b="1" dirty="0">
                          <a:solidFill>
                            <a:srgbClr val="2D2D2D"/>
                          </a:solidFill>
                          <a:latin typeface="Helvetica" pitchFamily="34" charset="0"/>
                          <a:ea typeface="Helvetica" pitchFamily="34" charset="-122"/>
                          <a:cs typeface="Helvetica" pitchFamily="34" charset="-120"/>
                        </a:rPr>
                        <a:t>#</a:t>
                      </a:r>
                      <a:endParaRPr lang="en-US" sz="11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5F5F5"/>
                    </a:solidFill>
                  </a:tcPr>
                </a:tc>
                <a:tc>
                  <a:txBody>
                    <a:bodyPr/>
                    <a:lstStyle/>
                    <a:p>
                      <a:pPr marL="0" indent="0">
                        <a:buNone/>
                      </a:pPr>
                      <a:r>
                        <a:rPr lang="en-US" sz="1100" b="1" dirty="0">
                          <a:solidFill>
                            <a:srgbClr val="2D2D2D"/>
                          </a:solidFill>
                          <a:latin typeface="Helvetica" pitchFamily="34" charset="0"/>
                          <a:ea typeface="Helvetica" pitchFamily="34" charset="-122"/>
                          <a:cs typeface="Helvetica" pitchFamily="34" charset="-120"/>
                        </a:rPr>
                        <a:t>XGBoost Output</a:t>
                      </a:r>
                      <a:endParaRPr lang="en-US" sz="11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5F5F5"/>
                    </a:solidFill>
                  </a:tcPr>
                </a:tc>
                <a:tc>
                  <a:txBody>
                    <a:bodyPr/>
                    <a:lstStyle/>
                    <a:p>
                      <a:pPr marL="0" indent="0">
                        <a:buNone/>
                      </a:pPr>
                      <a:r>
                        <a:rPr lang="en-US" sz="1100" b="1" dirty="0">
                          <a:solidFill>
                            <a:srgbClr val="2D2D2D"/>
                          </a:solidFill>
                          <a:latin typeface="Helvetica" pitchFamily="34" charset="0"/>
                          <a:ea typeface="Helvetica" pitchFamily="34" charset="-122"/>
                          <a:cs typeface="Helvetica" pitchFamily="34" charset="-120"/>
                        </a:rPr>
                        <a:t>HybridVAE Output</a:t>
                      </a:r>
                      <a:endParaRPr lang="en-US" sz="11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5F5F5"/>
                    </a:solidFill>
                  </a:tcPr>
                </a:tc>
                <a:tc>
                  <a:txBody>
                    <a:bodyPr/>
                    <a:lstStyle/>
                    <a:p>
                      <a:pPr marL="0" indent="0">
                        <a:buNone/>
                      </a:pPr>
                      <a:r>
                        <a:rPr lang="en-US" sz="1100" b="1" dirty="0">
                          <a:solidFill>
                            <a:srgbClr val="2D2D2D"/>
                          </a:solidFill>
                          <a:latin typeface="Helvetica" pitchFamily="34" charset="0"/>
                          <a:ea typeface="Helvetica" pitchFamily="34" charset="-122"/>
                          <a:cs typeface="Helvetica" pitchFamily="34" charset="-120"/>
                        </a:rPr>
                        <a:t>True Label</a:t>
                      </a:r>
                      <a:endParaRPr lang="en-US" sz="11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5F5F5"/>
                    </a:solidFill>
                  </a:tcPr>
                </a:tc>
                <a:extLst>
                  <a:ext uri="{0D108BD9-81ED-4DB2-BD59-A6C34878D82A}">
                    <a16:rowId xmlns:a16="http://schemas.microsoft.com/office/drawing/2014/main" val="10000"/>
                  </a:ext>
                </a:extLst>
              </a:tr>
              <a:tr h="320040">
                <a:tc>
                  <a:txBody>
                    <a:bodyPr/>
                    <a:lstStyle/>
                    <a:p>
                      <a:pPr marL="0" indent="0">
                        <a:buNone/>
                      </a:pPr>
                      <a:r>
                        <a:rPr lang="en-US" sz="1100" dirty="0">
                          <a:solidFill>
                            <a:srgbClr val="2D2D2D"/>
                          </a:solidFill>
                          <a:latin typeface="Helvetica" pitchFamily="34" charset="0"/>
                          <a:ea typeface="Helvetica" pitchFamily="34" charset="-122"/>
                          <a:cs typeface="Helvetica" pitchFamily="34" charset="-120"/>
                        </a:rPr>
                        <a:t>0</a:t>
                      </a:r>
                      <a:endParaRPr lang="en-US" sz="11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1100" dirty="0">
                          <a:solidFill>
                            <a:srgbClr val="2D2D2D"/>
                          </a:solidFill>
                          <a:latin typeface="Helvetica" pitchFamily="34" charset="0"/>
                          <a:ea typeface="Helvetica" pitchFamily="34" charset="-122"/>
                          <a:cs typeface="Helvetica" pitchFamily="34" charset="-120"/>
                        </a:rPr>
                        <a:t>BENIGN (99.98% conf)</a:t>
                      </a:r>
                      <a:endParaRPr lang="en-US" sz="11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1100" dirty="0">
                          <a:solidFill>
                            <a:srgbClr val="2D2D2D"/>
                          </a:solidFill>
                          <a:latin typeface="Helvetica" pitchFamily="34" charset="0"/>
                          <a:ea typeface="Helvetica" pitchFamily="34" charset="-122"/>
                          <a:cs typeface="Helvetica" pitchFamily="34" charset="-120"/>
                        </a:rPr>
                        <a:t>ANOMALY</a:t>
                      </a:r>
                      <a:endParaRPr lang="en-US" sz="11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1100" dirty="0">
                          <a:solidFill>
                            <a:srgbClr val="2D2D2D"/>
                          </a:solidFill>
                          <a:latin typeface="Helvetica" pitchFamily="34" charset="0"/>
                          <a:ea typeface="Helvetica" pitchFamily="34" charset="-122"/>
                          <a:cs typeface="Helvetica" pitchFamily="34" charset="-120"/>
                        </a:rPr>
                        <a:t>Heartbleed</a:t>
                      </a:r>
                      <a:endParaRPr lang="en-US" sz="11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1"/>
                  </a:ext>
                </a:extLst>
              </a:tr>
              <a:tr h="320040">
                <a:tc>
                  <a:txBody>
                    <a:bodyPr/>
                    <a:lstStyle/>
                    <a:p>
                      <a:pPr marL="0" indent="0">
                        <a:buNone/>
                      </a:pPr>
                      <a:r>
                        <a:rPr lang="en-US" sz="1100" dirty="0">
                          <a:solidFill>
                            <a:srgbClr val="2D2D2D"/>
                          </a:solidFill>
                          <a:latin typeface="Helvetica" pitchFamily="34" charset="0"/>
                          <a:ea typeface="Helvetica" pitchFamily="34" charset="-122"/>
                          <a:cs typeface="Helvetica" pitchFamily="34" charset="-120"/>
                        </a:rPr>
                        <a:t>1</a:t>
                      </a:r>
                      <a:endParaRPr lang="en-US" sz="11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1100" dirty="0">
                          <a:solidFill>
                            <a:srgbClr val="2D2D2D"/>
                          </a:solidFill>
                          <a:latin typeface="Helvetica" pitchFamily="34" charset="0"/>
                          <a:ea typeface="Helvetica" pitchFamily="34" charset="-122"/>
                          <a:cs typeface="Helvetica" pitchFamily="34" charset="-120"/>
                        </a:rPr>
                        <a:t>BENIGN (99.98% conf)</a:t>
                      </a:r>
                      <a:endParaRPr lang="en-US" sz="11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1100" dirty="0">
                          <a:solidFill>
                            <a:srgbClr val="2D2D2D"/>
                          </a:solidFill>
                          <a:latin typeface="Helvetica" pitchFamily="34" charset="0"/>
                          <a:ea typeface="Helvetica" pitchFamily="34" charset="-122"/>
                          <a:cs typeface="Helvetica" pitchFamily="34" charset="-120"/>
                        </a:rPr>
                        <a:t>ANOMALY</a:t>
                      </a:r>
                      <a:endParaRPr lang="en-US" sz="11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1100" dirty="0">
                          <a:solidFill>
                            <a:srgbClr val="2D2D2D"/>
                          </a:solidFill>
                          <a:latin typeface="Helvetica" pitchFamily="34" charset="0"/>
                          <a:ea typeface="Helvetica" pitchFamily="34" charset="-122"/>
                          <a:cs typeface="Helvetica" pitchFamily="34" charset="-120"/>
                        </a:rPr>
                        <a:t>Heartbleed</a:t>
                      </a:r>
                      <a:endParaRPr lang="en-US" sz="11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2"/>
                  </a:ext>
                </a:extLst>
              </a:tr>
              <a:tr h="320040">
                <a:tc>
                  <a:txBody>
                    <a:bodyPr/>
                    <a:lstStyle/>
                    <a:p>
                      <a:pPr marL="0" indent="0">
                        <a:buNone/>
                      </a:pPr>
                      <a:r>
                        <a:rPr lang="en-US" sz="1100" dirty="0">
                          <a:solidFill>
                            <a:srgbClr val="2D2D2D"/>
                          </a:solidFill>
                          <a:latin typeface="Helvetica" pitchFamily="34" charset="0"/>
                          <a:ea typeface="Helvetica" pitchFamily="34" charset="-122"/>
                          <a:cs typeface="Helvetica" pitchFamily="34" charset="-120"/>
                        </a:rPr>
                        <a:t>2</a:t>
                      </a:r>
                      <a:endParaRPr lang="en-US" sz="11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1100" dirty="0">
                          <a:solidFill>
                            <a:srgbClr val="2D2D2D"/>
                          </a:solidFill>
                          <a:latin typeface="Helvetica" pitchFamily="34" charset="0"/>
                          <a:ea typeface="Helvetica" pitchFamily="34" charset="-122"/>
                          <a:cs typeface="Helvetica" pitchFamily="34" charset="-120"/>
                        </a:rPr>
                        <a:t>BENIGN (99.98% conf)</a:t>
                      </a:r>
                      <a:endParaRPr lang="en-US" sz="11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1100" dirty="0">
                          <a:solidFill>
                            <a:srgbClr val="2D2D2D"/>
                          </a:solidFill>
                          <a:latin typeface="Helvetica" pitchFamily="34" charset="0"/>
                          <a:ea typeface="Helvetica" pitchFamily="34" charset="-122"/>
                          <a:cs typeface="Helvetica" pitchFamily="34" charset="-120"/>
                        </a:rPr>
                        <a:t>ANOMALY</a:t>
                      </a:r>
                      <a:endParaRPr lang="en-US" sz="11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1100" dirty="0">
                          <a:solidFill>
                            <a:srgbClr val="2D2D2D"/>
                          </a:solidFill>
                          <a:latin typeface="Helvetica" pitchFamily="34" charset="0"/>
                          <a:ea typeface="Helvetica" pitchFamily="34" charset="-122"/>
                          <a:cs typeface="Helvetica" pitchFamily="34" charset="-120"/>
                        </a:rPr>
                        <a:t>Heartbleed</a:t>
                      </a:r>
                      <a:endParaRPr lang="en-US" sz="11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3"/>
                  </a:ext>
                </a:extLst>
              </a:tr>
              <a:tr h="320040">
                <a:tc>
                  <a:txBody>
                    <a:bodyPr/>
                    <a:lstStyle/>
                    <a:p>
                      <a:pPr marL="0" indent="0">
                        <a:buNone/>
                      </a:pPr>
                      <a:r>
                        <a:rPr lang="en-US" sz="1100" dirty="0">
                          <a:solidFill>
                            <a:srgbClr val="2D2D2D"/>
                          </a:solidFill>
                          <a:latin typeface="Helvetica" pitchFamily="34" charset="0"/>
                          <a:ea typeface="Helvetica" pitchFamily="34" charset="-122"/>
                          <a:cs typeface="Helvetica" pitchFamily="34" charset="-120"/>
                        </a:rPr>
                        <a:t>3</a:t>
                      </a:r>
                      <a:endParaRPr lang="en-US" sz="11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1100" dirty="0">
                          <a:solidFill>
                            <a:srgbClr val="2D2D2D"/>
                          </a:solidFill>
                          <a:latin typeface="Helvetica" pitchFamily="34" charset="0"/>
                          <a:ea typeface="Helvetica" pitchFamily="34" charset="-122"/>
                          <a:cs typeface="Helvetica" pitchFamily="34" charset="-120"/>
                        </a:rPr>
                        <a:t>BENIGN (99.98% conf)</a:t>
                      </a:r>
                      <a:endParaRPr lang="en-US" sz="11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1100" dirty="0">
                          <a:solidFill>
                            <a:srgbClr val="2D2D2D"/>
                          </a:solidFill>
                          <a:latin typeface="Helvetica" pitchFamily="34" charset="0"/>
                          <a:ea typeface="Helvetica" pitchFamily="34" charset="-122"/>
                          <a:cs typeface="Helvetica" pitchFamily="34" charset="-120"/>
                        </a:rPr>
                        <a:t>ANOMALY</a:t>
                      </a:r>
                      <a:endParaRPr lang="en-US" sz="11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1100" dirty="0">
                          <a:solidFill>
                            <a:srgbClr val="2D2D2D"/>
                          </a:solidFill>
                          <a:latin typeface="Helvetica" pitchFamily="34" charset="0"/>
                          <a:ea typeface="Helvetica" pitchFamily="34" charset="-122"/>
                          <a:cs typeface="Helvetica" pitchFamily="34" charset="-120"/>
                        </a:rPr>
                        <a:t>Heartbleed</a:t>
                      </a:r>
                      <a:endParaRPr lang="en-US" sz="11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Shape 4"/>
          <p:cNvSpPr/>
          <p:nvPr/>
        </p:nvSpPr>
        <p:spPr>
          <a:xfrm>
            <a:off x="640080" y="3474720"/>
            <a:ext cx="3749040" cy="1280160"/>
          </a:xfrm>
          <a:prstGeom prst="rect">
            <a:avLst/>
          </a:prstGeom>
          <a:solidFill>
            <a:srgbClr val="F5F5F5"/>
          </a:solidFill>
          <a:ln/>
        </p:spPr>
      </p:sp>
      <p:sp>
        <p:nvSpPr>
          <p:cNvPr id="8" name="Text 5"/>
          <p:cNvSpPr/>
          <p:nvPr/>
        </p:nvSpPr>
        <p:spPr>
          <a:xfrm>
            <a:off x="822960" y="3566160"/>
            <a:ext cx="3474720" cy="274320"/>
          </a:xfrm>
          <a:prstGeom prst="rect">
            <a:avLst/>
          </a:prstGeom>
          <a:noFill/>
          <a:ln/>
        </p:spPr>
        <p:txBody>
          <a:bodyPr wrap="square" lIns="0" tIns="0" rIns="0" bIns="0" rtlCol="0" anchor="ctr"/>
          <a:lstStyle/>
          <a:p>
            <a:pPr marL="0" indent="0">
              <a:buNone/>
            </a:pPr>
            <a:r>
              <a:rPr lang="en-US" sz="1000" b="1" dirty="0">
                <a:solidFill>
                  <a:srgbClr val="1A1A1A"/>
                </a:solidFill>
                <a:latin typeface="Helvetica" pitchFamily="34" charset="0"/>
                <a:ea typeface="Helvetica" pitchFamily="34" charset="-122"/>
                <a:cs typeface="Helvetica" pitchFamily="34" charset="-120"/>
              </a:rPr>
              <a:t>XGBoost (closed-set)</a:t>
            </a:r>
            <a:endParaRPr lang="en-US" sz="1000" dirty="0"/>
          </a:p>
        </p:txBody>
      </p:sp>
      <p:sp>
        <p:nvSpPr>
          <p:cNvPr id="9" name="Text 6"/>
          <p:cNvSpPr/>
          <p:nvPr/>
        </p:nvSpPr>
        <p:spPr>
          <a:xfrm>
            <a:off x="822960" y="3886200"/>
            <a:ext cx="3474720" cy="777240"/>
          </a:xfrm>
          <a:prstGeom prst="rect">
            <a:avLst/>
          </a:prstGeom>
          <a:noFill/>
          <a:ln/>
        </p:spPr>
        <p:txBody>
          <a:bodyPr wrap="square" lIns="0" tIns="0" rIns="0" bIns="0" rtlCol="0" anchor="ctr"/>
          <a:lstStyle/>
          <a:p>
            <a:pPr marL="0" indent="0">
              <a:lnSpc>
                <a:spcPct val="135000"/>
              </a:lnSpc>
              <a:buNone/>
            </a:pPr>
            <a:r>
              <a:rPr lang="en-US" sz="950" dirty="0">
                <a:solidFill>
                  <a:srgbClr val="4A4A4A"/>
                </a:solidFill>
                <a:latin typeface="Helvetica" pitchFamily="34" charset="0"/>
                <a:ea typeface="Helvetica" pitchFamily="34" charset="-122"/>
                <a:cs typeface="Helvetica" pitchFamily="34" charset="-120"/>
              </a:rPr>
              <a:t>Predicts BENIGN with 99.98% confidence on all Heartbleed samples. No anomaly mechanism exists. Completely silent failure the most dangerous outcome in a security system.</a:t>
            </a:r>
            <a:endParaRPr lang="en-US" sz="950" dirty="0"/>
          </a:p>
        </p:txBody>
      </p:sp>
      <p:sp>
        <p:nvSpPr>
          <p:cNvPr id="10" name="Shape 7"/>
          <p:cNvSpPr/>
          <p:nvPr/>
        </p:nvSpPr>
        <p:spPr>
          <a:xfrm>
            <a:off x="4754880" y="3474720"/>
            <a:ext cx="3749040" cy="1280160"/>
          </a:xfrm>
          <a:prstGeom prst="rect">
            <a:avLst/>
          </a:prstGeom>
          <a:solidFill>
            <a:srgbClr val="F5F5F5"/>
          </a:solidFill>
          <a:ln/>
        </p:spPr>
      </p:sp>
      <p:sp>
        <p:nvSpPr>
          <p:cNvPr id="11" name="Text 8"/>
          <p:cNvSpPr/>
          <p:nvPr/>
        </p:nvSpPr>
        <p:spPr>
          <a:xfrm>
            <a:off x="4937760" y="3566160"/>
            <a:ext cx="3474720" cy="274320"/>
          </a:xfrm>
          <a:prstGeom prst="rect">
            <a:avLst/>
          </a:prstGeom>
          <a:noFill/>
          <a:ln/>
        </p:spPr>
        <p:txBody>
          <a:bodyPr wrap="square" lIns="0" tIns="0" rIns="0" bIns="0" rtlCol="0" anchor="ctr"/>
          <a:lstStyle/>
          <a:p>
            <a:pPr marL="0" indent="0">
              <a:buNone/>
            </a:pPr>
            <a:r>
              <a:rPr lang="en-US" sz="1000" b="1" dirty="0">
                <a:solidFill>
                  <a:srgbClr val="1A1A1A"/>
                </a:solidFill>
                <a:latin typeface="Helvetica" pitchFamily="34" charset="0"/>
                <a:ea typeface="Helvetica" pitchFamily="34" charset="-122"/>
                <a:cs typeface="Helvetica" pitchFamily="34" charset="-120"/>
              </a:rPr>
              <a:t>HybridVAE (open-set)</a:t>
            </a:r>
            <a:endParaRPr lang="en-US" sz="1000" dirty="0"/>
          </a:p>
        </p:txBody>
      </p:sp>
      <p:sp>
        <p:nvSpPr>
          <p:cNvPr id="12" name="Text 9"/>
          <p:cNvSpPr/>
          <p:nvPr/>
        </p:nvSpPr>
        <p:spPr>
          <a:xfrm>
            <a:off x="4937760" y="3886200"/>
            <a:ext cx="3474720" cy="777240"/>
          </a:xfrm>
          <a:prstGeom prst="rect">
            <a:avLst/>
          </a:prstGeom>
          <a:noFill/>
          <a:ln/>
        </p:spPr>
        <p:txBody>
          <a:bodyPr wrap="square" lIns="0" tIns="0" rIns="0" bIns="0" rtlCol="0" anchor="ctr"/>
          <a:lstStyle/>
          <a:p>
            <a:pPr marL="0" indent="0">
              <a:lnSpc>
                <a:spcPct val="135000"/>
              </a:lnSpc>
              <a:buNone/>
            </a:pPr>
            <a:r>
              <a:rPr lang="en-US" sz="950" dirty="0">
                <a:solidFill>
                  <a:srgbClr val="4A4A4A"/>
                </a:solidFill>
                <a:latin typeface="Helvetica" pitchFamily="34" charset="0"/>
                <a:ea typeface="Helvetica" pitchFamily="34" charset="-122"/>
                <a:cs typeface="Helvetica" pitchFamily="34" charset="-120"/>
              </a:rPr>
              <a:t>Mean reconstruction error = 3.74 (BENIGN mean = 0.16). Exceeds 95th-pct threshold (0.648) by 5.8×. All 4 samples flagged as ANOMALY. The system alerts operators even though it has never seen Heartbleed.</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2743200" cy="274320"/>
          </a:xfrm>
          <a:prstGeom prst="rect">
            <a:avLst/>
          </a:prstGeom>
          <a:noFill/>
          <a:ln/>
        </p:spPr>
        <p:txBody>
          <a:bodyPr wrap="square" lIns="0" tIns="0" rIns="0" bIns="0" rtlCol="0" anchor="ctr"/>
          <a:lstStyle/>
          <a:p>
            <a:pPr marL="0" indent="0">
              <a:buNone/>
            </a:pPr>
            <a:r>
              <a:rPr lang="en-US" sz="800" kern="0" spc="300" dirty="0">
                <a:solidFill>
                  <a:srgbClr val="7A7A7A"/>
                </a:solidFill>
                <a:latin typeface="Helvetica" pitchFamily="34" charset="0"/>
                <a:ea typeface="Helvetica" pitchFamily="34" charset="-122"/>
                <a:cs typeface="Helvetica" pitchFamily="34" charset="-120"/>
              </a:rPr>
              <a:t>8-CLASS EVALUATION</a:t>
            </a:r>
            <a:endParaRPr lang="en-US" sz="800" dirty="0"/>
          </a:p>
        </p:txBody>
      </p:sp>
      <p:sp>
        <p:nvSpPr>
          <p:cNvPr id="3" name="Text 1"/>
          <p:cNvSpPr/>
          <p:nvPr/>
        </p:nvSpPr>
        <p:spPr>
          <a:xfrm>
            <a:off x="8229600" y="4617720"/>
            <a:ext cx="640080" cy="365760"/>
          </a:xfrm>
          <a:prstGeom prst="rect">
            <a:avLst/>
          </a:prstGeom>
          <a:noFill/>
          <a:ln/>
        </p:spPr>
        <p:txBody>
          <a:bodyPr wrap="square" lIns="0" tIns="0" rIns="0" bIns="0" rtlCol="0" anchor="ctr"/>
          <a:lstStyle/>
          <a:p>
            <a:pPr marL="0" indent="0" algn="r">
              <a:buNone/>
            </a:pPr>
            <a:r>
              <a:rPr lang="en-US" sz="900" dirty="0">
                <a:solidFill>
                  <a:srgbClr val="C0C0C0"/>
                </a:solidFill>
                <a:latin typeface="Helvetica" pitchFamily="34" charset="0"/>
                <a:ea typeface="Helvetica" pitchFamily="34" charset="-122"/>
                <a:cs typeface="Helvetica" pitchFamily="34" charset="-120"/>
              </a:rPr>
              <a:t>17</a:t>
            </a:r>
            <a:endParaRPr lang="en-US" sz="900" dirty="0"/>
          </a:p>
        </p:txBody>
      </p:sp>
      <p:sp>
        <p:nvSpPr>
          <p:cNvPr id="4" name="Text 2"/>
          <p:cNvSpPr/>
          <p:nvPr/>
        </p:nvSpPr>
        <p:spPr>
          <a:xfrm>
            <a:off x="640080" y="594360"/>
            <a:ext cx="7315200" cy="777240"/>
          </a:xfrm>
          <a:prstGeom prst="rect">
            <a:avLst/>
          </a:prstGeom>
          <a:noFill/>
          <a:ln/>
        </p:spPr>
        <p:txBody>
          <a:bodyPr wrap="square" lIns="0" tIns="0" rIns="0" bIns="0" rtlCol="0" anchor="ctr"/>
          <a:lstStyle/>
          <a:p>
            <a:pPr marL="0" indent="0">
              <a:lnSpc>
                <a:spcPct val="110000"/>
              </a:lnSpc>
              <a:buNone/>
            </a:pPr>
            <a:r>
              <a:rPr lang="en-US" sz="2600" b="1" dirty="0">
                <a:solidFill>
                  <a:srgbClr val="1A1A1A"/>
                </a:solidFill>
                <a:latin typeface="Helvetica" pitchFamily="34" charset="0"/>
                <a:ea typeface="Helvetica" pitchFamily="34" charset="-122"/>
                <a:cs typeface="Helvetica" pitchFamily="34" charset="-120"/>
              </a:rPr>
              <a:t>8-class model retains performance</a:t>
            </a:r>
            <a:endParaRPr lang="en-US" sz="2600" dirty="0"/>
          </a:p>
          <a:p>
            <a:pPr marL="0" indent="0">
              <a:lnSpc>
                <a:spcPct val="110000"/>
              </a:lnSpc>
              <a:buNone/>
            </a:pPr>
            <a:r>
              <a:rPr lang="en-US" sz="2600" b="1" dirty="0">
                <a:solidFill>
                  <a:srgbClr val="1A1A1A"/>
                </a:solidFill>
                <a:latin typeface="Helvetica" pitchFamily="34" charset="0"/>
                <a:ea typeface="Helvetica" pitchFamily="34" charset="-122"/>
                <a:cs typeface="Helvetica" pitchFamily="34" charset="-120"/>
              </a:rPr>
              <a:t>on known attacks</a:t>
            </a:r>
            <a:endParaRPr lang="en-US" sz="2600" dirty="0"/>
          </a:p>
        </p:txBody>
      </p:sp>
      <p:sp>
        <p:nvSpPr>
          <p:cNvPr id="5" name="Shape 3"/>
          <p:cNvSpPr/>
          <p:nvPr/>
        </p:nvSpPr>
        <p:spPr>
          <a:xfrm>
            <a:off x="640080" y="1417320"/>
            <a:ext cx="7863840" cy="0"/>
          </a:xfrm>
          <a:prstGeom prst="line">
            <a:avLst/>
          </a:prstGeom>
          <a:noFill/>
          <a:ln w="9525">
            <a:solidFill>
              <a:srgbClr val="D8D8D8"/>
            </a:solidFill>
            <a:prstDash val="solid"/>
          </a:ln>
        </p:spPr>
      </p:sp>
      <p:pic>
        <p:nvPicPr>
          <p:cNvPr id="6" name="Image 0" descr="preencoded.png"/>
          <p:cNvPicPr>
            <a:picLocks noChangeAspect="1"/>
          </p:cNvPicPr>
          <p:nvPr/>
        </p:nvPicPr>
        <p:blipFill>
          <a:blip r:embed="rId3"/>
          <a:stretch>
            <a:fillRect/>
          </a:stretch>
        </p:blipFill>
        <p:spPr>
          <a:xfrm>
            <a:off x="457200" y="1645920"/>
            <a:ext cx="5943600" cy="2286000"/>
          </a:xfrm>
          <a:prstGeom prst="rect">
            <a:avLst/>
          </a:prstGeom>
        </p:spPr>
      </p:pic>
      <p:sp>
        <p:nvSpPr>
          <p:cNvPr id="7" name="Text 4"/>
          <p:cNvSpPr/>
          <p:nvPr/>
        </p:nvSpPr>
        <p:spPr>
          <a:xfrm>
            <a:off x="6583680" y="1828800"/>
            <a:ext cx="1828800" cy="457200"/>
          </a:xfrm>
          <a:prstGeom prst="rect">
            <a:avLst/>
          </a:prstGeom>
          <a:noFill/>
          <a:ln/>
        </p:spPr>
        <p:txBody>
          <a:bodyPr wrap="square" lIns="0" tIns="0" rIns="0" bIns="0" rtlCol="0" anchor="ctr"/>
          <a:lstStyle/>
          <a:p>
            <a:pPr marL="0" indent="0">
              <a:buNone/>
            </a:pPr>
            <a:r>
              <a:rPr lang="en-US" sz="2800" b="1" dirty="0">
                <a:solidFill>
                  <a:srgbClr val="1A1A1A"/>
                </a:solidFill>
                <a:latin typeface="Helvetica" pitchFamily="34" charset="0"/>
                <a:ea typeface="Helvetica" pitchFamily="34" charset="-122"/>
                <a:cs typeface="Helvetica" pitchFamily="34" charset="-120"/>
              </a:rPr>
              <a:t>0.8538</a:t>
            </a:r>
            <a:endParaRPr lang="en-US" sz="2800" dirty="0"/>
          </a:p>
        </p:txBody>
      </p:sp>
      <p:sp>
        <p:nvSpPr>
          <p:cNvPr id="8" name="Text 5"/>
          <p:cNvSpPr/>
          <p:nvPr/>
        </p:nvSpPr>
        <p:spPr>
          <a:xfrm>
            <a:off x="6583680" y="2286000"/>
            <a:ext cx="1828800" cy="228600"/>
          </a:xfrm>
          <a:prstGeom prst="rect">
            <a:avLst/>
          </a:prstGeom>
          <a:noFill/>
          <a:ln/>
        </p:spPr>
        <p:txBody>
          <a:bodyPr wrap="square" lIns="0" tIns="0" rIns="0" bIns="0" rtlCol="0" anchor="ctr"/>
          <a:lstStyle/>
          <a:p>
            <a:pPr marL="0" indent="0">
              <a:buNone/>
            </a:pPr>
            <a:r>
              <a:rPr lang="en-US" sz="900" dirty="0">
                <a:solidFill>
                  <a:srgbClr val="7A7A7A"/>
                </a:solidFill>
                <a:latin typeface="Helvetica" pitchFamily="34" charset="0"/>
                <a:ea typeface="Helvetica" pitchFamily="34" charset="-122"/>
                <a:cs typeface="Helvetica" pitchFamily="34" charset="-120"/>
              </a:rPr>
              <a:t>Macro F1 (8-class)</a:t>
            </a:r>
            <a:endParaRPr lang="en-US" sz="900" dirty="0"/>
          </a:p>
        </p:txBody>
      </p:sp>
      <p:sp>
        <p:nvSpPr>
          <p:cNvPr id="9" name="Text 6"/>
          <p:cNvSpPr/>
          <p:nvPr/>
        </p:nvSpPr>
        <p:spPr>
          <a:xfrm>
            <a:off x="6583680" y="2743200"/>
            <a:ext cx="1828800" cy="457200"/>
          </a:xfrm>
          <a:prstGeom prst="rect">
            <a:avLst/>
          </a:prstGeom>
          <a:noFill/>
          <a:ln/>
        </p:spPr>
        <p:txBody>
          <a:bodyPr wrap="square" lIns="0" tIns="0" rIns="0" bIns="0" rtlCol="0" anchor="ctr"/>
          <a:lstStyle/>
          <a:p>
            <a:pPr marL="0" indent="0">
              <a:buNone/>
            </a:pPr>
            <a:r>
              <a:rPr lang="en-US" sz="2800" b="1" dirty="0">
                <a:solidFill>
                  <a:srgbClr val="1A1A1A"/>
                </a:solidFill>
                <a:latin typeface="Helvetica" pitchFamily="34" charset="0"/>
                <a:ea typeface="Helvetica" pitchFamily="34" charset="-122"/>
                <a:cs typeface="Helvetica" pitchFamily="34" charset="-120"/>
              </a:rPr>
              <a:t>0.9920</a:t>
            </a:r>
            <a:endParaRPr lang="en-US" sz="2800" dirty="0"/>
          </a:p>
        </p:txBody>
      </p:sp>
      <p:sp>
        <p:nvSpPr>
          <p:cNvPr id="10" name="Text 7"/>
          <p:cNvSpPr/>
          <p:nvPr/>
        </p:nvSpPr>
        <p:spPr>
          <a:xfrm>
            <a:off x="6583680" y="3200400"/>
            <a:ext cx="1828800" cy="228600"/>
          </a:xfrm>
          <a:prstGeom prst="rect">
            <a:avLst/>
          </a:prstGeom>
          <a:noFill/>
          <a:ln/>
        </p:spPr>
        <p:txBody>
          <a:bodyPr wrap="square" lIns="0" tIns="0" rIns="0" bIns="0" rtlCol="0" anchor="ctr"/>
          <a:lstStyle/>
          <a:p>
            <a:pPr marL="0" indent="0">
              <a:buNone/>
            </a:pPr>
            <a:r>
              <a:rPr lang="en-US" sz="900" dirty="0">
                <a:solidFill>
                  <a:srgbClr val="7A7A7A"/>
                </a:solidFill>
                <a:latin typeface="Helvetica" pitchFamily="34" charset="0"/>
                <a:ea typeface="Helvetica" pitchFamily="34" charset="-122"/>
                <a:cs typeface="Helvetica" pitchFamily="34" charset="-120"/>
              </a:rPr>
              <a:t>Weighted F1</a:t>
            </a:r>
            <a:endParaRPr lang="en-US" sz="900" dirty="0"/>
          </a:p>
        </p:txBody>
      </p:sp>
      <p:sp>
        <p:nvSpPr>
          <p:cNvPr id="11" name="Text 8"/>
          <p:cNvSpPr/>
          <p:nvPr/>
        </p:nvSpPr>
        <p:spPr>
          <a:xfrm>
            <a:off x="640080" y="4251960"/>
            <a:ext cx="7863840" cy="457200"/>
          </a:xfrm>
          <a:prstGeom prst="rect">
            <a:avLst/>
          </a:prstGeom>
          <a:noFill/>
          <a:ln/>
        </p:spPr>
        <p:txBody>
          <a:bodyPr wrap="square" lIns="0" tIns="0" rIns="0" bIns="0" rtlCol="0" anchor="ctr"/>
          <a:lstStyle/>
          <a:p>
            <a:pPr marL="0" indent="0">
              <a:lnSpc>
                <a:spcPct val="130000"/>
              </a:lnSpc>
              <a:buNone/>
            </a:pPr>
            <a:r>
              <a:rPr lang="en-US" sz="1000" dirty="0">
                <a:solidFill>
                  <a:srgbClr val="4A4A4A"/>
                </a:solidFill>
                <a:latin typeface="Helvetica" pitchFamily="34" charset="0"/>
                <a:ea typeface="Helvetica" pitchFamily="34" charset="-122"/>
                <a:cs typeface="Helvetica" pitchFamily="34" charset="-120"/>
              </a:rPr>
              <a:t>Removing one class does not significantly degrade performance on the remaining eight validating that the withheld-class experiment is a fair test.</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1A1A1A"/>
        </a:solidFill>
        <a:effectLst/>
      </p:bgPr>
    </p:bg>
    <p:spTree>
      <p:nvGrpSpPr>
        <p:cNvPr id="1" name=""/>
        <p:cNvGrpSpPr/>
        <p:nvPr/>
      </p:nvGrpSpPr>
      <p:grpSpPr>
        <a:xfrm>
          <a:off x="0" y="0"/>
          <a:ext cx="0" cy="0"/>
          <a:chOff x="0" y="0"/>
          <a:chExt cx="0" cy="0"/>
        </a:xfrm>
      </p:grpSpPr>
      <p:sp>
        <p:nvSpPr>
          <p:cNvPr id="2" name="Text 0"/>
          <p:cNvSpPr/>
          <p:nvPr/>
        </p:nvSpPr>
        <p:spPr>
          <a:xfrm>
            <a:off x="640080" y="914400"/>
            <a:ext cx="1828800" cy="1097280"/>
          </a:xfrm>
          <a:prstGeom prst="rect">
            <a:avLst/>
          </a:prstGeom>
          <a:noFill/>
          <a:ln/>
        </p:spPr>
        <p:txBody>
          <a:bodyPr wrap="square" lIns="0" tIns="0" rIns="0" bIns="0" rtlCol="0" anchor="ctr"/>
          <a:lstStyle/>
          <a:p>
            <a:pPr marL="0" indent="0">
              <a:buNone/>
            </a:pPr>
            <a:r>
              <a:rPr lang="en-US" sz="7200" b="1" dirty="0">
                <a:solidFill>
                  <a:srgbClr val="7A7A7A"/>
                </a:solidFill>
                <a:latin typeface="Helvetica" pitchFamily="34" charset="0"/>
                <a:ea typeface="Helvetica" pitchFamily="34" charset="-122"/>
                <a:cs typeface="Helvetica" pitchFamily="34" charset="-120"/>
              </a:rPr>
              <a:t>03</a:t>
            </a:r>
            <a:endParaRPr lang="en-US" sz="7200" dirty="0"/>
          </a:p>
        </p:txBody>
      </p:sp>
      <p:sp>
        <p:nvSpPr>
          <p:cNvPr id="3" name="Text 1"/>
          <p:cNvSpPr/>
          <p:nvPr/>
        </p:nvSpPr>
        <p:spPr>
          <a:xfrm>
            <a:off x="640080" y="2011680"/>
            <a:ext cx="7315200" cy="1371600"/>
          </a:xfrm>
          <a:prstGeom prst="rect">
            <a:avLst/>
          </a:prstGeom>
          <a:noFill/>
          <a:ln/>
        </p:spPr>
        <p:txBody>
          <a:bodyPr wrap="square" lIns="0" tIns="0" rIns="0" bIns="0" rtlCol="0" anchor="ctr"/>
          <a:lstStyle/>
          <a:p>
            <a:pPr marL="0" indent="0">
              <a:lnSpc>
                <a:spcPct val="110000"/>
              </a:lnSpc>
              <a:buNone/>
            </a:pPr>
            <a:r>
              <a:rPr lang="en-US" sz="4000" b="1" dirty="0">
                <a:solidFill>
                  <a:srgbClr val="FFFFFF"/>
                </a:solidFill>
                <a:latin typeface="Helvetica" pitchFamily="34" charset="0"/>
                <a:ea typeface="Helvetica" pitchFamily="34" charset="-122"/>
                <a:cs typeface="Helvetica" pitchFamily="34" charset="-120"/>
              </a:rPr>
              <a:t>COMPRESSING</a:t>
            </a:r>
            <a:endParaRPr lang="en-US" sz="4000" dirty="0"/>
          </a:p>
          <a:p>
            <a:pPr marL="0" indent="0">
              <a:lnSpc>
                <a:spcPct val="110000"/>
              </a:lnSpc>
              <a:buNone/>
            </a:pPr>
            <a:r>
              <a:rPr lang="en-US" sz="4000" b="1" dirty="0">
                <a:solidFill>
                  <a:srgbClr val="FFFFFF"/>
                </a:solidFill>
                <a:latin typeface="Helvetica" pitchFamily="34" charset="0"/>
                <a:ea typeface="Helvetica" pitchFamily="34" charset="-122"/>
                <a:cs typeface="Helvetica" pitchFamily="34" charset="-120"/>
              </a:rPr>
              <a:t>FOR THE EDGE</a:t>
            </a:r>
            <a:endParaRPr lang="en-US" sz="4000" dirty="0"/>
          </a:p>
        </p:txBody>
      </p:sp>
      <p:sp>
        <p:nvSpPr>
          <p:cNvPr id="4" name="Shape 2"/>
          <p:cNvSpPr/>
          <p:nvPr/>
        </p:nvSpPr>
        <p:spPr>
          <a:xfrm>
            <a:off x="640080" y="3474720"/>
            <a:ext cx="2743200" cy="0"/>
          </a:xfrm>
          <a:prstGeom prst="line">
            <a:avLst/>
          </a:prstGeom>
          <a:noFill/>
          <a:ln w="9525">
            <a:solidFill>
              <a:srgbClr val="D8D8D8"/>
            </a:solidFill>
            <a:prstDash val="solid"/>
          </a:ln>
        </p:spPr>
      </p:sp>
      <p:sp>
        <p:nvSpPr>
          <p:cNvPr id="5" name="Text 3"/>
          <p:cNvSpPr/>
          <p:nvPr/>
        </p:nvSpPr>
        <p:spPr>
          <a:xfrm>
            <a:off x="640080" y="3657600"/>
            <a:ext cx="7315200" cy="365760"/>
          </a:xfrm>
          <a:prstGeom prst="rect">
            <a:avLst/>
          </a:prstGeom>
          <a:noFill/>
          <a:ln/>
        </p:spPr>
        <p:txBody>
          <a:bodyPr wrap="square" lIns="0" tIns="0" rIns="0" bIns="0" rtlCol="0" anchor="ctr"/>
          <a:lstStyle/>
          <a:p>
            <a:pPr marL="0" indent="0">
              <a:buNone/>
            </a:pPr>
            <a:r>
              <a:rPr lang="en-US" sz="1200" dirty="0">
                <a:solidFill>
                  <a:srgbClr val="7A7A7A"/>
                </a:solidFill>
                <a:latin typeface="Helvetica" pitchFamily="34" charset="0"/>
                <a:ea typeface="Helvetica" pitchFamily="34" charset="-122"/>
                <a:cs typeface="Helvetica" pitchFamily="34" charset="-120"/>
              </a:rPr>
              <a:t>Knowledge Distillation  ·  Magnitude Pruning  ·  IMP</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2743200" cy="274320"/>
          </a:xfrm>
          <a:prstGeom prst="rect">
            <a:avLst/>
          </a:prstGeom>
          <a:noFill/>
          <a:ln/>
        </p:spPr>
        <p:txBody>
          <a:bodyPr wrap="square" lIns="0" tIns="0" rIns="0" bIns="0" rtlCol="0" anchor="ctr"/>
          <a:lstStyle/>
          <a:p>
            <a:pPr marL="0" indent="0">
              <a:buNone/>
            </a:pPr>
            <a:r>
              <a:rPr lang="en-US" sz="800" kern="0" spc="300" dirty="0">
                <a:solidFill>
                  <a:srgbClr val="7A7A7A"/>
                </a:solidFill>
                <a:latin typeface="Helvetica" pitchFamily="34" charset="0"/>
                <a:ea typeface="Helvetica" pitchFamily="34" charset="-122"/>
                <a:cs typeface="Helvetica" pitchFamily="34" charset="-120"/>
              </a:rPr>
              <a:t>KNOWLEDGE DISTILLATION</a:t>
            </a:r>
            <a:endParaRPr lang="en-US" sz="800" dirty="0"/>
          </a:p>
        </p:txBody>
      </p:sp>
      <p:sp>
        <p:nvSpPr>
          <p:cNvPr id="3" name="Text 1"/>
          <p:cNvSpPr/>
          <p:nvPr/>
        </p:nvSpPr>
        <p:spPr>
          <a:xfrm>
            <a:off x="8229600" y="4617720"/>
            <a:ext cx="640080" cy="365760"/>
          </a:xfrm>
          <a:prstGeom prst="rect">
            <a:avLst/>
          </a:prstGeom>
          <a:noFill/>
          <a:ln/>
        </p:spPr>
        <p:txBody>
          <a:bodyPr wrap="square" lIns="0" tIns="0" rIns="0" bIns="0" rtlCol="0" anchor="ctr"/>
          <a:lstStyle/>
          <a:p>
            <a:pPr marL="0" indent="0" algn="r">
              <a:buNone/>
            </a:pPr>
            <a:r>
              <a:rPr lang="en-US" sz="900" dirty="0">
                <a:solidFill>
                  <a:srgbClr val="C0C0C0"/>
                </a:solidFill>
                <a:latin typeface="Helvetica" pitchFamily="34" charset="0"/>
                <a:ea typeface="Helvetica" pitchFamily="34" charset="-122"/>
                <a:cs typeface="Helvetica" pitchFamily="34" charset="-120"/>
              </a:rPr>
              <a:t>19</a:t>
            </a:r>
            <a:endParaRPr lang="en-US" sz="900" dirty="0"/>
          </a:p>
        </p:txBody>
      </p:sp>
      <p:sp>
        <p:nvSpPr>
          <p:cNvPr id="4" name="Text 2"/>
          <p:cNvSpPr/>
          <p:nvPr/>
        </p:nvSpPr>
        <p:spPr>
          <a:xfrm>
            <a:off x="640080" y="640080"/>
            <a:ext cx="7315200" cy="548640"/>
          </a:xfrm>
          <a:prstGeom prst="rect">
            <a:avLst/>
          </a:prstGeom>
          <a:noFill/>
          <a:ln/>
        </p:spPr>
        <p:txBody>
          <a:bodyPr wrap="square" lIns="0" tIns="0" rIns="0" bIns="0" rtlCol="0" anchor="ctr"/>
          <a:lstStyle/>
          <a:p>
            <a:pPr marL="0" indent="0">
              <a:buNone/>
            </a:pPr>
            <a:r>
              <a:rPr lang="en-US" sz="3200" b="1" dirty="0">
                <a:solidFill>
                  <a:srgbClr val="1A1A1A"/>
                </a:solidFill>
                <a:latin typeface="Helvetica" pitchFamily="34" charset="0"/>
                <a:ea typeface="Helvetica" pitchFamily="34" charset="-122"/>
                <a:cs typeface="Helvetica" pitchFamily="34" charset="-120"/>
              </a:rPr>
              <a:t>Why distillation?</a:t>
            </a:r>
            <a:endParaRPr lang="en-US" sz="3200" dirty="0"/>
          </a:p>
        </p:txBody>
      </p:sp>
      <p:sp>
        <p:nvSpPr>
          <p:cNvPr id="5" name="Shape 3"/>
          <p:cNvSpPr/>
          <p:nvPr/>
        </p:nvSpPr>
        <p:spPr>
          <a:xfrm>
            <a:off x="640080" y="1234440"/>
            <a:ext cx="7863840" cy="0"/>
          </a:xfrm>
          <a:prstGeom prst="line">
            <a:avLst/>
          </a:prstGeom>
          <a:noFill/>
          <a:ln w="9525">
            <a:solidFill>
              <a:srgbClr val="D8D8D8"/>
            </a:solidFill>
            <a:prstDash val="solid"/>
          </a:ln>
        </p:spPr>
      </p:sp>
      <p:sp>
        <p:nvSpPr>
          <p:cNvPr id="6" name="Text 4"/>
          <p:cNvSpPr/>
          <p:nvPr/>
        </p:nvSpPr>
        <p:spPr>
          <a:xfrm>
            <a:off x="640080" y="1417320"/>
            <a:ext cx="7863840" cy="640080"/>
          </a:xfrm>
          <a:prstGeom prst="rect">
            <a:avLst/>
          </a:prstGeom>
          <a:noFill/>
          <a:ln/>
        </p:spPr>
        <p:txBody>
          <a:bodyPr wrap="square" lIns="0" tIns="0" rIns="0" bIns="0" rtlCol="0" anchor="ctr"/>
          <a:lstStyle/>
          <a:p>
            <a:pPr marL="0" indent="0">
              <a:lnSpc>
                <a:spcPct val="140000"/>
              </a:lnSpc>
              <a:buNone/>
            </a:pPr>
            <a:r>
              <a:rPr lang="en-US" sz="1100" dirty="0">
                <a:solidFill>
                  <a:srgbClr val="4A4A4A"/>
                </a:solidFill>
                <a:latin typeface="Helvetica" pitchFamily="34" charset="0"/>
                <a:ea typeface="Helvetica" pitchFamily="34" charset="-122"/>
                <a:cs typeface="Helvetica" pitchFamily="34" charset="-120"/>
              </a:rPr>
              <a:t>The HybridVAE teacher has 749K parameters and the XGBoost has 18 MB of trees. Edge devices need something smaller. Knowledge distillation transfers the teacher's learned decision boundaries into a compact student network that retains most of the teacher's accuracy at a fraction of the size.</a:t>
            </a:r>
            <a:endParaRPr lang="en-US" sz="1100" dirty="0"/>
          </a:p>
        </p:txBody>
      </p:sp>
      <p:sp>
        <p:nvSpPr>
          <p:cNvPr id="7" name="Text 5"/>
          <p:cNvSpPr/>
          <p:nvPr/>
        </p:nvSpPr>
        <p:spPr>
          <a:xfrm>
            <a:off x="640080" y="2286000"/>
            <a:ext cx="7863840" cy="320040"/>
          </a:xfrm>
          <a:prstGeom prst="rect">
            <a:avLst/>
          </a:prstGeom>
          <a:noFill/>
          <a:ln/>
        </p:spPr>
        <p:txBody>
          <a:bodyPr wrap="square" lIns="0" tIns="0" rIns="0" bIns="0" rtlCol="0" anchor="ctr"/>
          <a:lstStyle/>
          <a:p>
            <a:pPr marL="0" indent="0">
              <a:buNone/>
            </a:pPr>
            <a:r>
              <a:rPr lang="en-US" sz="1000" b="1" dirty="0">
                <a:solidFill>
                  <a:srgbClr val="2D2D2D"/>
                </a:solidFill>
                <a:latin typeface="Helvetica" pitchFamily="34" charset="0"/>
                <a:ea typeface="Helvetica" pitchFamily="34" charset="-122"/>
                <a:cs typeface="Helvetica" pitchFamily="34" charset="-120"/>
              </a:rPr>
              <a:t>Setup: Temperature T=4.0  ·  α=0.7 (70% soft labels, 30% focal loss)  ·  Student: 221,462 params (3.38× smaller)</a:t>
            </a:r>
            <a:endParaRPr lang="en-US" sz="1000" dirty="0"/>
          </a:p>
        </p:txBody>
      </p:sp>
      <p:sp>
        <p:nvSpPr>
          <p:cNvPr id="8" name="Shape 6"/>
          <p:cNvSpPr/>
          <p:nvPr/>
        </p:nvSpPr>
        <p:spPr>
          <a:xfrm>
            <a:off x="640080" y="2743200"/>
            <a:ext cx="3749040" cy="2103120"/>
          </a:xfrm>
          <a:prstGeom prst="rect">
            <a:avLst/>
          </a:prstGeom>
          <a:solidFill>
            <a:srgbClr val="F5F5F5"/>
          </a:solidFill>
          <a:ln/>
        </p:spPr>
      </p:sp>
      <p:sp>
        <p:nvSpPr>
          <p:cNvPr id="9" name="Text 7"/>
          <p:cNvSpPr/>
          <p:nvPr/>
        </p:nvSpPr>
        <p:spPr>
          <a:xfrm>
            <a:off x="822960" y="2834640"/>
            <a:ext cx="3474720" cy="228600"/>
          </a:xfrm>
          <a:prstGeom prst="rect">
            <a:avLst/>
          </a:prstGeom>
          <a:noFill/>
          <a:ln/>
        </p:spPr>
        <p:txBody>
          <a:bodyPr wrap="square" lIns="0" tIns="0" rIns="0" bIns="0" rtlCol="0" anchor="ctr"/>
          <a:lstStyle/>
          <a:p>
            <a:pPr marL="0" indent="0">
              <a:buNone/>
            </a:pPr>
            <a:r>
              <a:rPr lang="en-US" sz="800" kern="0" spc="200" dirty="0">
                <a:solidFill>
                  <a:srgbClr val="7A7A7A"/>
                </a:solidFill>
                <a:latin typeface="Helvetica" pitchFamily="34" charset="0"/>
                <a:ea typeface="Helvetica" pitchFamily="34" charset="-122"/>
                <a:cs typeface="Helvetica" pitchFamily="34" charset="-120"/>
              </a:rPr>
              <a:t>Experiment C-i</a:t>
            </a:r>
            <a:endParaRPr lang="en-US" sz="800" dirty="0"/>
          </a:p>
        </p:txBody>
      </p:sp>
      <p:sp>
        <p:nvSpPr>
          <p:cNvPr id="10" name="Text 8"/>
          <p:cNvSpPr/>
          <p:nvPr/>
        </p:nvSpPr>
        <p:spPr>
          <a:xfrm>
            <a:off x="822960" y="3063240"/>
            <a:ext cx="3474720" cy="274320"/>
          </a:xfrm>
          <a:prstGeom prst="rect">
            <a:avLst/>
          </a:prstGeom>
          <a:noFill/>
          <a:ln/>
        </p:spPr>
        <p:txBody>
          <a:bodyPr wrap="square" lIns="0" tIns="0" rIns="0" bIns="0" rtlCol="0" anchor="ctr"/>
          <a:lstStyle/>
          <a:p>
            <a:pPr marL="0" indent="0">
              <a:buNone/>
            </a:pPr>
            <a:r>
              <a:rPr lang="en-US" sz="1300" b="1" dirty="0">
                <a:solidFill>
                  <a:srgbClr val="1A1A1A"/>
                </a:solidFill>
                <a:latin typeface="Helvetica" pitchFamily="34" charset="0"/>
                <a:ea typeface="Helvetica" pitchFamily="34" charset="-122"/>
                <a:cs typeface="Helvetica" pitchFamily="34" charset="-120"/>
              </a:rPr>
              <a:t>HybridVAE → Student HybridVAE</a:t>
            </a:r>
            <a:endParaRPr lang="en-US" sz="1300" dirty="0"/>
          </a:p>
        </p:txBody>
      </p:sp>
      <p:sp>
        <p:nvSpPr>
          <p:cNvPr id="11" name="Text 9"/>
          <p:cNvSpPr/>
          <p:nvPr/>
        </p:nvSpPr>
        <p:spPr>
          <a:xfrm>
            <a:off x="822960" y="3429000"/>
            <a:ext cx="3474720" cy="1188720"/>
          </a:xfrm>
          <a:prstGeom prst="rect">
            <a:avLst/>
          </a:prstGeom>
          <a:noFill/>
          <a:ln/>
        </p:spPr>
        <p:txBody>
          <a:bodyPr wrap="square" lIns="0" tIns="0" rIns="0" bIns="0" rtlCol="0" anchor="ctr"/>
          <a:lstStyle/>
          <a:p>
            <a:pPr marL="0" indent="0">
              <a:lnSpc>
                <a:spcPct val="140000"/>
              </a:lnSpc>
              <a:buNone/>
            </a:pPr>
            <a:r>
              <a:rPr lang="en-US" sz="950" dirty="0">
                <a:solidFill>
                  <a:srgbClr val="4A4A4A"/>
                </a:solidFill>
                <a:latin typeface="Helvetica" pitchFamily="34" charset="0"/>
                <a:ea typeface="Helvetica" pitchFamily="34" charset="-122"/>
                <a:cs typeface="Helvetica" pitchFamily="34" charset="-120"/>
              </a:rPr>
              <a:t>Teacher: HybridVAE (749K params, F1=0.87)</a:t>
            </a:r>
            <a:endParaRPr lang="en-US" sz="950" dirty="0"/>
          </a:p>
          <a:p>
            <a:pPr marL="0" indent="0">
              <a:lnSpc>
                <a:spcPct val="140000"/>
              </a:lnSpc>
              <a:buNone/>
            </a:pPr>
            <a:r>
              <a:rPr lang="en-US" sz="950" dirty="0">
                <a:solidFill>
                  <a:srgbClr val="4A4A4A"/>
                </a:solidFill>
                <a:latin typeface="Helvetica" pitchFamily="34" charset="0"/>
                <a:ea typeface="Helvetica" pitchFamily="34" charset="-122"/>
                <a:cs typeface="Helvetica" pitchFamily="34" charset="-120"/>
              </a:rPr>
              <a:t>Student: HybridVAE (221K params)</a:t>
            </a:r>
            <a:endParaRPr lang="en-US" sz="950" dirty="0"/>
          </a:p>
          <a:p>
            <a:pPr marL="0" indent="0">
              <a:lnSpc>
                <a:spcPct val="140000"/>
              </a:lnSpc>
              <a:buNone/>
            </a:pPr>
            <a:endParaRPr lang="en-US" sz="950" dirty="0"/>
          </a:p>
          <a:p>
            <a:pPr marL="0" indent="0">
              <a:lnSpc>
                <a:spcPct val="140000"/>
              </a:lnSpc>
              <a:buNone/>
            </a:pPr>
            <a:r>
              <a:rPr lang="en-US" sz="950" dirty="0">
                <a:solidFill>
                  <a:srgbClr val="4A4A4A"/>
                </a:solidFill>
                <a:latin typeface="Helvetica" pitchFamily="34" charset="0"/>
                <a:ea typeface="Helvetica" pitchFamily="34" charset="-122"/>
                <a:cs typeface="Helvetica" pitchFamily="34" charset="-120"/>
              </a:rPr>
              <a:t>Both models share the same architecture family, so the student can learn the teacher's latent-space structure directly through softened logits.</a:t>
            </a:r>
            <a:endParaRPr lang="en-US" sz="950" dirty="0"/>
          </a:p>
        </p:txBody>
      </p:sp>
      <p:sp>
        <p:nvSpPr>
          <p:cNvPr id="12" name="Shape 10"/>
          <p:cNvSpPr/>
          <p:nvPr/>
        </p:nvSpPr>
        <p:spPr>
          <a:xfrm>
            <a:off x="4754880" y="2743200"/>
            <a:ext cx="3749040" cy="2103120"/>
          </a:xfrm>
          <a:prstGeom prst="rect">
            <a:avLst/>
          </a:prstGeom>
          <a:solidFill>
            <a:srgbClr val="F5F5F5"/>
          </a:solidFill>
          <a:ln/>
        </p:spPr>
      </p:sp>
      <p:sp>
        <p:nvSpPr>
          <p:cNvPr id="13" name="Text 11"/>
          <p:cNvSpPr/>
          <p:nvPr/>
        </p:nvSpPr>
        <p:spPr>
          <a:xfrm>
            <a:off x="4937760" y="2834640"/>
            <a:ext cx="3474720" cy="228600"/>
          </a:xfrm>
          <a:prstGeom prst="rect">
            <a:avLst/>
          </a:prstGeom>
          <a:noFill/>
          <a:ln/>
        </p:spPr>
        <p:txBody>
          <a:bodyPr wrap="square" lIns="0" tIns="0" rIns="0" bIns="0" rtlCol="0" anchor="ctr"/>
          <a:lstStyle/>
          <a:p>
            <a:pPr marL="0" indent="0">
              <a:buNone/>
            </a:pPr>
            <a:r>
              <a:rPr lang="en-US" sz="800" kern="0" spc="200" dirty="0">
                <a:solidFill>
                  <a:srgbClr val="7A7A7A"/>
                </a:solidFill>
                <a:latin typeface="Helvetica" pitchFamily="34" charset="0"/>
                <a:ea typeface="Helvetica" pitchFamily="34" charset="-122"/>
                <a:cs typeface="Helvetica" pitchFamily="34" charset="-120"/>
              </a:rPr>
              <a:t>Experiment C-ii</a:t>
            </a:r>
            <a:endParaRPr lang="en-US" sz="800" dirty="0"/>
          </a:p>
        </p:txBody>
      </p:sp>
      <p:sp>
        <p:nvSpPr>
          <p:cNvPr id="14" name="Text 12"/>
          <p:cNvSpPr/>
          <p:nvPr/>
        </p:nvSpPr>
        <p:spPr>
          <a:xfrm>
            <a:off x="4937760" y="3063240"/>
            <a:ext cx="3474720" cy="274320"/>
          </a:xfrm>
          <a:prstGeom prst="rect">
            <a:avLst/>
          </a:prstGeom>
          <a:noFill/>
          <a:ln/>
        </p:spPr>
        <p:txBody>
          <a:bodyPr wrap="square" lIns="0" tIns="0" rIns="0" bIns="0" rtlCol="0" anchor="ctr"/>
          <a:lstStyle/>
          <a:p>
            <a:pPr marL="0" indent="0">
              <a:buNone/>
            </a:pPr>
            <a:r>
              <a:rPr lang="en-US" sz="1300" b="1" dirty="0">
                <a:solidFill>
                  <a:srgbClr val="1A1A1A"/>
                </a:solidFill>
                <a:latin typeface="Helvetica" pitchFamily="34" charset="0"/>
                <a:ea typeface="Helvetica" pitchFamily="34" charset="-122"/>
                <a:cs typeface="Helvetica" pitchFamily="34" charset="-120"/>
              </a:rPr>
              <a:t>XGBoost → Student HybridVAE</a:t>
            </a:r>
            <a:endParaRPr lang="en-US" sz="1300" dirty="0"/>
          </a:p>
        </p:txBody>
      </p:sp>
      <p:sp>
        <p:nvSpPr>
          <p:cNvPr id="15" name="Text 13"/>
          <p:cNvSpPr/>
          <p:nvPr/>
        </p:nvSpPr>
        <p:spPr>
          <a:xfrm>
            <a:off x="4937760" y="3429000"/>
            <a:ext cx="3474720" cy="1188720"/>
          </a:xfrm>
          <a:prstGeom prst="rect">
            <a:avLst/>
          </a:prstGeom>
          <a:noFill/>
          <a:ln/>
        </p:spPr>
        <p:txBody>
          <a:bodyPr wrap="square" lIns="0" tIns="0" rIns="0" bIns="0" rtlCol="0" anchor="ctr"/>
          <a:lstStyle/>
          <a:p>
            <a:pPr marL="0" indent="0">
              <a:lnSpc>
                <a:spcPct val="140000"/>
              </a:lnSpc>
              <a:buNone/>
            </a:pPr>
            <a:r>
              <a:rPr lang="en-US" sz="950" dirty="0">
                <a:solidFill>
                  <a:srgbClr val="4A4A4A"/>
                </a:solidFill>
                <a:latin typeface="Helvetica" pitchFamily="34" charset="0"/>
                <a:ea typeface="Helvetica" pitchFamily="34" charset="-122"/>
                <a:cs typeface="Helvetica" pitchFamily="34" charset="-120"/>
              </a:rPr>
              <a:t>Teacher: XGBoost (F1=0.92, 18 MB)</a:t>
            </a:r>
            <a:endParaRPr lang="en-US" sz="950" dirty="0"/>
          </a:p>
          <a:p>
            <a:pPr marL="0" indent="0">
              <a:lnSpc>
                <a:spcPct val="140000"/>
              </a:lnSpc>
              <a:buNone/>
            </a:pPr>
            <a:r>
              <a:rPr lang="en-US" sz="950" dirty="0">
                <a:solidFill>
                  <a:srgbClr val="4A4A4A"/>
                </a:solidFill>
                <a:latin typeface="Helvetica" pitchFamily="34" charset="0"/>
                <a:ea typeface="Helvetica" pitchFamily="34" charset="-122"/>
                <a:cs typeface="Helvetica" pitchFamily="34" charset="-120"/>
              </a:rPr>
              <a:t>Student: HybridVAE (221K params)</a:t>
            </a:r>
            <a:endParaRPr lang="en-US" sz="950" dirty="0"/>
          </a:p>
          <a:p>
            <a:pPr marL="0" indent="0">
              <a:lnSpc>
                <a:spcPct val="140000"/>
              </a:lnSpc>
              <a:buNone/>
            </a:pPr>
            <a:endParaRPr lang="en-US" sz="950" dirty="0"/>
          </a:p>
          <a:p>
            <a:pPr marL="0" indent="0">
              <a:lnSpc>
                <a:spcPct val="140000"/>
              </a:lnSpc>
              <a:buNone/>
            </a:pPr>
            <a:r>
              <a:rPr lang="en-US" sz="950" dirty="0">
                <a:solidFill>
                  <a:srgbClr val="4A4A4A"/>
                </a:solidFill>
                <a:latin typeface="Helvetica" pitchFamily="34" charset="0"/>
                <a:ea typeface="Helvetica" pitchFamily="34" charset="-122"/>
                <a:cs typeface="Helvetica" pitchFamily="34" charset="-120"/>
              </a:rPr>
              <a:t>Cross-architecture distillation: transferring tabular decision boundaries from gradient-boosted trees into a neural network student gaining anomaly detection the teacher never had.</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2743200" cy="274320"/>
          </a:xfrm>
          <a:prstGeom prst="rect">
            <a:avLst/>
          </a:prstGeom>
          <a:noFill/>
          <a:ln/>
        </p:spPr>
        <p:txBody>
          <a:bodyPr wrap="square" lIns="0" tIns="0" rIns="0" bIns="0" rtlCol="0" anchor="ctr"/>
          <a:lstStyle/>
          <a:p>
            <a:pPr marL="0" indent="0">
              <a:buNone/>
            </a:pPr>
            <a:r>
              <a:rPr lang="en-US" sz="800" kern="0" spc="300" dirty="0">
                <a:solidFill>
                  <a:srgbClr val="7A7A7A"/>
                </a:solidFill>
                <a:latin typeface="Helvetica" pitchFamily="34" charset="0"/>
                <a:ea typeface="Helvetica" pitchFamily="34" charset="-122"/>
                <a:cs typeface="Helvetica" pitchFamily="34" charset="-120"/>
              </a:rPr>
              <a:t>C-I: VAE → STUDENT</a:t>
            </a:r>
            <a:endParaRPr lang="en-US" sz="800" dirty="0"/>
          </a:p>
        </p:txBody>
      </p:sp>
      <p:sp>
        <p:nvSpPr>
          <p:cNvPr id="3" name="Text 1"/>
          <p:cNvSpPr/>
          <p:nvPr/>
        </p:nvSpPr>
        <p:spPr>
          <a:xfrm>
            <a:off x="8229600" y="4617720"/>
            <a:ext cx="640080" cy="365760"/>
          </a:xfrm>
          <a:prstGeom prst="rect">
            <a:avLst/>
          </a:prstGeom>
          <a:noFill/>
          <a:ln/>
        </p:spPr>
        <p:txBody>
          <a:bodyPr wrap="square" lIns="0" tIns="0" rIns="0" bIns="0" rtlCol="0" anchor="ctr"/>
          <a:lstStyle/>
          <a:p>
            <a:pPr marL="0" indent="0" algn="r">
              <a:buNone/>
            </a:pPr>
            <a:r>
              <a:rPr lang="en-US" sz="900" dirty="0">
                <a:solidFill>
                  <a:srgbClr val="C0C0C0"/>
                </a:solidFill>
                <a:latin typeface="Helvetica" pitchFamily="34" charset="0"/>
                <a:ea typeface="Helvetica" pitchFamily="34" charset="-122"/>
                <a:cs typeface="Helvetica" pitchFamily="34" charset="-120"/>
              </a:rPr>
              <a:t>20</a:t>
            </a:r>
            <a:endParaRPr lang="en-US" sz="900" dirty="0"/>
          </a:p>
        </p:txBody>
      </p:sp>
      <p:sp>
        <p:nvSpPr>
          <p:cNvPr id="4" name="Text 2"/>
          <p:cNvSpPr/>
          <p:nvPr/>
        </p:nvSpPr>
        <p:spPr>
          <a:xfrm>
            <a:off x="640080" y="640080"/>
            <a:ext cx="7315200" cy="548640"/>
          </a:xfrm>
          <a:prstGeom prst="rect">
            <a:avLst/>
          </a:prstGeom>
          <a:noFill/>
          <a:ln/>
        </p:spPr>
        <p:txBody>
          <a:bodyPr wrap="square" lIns="0" tIns="0" rIns="0" bIns="0" rtlCol="0" anchor="ctr"/>
          <a:lstStyle/>
          <a:p>
            <a:pPr marL="0" indent="0">
              <a:buNone/>
            </a:pPr>
            <a:r>
              <a:rPr lang="en-US" sz="2800" b="1" dirty="0">
                <a:solidFill>
                  <a:srgbClr val="1A1A1A"/>
                </a:solidFill>
                <a:latin typeface="Helvetica" pitchFamily="34" charset="0"/>
                <a:ea typeface="Helvetica" pitchFamily="34" charset="-122"/>
                <a:cs typeface="Helvetica" pitchFamily="34" charset="-120"/>
              </a:rPr>
              <a:t>C-i: HybridVAE teacher → student</a:t>
            </a:r>
            <a:endParaRPr lang="en-US" sz="2800" dirty="0"/>
          </a:p>
        </p:txBody>
      </p:sp>
      <p:sp>
        <p:nvSpPr>
          <p:cNvPr id="5" name="Shape 3"/>
          <p:cNvSpPr/>
          <p:nvPr/>
        </p:nvSpPr>
        <p:spPr>
          <a:xfrm>
            <a:off x="640080" y="1188720"/>
            <a:ext cx="7863840" cy="0"/>
          </a:xfrm>
          <a:prstGeom prst="line">
            <a:avLst/>
          </a:prstGeom>
          <a:noFill/>
          <a:ln w="9525">
            <a:solidFill>
              <a:srgbClr val="D8D8D8"/>
            </a:solidFill>
            <a:prstDash val="solid"/>
          </a:ln>
        </p:spPr>
      </p:sp>
      <p:pic>
        <p:nvPicPr>
          <p:cNvPr id="6" name="Image 0" descr="preencoded.png"/>
          <p:cNvPicPr>
            <a:picLocks noChangeAspect="1"/>
          </p:cNvPicPr>
          <p:nvPr/>
        </p:nvPicPr>
        <p:blipFill>
          <a:blip r:embed="rId3"/>
          <a:stretch>
            <a:fillRect/>
          </a:stretch>
        </p:blipFill>
        <p:spPr>
          <a:xfrm>
            <a:off x="457200" y="1371600"/>
            <a:ext cx="4389120" cy="1554480"/>
          </a:xfrm>
          <a:prstGeom prst="rect">
            <a:avLst/>
          </a:prstGeom>
        </p:spPr>
      </p:pic>
      <p:pic>
        <p:nvPicPr>
          <p:cNvPr id="7" name="Image 1" descr="preencoded.png"/>
          <p:cNvPicPr>
            <a:picLocks noChangeAspect="1"/>
          </p:cNvPicPr>
          <p:nvPr/>
        </p:nvPicPr>
        <p:blipFill>
          <a:blip r:embed="rId4"/>
          <a:stretch>
            <a:fillRect/>
          </a:stretch>
        </p:blipFill>
        <p:spPr>
          <a:xfrm>
            <a:off x="457200" y="3017520"/>
            <a:ext cx="4754880" cy="1920240"/>
          </a:xfrm>
          <a:prstGeom prst="rect">
            <a:avLst/>
          </a:prstGeom>
        </p:spPr>
      </p:pic>
      <p:sp>
        <p:nvSpPr>
          <p:cNvPr id="8" name="Text 4"/>
          <p:cNvSpPr/>
          <p:nvPr/>
        </p:nvSpPr>
        <p:spPr>
          <a:xfrm>
            <a:off x="6217920" y="1371600"/>
            <a:ext cx="1371600" cy="274320"/>
          </a:xfrm>
          <a:prstGeom prst="rect">
            <a:avLst/>
          </a:prstGeom>
          <a:noFill/>
          <a:ln/>
        </p:spPr>
        <p:txBody>
          <a:bodyPr wrap="square" lIns="0" tIns="0" rIns="0" bIns="0" rtlCol="0" anchor="ctr"/>
          <a:lstStyle/>
          <a:p>
            <a:pPr marL="0" indent="0" algn="r">
              <a:buNone/>
            </a:pPr>
            <a:r>
              <a:rPr lang="en-US" sz="1800" b="1" dirty="0">
                <a:solidFill>
                  <a:srgbClr val="1A1A1A"/>
                </a:solidFill>
                <a:latin typeface="Helvetica" pitchFamily="34" charset="0"/>
                <a:ea typeface="Helvetica" pitchFamily="34" charset="-122"/>
                <a:cs typeface="Helvetica" pitchFamily="34" charset="-120"/>
              </a:rPr>
              <a:t>0.8621</a:t>
            </a:r>
            <a:endParaRPr lang="en-US" sz="1800" dirty="0"/>
          </a:p>
        </p:txBody>
      </p:sp>
      <p:sp>
        <p:nvSpPr>
          <p:cNvPr id="9" name="Text 5"/>
          <p:cNvSpPr/>
          <p:nvPr/>
        </p:nvSpPr>
        <p:spPr>
          <a:xfrm>
            <a:off x="7680960" y="1399032"/>
            <a:ext cx="1188720" cy="228600"/>
          </a:xfrm>
          <a:prstGeom prst="rect">
            <a:avLst/>
          </a:prstGeom>
          <a:noFill/>
          <a:ln/>
        </p:spPr>
        <p:txBody>
          <a:bodyPr wrap="square" lIns="0" tIns="0" rIns="0" bIns="0" rtlCol="0" anchor="ctr"/>
          <a:lstStyle/>
          <a:p>
            <a:pPr marL="0" indent="0">
              <a:buNone/>
            </a:pPr>
            <a:r>
              <a:rPr lang="en-US" sz="800" dirty="0">
                <a:solidFill>
                  <a:srgbClr val="7A7A7A"/>
                </a:solidFill>
                <a:latin typeface="Helvetica" pitchFamily="34" charset="0"/>
                <a:ea typeface="Helvetica" pitchFamily="34" charset="-122"/>
                <a:cs typeface="Helvetica" pitchFamily="34" charset="-120"/>
              </a:rPr>
              <a:t>Student Macro F1</a:t>
            </a:r>
            <a:endParaRPr lang="en-US" sz="800" dirty="0"/>
          </a:p>
        </p:txBody>
      </p:sp>
      <p:sp>
        <p:nvSpPr>
          <p:cNvPr id="10" name="Text 6"/>
          <p:cNvSpPr/>
          <p:nvPr/>
        </p:nvSpPr>
        <p:spPr>
          <a:xfrm>
            <a:off x="6217920" y="1737360"/>
            <a:ext cx="1371600" cy="274320"/>
          </a:xfrm>
          <a:prstGeom prst="rect">
            <a:avLst/>
          </a:prstGeom>
          <a:noFill/>
          <a:ln/>
        </p:spPr>
        <p:txBody>
          <a:bodyPr wrap="square" lIns="0" tIns="0" rIns="0" bIns="0" rtlCol="0" anchor="ctr"/>
          <a:lstStyle/>
          <a:p>
            <a:pPr marL="0" indent="0" algn="r">
              <a:buNone/>
            </a:pPr>
            <a:r>
              <a:rPr lang="en-US" sz="1800" b="1" dirty="0">
                <a:solidFill>
                  <a:srgbClr val="1A1A1A"/>
                </a:solidFill>
                <a:latin typeface="Helvetica" pitchFamily="34" charset="0"/>
                <a:ea typeface="Helvetica" pitchFamily="34" charset="-122"/>
                <a:cs typeface="Helvetica" pitchFamily="34" charset="-120"/>
              </a:rPr>
              <a:t>99.1%</a:t>
            </a:r>
            <a:endParaRPr lang="en-US" sz="1800" dirty="0"/>
          </a:p>
        </p:txBody>
      </p:sp>
      <p:sp>
        <p:nvSpPr>
          <p:cNvPr id="11" name="Text 7"/>
          <p:cNvSpPr/>
          <p:nvPr/>
        </p:nvSpPr>
        <p:spPr>
          <a:xfrm>
            <a:off x="7680960" y="1764792"/>
            <a:ext cx="1188720" cy="228600"/>
          </a:xfrm>
          <a:prstGeom prst="rect">
            <a:avLst/>
          </a:prstGeom>
          <a:noFill/>
          <a:ln/>
        </p:spPr>
        <p:txBody>
          <a:bodyPr wrap="square" lIns="0" tIns="0" rIns="0" bIns="0" rtlCol="0" anchor="ctr"/>
          <a:lstStyle/>
          <a:p>
            <a:pPr marL="0" indent="0">
              <a:buNone/>
            </a:pPr>
            <a:r>
              <a:rPr lang="en-US" sz="800" dirty="0">
                <a:solidFill>
                  <a:srgbClr val="7A7A7A"/>
                </a:solidFill>
                <a:latin typeface="Helvetica" pitchFamily="34" charset="0"/>
                <a:ea typeface="Helvetica" pitchFamily="34" charset="-122"/>
                <a:cs typeface="Helvetica" pitchFamily="34" charset="-120"/>
              </a:rPr>
              <a:t>of teacher F1 retained</a:t>
            </a:r>
            <a:endParaRPr lang="en-US" sz="800" dirty="0"/>
          </a:p>
        </p:txBody>
      </p:sp>
      <p:sp>
        <p:nvSpPr>
          <p:cNvPr id="12" name="Text 8"/>
          <p:cNvSpPr/>
          <p:nvPr/>
        </p:nvSpPr>
        <p:spPr>
          <a:xfrm>
            <a:off x="6217920" y="2103120"/>
            <a:ext cx="1371600" cy="274320"/>
          </a:xfrm>
          <a:prstGeom prst="rect">
            <a:avLst/>
          </a:prstGeom>
          <a:noFill/>
          <a:ln/>
        </p:spPr>
        <p:txBody>
          <a:bodyPr wrap="square" lIns="0" tIns="0" rIns="0" bIns="0" rtlCol="0" anchor="ctr"/>
          <a:lstStyle/>
          <a:p>
            <a:pPr marL="0" indent="0" algn="r">
              <a:buNone/>
            </a:pPr>
            <a:r>
              <a:rPr lang="en-US" sz="1800" b="1" dirty="0">
                <a:solidFill>
                  <a:srgbClr val="1A1A1A"/>
                </a:solidFill>
                <a:latin typeface="Helvetica" pitchFamily="34" charset="0"/>
                <a:ea typeface="Helvetica" pitchFamily="34" charset="-122"/>
                <a:cs typeface="Helvetica" pitchFamily="34" charset="-120"/>
              </a:rPr>
              <a:t>0.8500</a:t>
            </a:r>
            <a:endParaRPr lang="en-US" sz="1800" dirty="0"/>
          </a:p>
        </p:txBody>
      </p:sp>
      <p:sp>
        <p:nvSpPr>
          <p:cNvPr id="13" name="Text 9"/>
          <p:cNvSpPr/>
          <p:nvPr/>
        </p:nvSpPr>
        <p:spPr>
          <a:xfrm>
            <a:off x="7680960" y="2130552"/>
            <a:ext cx="1188720" cy="228600"/>
          </a:xfrm>
          <a:prstGeom prst="rect">
            <a:avLst/>
          </a:prstGeom>
          <a:noFill/>
          <a:ln/>
        </p:spPr>
        <p:txBody>
          <a:bodyPr wrap="square" lIns="0" tIns="0" rIns="0" bIns="0" rtlCol="0" anchor="ctr"/>
          <a:lstStyle/>
          <a:p>
            <a:pPr marL="0" indent="0">
              <a:buNone/>
            </a:pPr>
            <a:r>
              <a:rPr lang="en-US" sz="800" dirty="0">
                <a:solidFill>
                  <a:srgbClr val="7A7A7A"/>
                </a:solidFill>
                <a:latin typeface="Helvetica" pitchFamily="34" charset="0"/>
                <a:ea typeface="Helvetica" pitchFamily="34" charset="-122"/>
                <a:cs typeface="Helvetica" pitchFamily="34" charset="-120"/>
              </a:rPr>
              <a:t>Anomaly AUROC</a:t>
            </a:r>
            <a:endParaRPr lang="en-US" sz="800" dirty="0"/>
          </a:p>
        </p:txBody>
      </p:sp>
      <p:sp>
        <p:nvSpPr>
          <p:cNvPr id="14" name="Text 10"/>
          <p:cNvSpPr/>
          <p:nvPr/>
        </p:nvSpPr>
        <p:spPr>
          <a:xfrm>
            <a:off x="6217920" y="2468880"/>
            <a:ext cx="1371600" cy="274320"/>
          </a:xfrm>
          <a:prstGeom prst="rect">
            <a:avLst/>
          </a:prstGeom>
          <a:noFill/>
          <a:ln/>
        </p:spPr>
        <p:txBody>
          <a:bodyPr wrap="square" lIns="0" tIns="0" rIns="0" bIns="0" rtlCol="0" anchor="ctr"/>
          <a:lstStyle/>
          <a:p>
            <a:pPr marL="0" indent="0" algn="r">
              <a:buNone/>
            </a:pPr>
            <a:r>
              <a:rPr lang="en-US" sz="1800" b="1" dirty="0">
                <a:solidFill>
                  <a:srgbClr val="1A1A1A"/>
                </a:solidFill>
                <a:latin typeface="Helvetica" pitchFamily="34" charset="0"/>
                <a:ea typeface="Helvetica" pitchFamily="34" charset="-122"/>
                <a:cs typeface="Helvetica" pitchFamily="34" charset="-120"/>
              </a:rPr>
              <a:t>221,462</a:t>
            </a:r>
            <a:endParaRPr lang="en-US" sz="1800" dirty="0"/>
          </a:p>
        </p:txBody>
      </p:sp>
      <p:sp>
        <p:nvSpPr>
          <p:cNvPr id="15" name="Text 11"/>
          <p:cNvSpPr/>
          <p:nvPr/>
        </p:nvSpPr>
        <p:spPr>
          <a:xfrm>
            <a:off x="7680960" y="2496312"/>
            <a:ext cx="1188720" cy="228600"/>
          </a:xfrm>
          <a:prstGeom prst="rect">
            <a:avLst/>
          </a:prstGeom>
          <a:noFill/>
          <a:ln/>
        </p:spPr>
        <p:txBody>
          <a:bodyPr wrap="square" lIns="0" tIns="0" rIns="0" bIns="0" rtlCol="0" anchor="ctr"/>
          <a:lstStyle/>
          <a:p>
            <a:pPr marL="0" indent="0">
              <a:buNone/>
            </a:pPr>
            <a:r>
              <a:rPr lang="en-US" sz="800" dirty="0">
                <a:solidFill>
                  <a:srgbClr val="7A7A7A"/>
                </a:solidFill>
                <a:latin typeface="Helvetica" pitchFamily="34" charset="0"/>
                <a:ea typeface="Helvetica" pitchFamily="34" charset="-122"/>
                <a:cs typeface="Helvetica" pitchFamily="34" charset="-120"/>
              </a:rPr>
              <a:t>params (3.38× smaller)</a:t>
            </a:r>
            <a:endParaRPr lang="en-US" sz="800" dirty="0"/>
          </a:p>
        </p:txBody>
      </p:sp>
      <p:sp>
        <p:nvSpPr>
          <p:cNvPr id="16" name="Text 12"/>
          <p:cNvSpPr/>
          <p:nvPr/>
        </p:nvSpPr>
        <p:spPr>
          <a:xfrm>
            <a:off x="6217920" y="2834640"/>
            <a:ext cx="1371600" cy="274320"/>
          </a:xfrm>
          <a:prstGeom prst="rect">
            <a:avLst/>
          </a:prstGeom>
          <a:noFill/>
          <a:ln/>
        </p:spPr>
        <p:txBody>
          <a:bodyPr wrap="square" lIns="0" tIns="0" rIns="0" bIns="0" rtlCol="0" anchor="ctr"/>
          <a:lstStyle/>
          <a:p>
            <a:pPr marL="0" indent="0" algn="r">
              <a:buNone/>
            </a:pPr>
            <a:r>
              <a:rPr lang="en-US" sz="1800" b="1" dirty="0">
                <a:solidFill>
                  <a:srgbClr val="1A1A1A"/>
                </a:solidFill>
                <a:latin typeface="Helvetica" pitchFamily="34" charset="0"/>
                <a:ea typeface="Helvetica" pitchFamily="34" charset="-122"/>
                <a:cs typeface="Helvetica" pitchFamily="34" charset="-120"/>
              </a:rPr>
              <a:t>0.894 MB</a:t>
            </a:r>
            <a:endParaRPr lang="en-US" sz="1800" dirty="0"/>
          </a:p>
        </p:txBody>
      </p:sp>
      <p:sp>
        <p:nvSpPr>
          <p:cNvPr id="17" name="Text 13"/>
          <p:cNvSpPr/>
          <p:nvPr/>
        </p:nvSpPr>
        <p:spPr>
          <a:xfrm>
            <a:off x="7680960" y="2862072"/>
            <a:ext cx="1188720" cy="228600"/>
          </a:xfrm>
          <a:prstGeom prst="rect">
            <a:avLst/>
          </a:prstGeom>
          <a:noFill/>
          <a:ln/>
        </p:spPr>
        <p:txBody>
          <a:bodyPr wrap="square" lIns="0" tIns="0" rIns="0" bIns="0" rtlCol="0" anchor="ctr"/>
          <a:lstStyle/>
          <a:p>
            <a:pPr marL="0" indent="0">
              <a:buNone/>
            </a:pPr>
            <a:r>
              <a:rPr lang="en-US" sz="800" dirty="0">
                <a:solidFill>
                  <a:srgbClr val="7A7A7A"/>
                </a:solidFill>
                <a:latin typeface="Helvetica" pitchFamily="34" charset="0"/>
                <a:ea typeface="Helvetica" pitchFamily="34" charset="-122"/>
                <a:cs typeface="Helvetica" pitchFamily="34" charset="-120"/>
              </a:rPr>
              <a:t>model size</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2743200" cy="274320"/>
          </a:xfrm>
          <a:prstGeom prst="rect">
            <a:avLst/>
          </a:prstGeom>
          <a:noFill/>
          <a:ln/>
        </p:spPr>
        <p:txBody>
          <a:bodyPr wrap="square" lIns="0" tIns="0" rIns="0" bIns="0" rtlCol="0" anchor="ctr"/>
          <a:lstStyle/>
          <a:p>
            <a:pPr marL="0" indent="0">
              <a:buNone/>
            </a:pPr>
            <a:r>
              <a:rPr lang="en-US" sz="800" kern="0" spc="300" dirty="0">
                <a:solidFill>
                  <a:srgbClr val="7A7A7A"/>
                </a:solidFill>
                <a:latin typeface="Helvetica" pitchFamily="34" charset="0"/>
                <a:ea typeface="Helvetica" pitchFamily="34" charset="-122"/>
                <a:cs typeface="Helvetica" pitchFamily="34" charset="-120"/>
              </a:rPr>
              <a:t>C-II: XGBOOST → STUDENT</a:t>
            </a:r>
            <a:endParaRPr lang="en-US" sz="800" dirty="0"/>
          </a:p>
        </p:txBody>
      </p:sp>
      <p:sp>
        <p:nvSpPr>
          <p:cNvPr id="3" name="Text 1"/>
          <p:cNvSpPr/>
          <p:nvPr/>
        </p:nvSpPr>
        <p:spPr>
          <a:xfrm>
            <a:off x="8229600" y="4617720"/>
            <a:ext cx="640080" cy="365760"/>
          </a:xfrm>
          <a:prstGeom prst="rect">
            <a:avLst/>
          </a:prstGeom>
          <a:noFill/>
          <a:ln/>
        </p:spPr>
        <p:txBody>
          <a:bodyPr wrap="square" lIns="0" tIns="0" rIns="0" bIns="0" rtlCol="0" anchor="ctr"/>
          <a:lstStyle/>
          <a:p>
            <a:pPr marL="0" indent="0" algn="r">
              <a:buNone/>
            </a:pPr>
            <a:r>
              <a:rPr lang="en-US" sz="900" dirty="0">
                <a:solidFill>
                  <a:srgbClr val="C0C0C0"/>
                </a:solidFill>
                <a:latin typeface="Helvetica" pitchFamily="34" charset="0"/>
                <a:ea typeface="Helvetica" pitchFamily="34" charset="-122"/>
                <a:cs typeface="Helvetica" pitchFamily="34" charset="-120"/>
              </a:rPr>
              <a:t>21</a:t>
            </a:r>
            <a:endParaRPr lang="en-US" sz="900" dirty="0"/>
          </a:p>
        </p:txBody>
      </p:sp>
      <p:sp>
        <p:nvSpPr>
          <p:cNvPr id="4" name="Text 2"/>
          <p:cNvSpPr/>
          <p:nvPr/>
        </p:nvSpPr>
        <p:spPr>
          <a:xfrm>
            <a:off x="640080" y="640080"/>
            <a:ext cx="7315200" cy="548640"/>
          </a:xfrm>
          <a:prstGeom prst="rect">
            <a:avLst/>
          </a:prstGeom>
          <a:noFill/>
          <a:ln/>
        </p:spPr>
        <p:txBody>
          <a:bodyPr wrap="square" lIns="0" tIns="0" rIns="0" bIns="0" rtlCol="0" anchor="ctr"/>
          <a:lstStyle/>
          <a:p>
            <a:pPr marL="0" indent="0">
              <a:buNone/>
            </a:pPr>
            <a:r>
              <a:rPr lang="en-US" sz="2800" b="1" dirty="0">
                <a:solidFill>
                  <a:srgbClr val="1A1A1A"/>
                </a:solidFill>
                <a:latin typeface="Helvetica" pitchFamily="34" charset="0"/>
                <a:ea typeface="Helvetica" pitchFamily="34" charset="-122"/>
                <a:cs typeface="Helvetica" pitchFamily="34" charset="-120"/>
              </a:rPr>
              <a:t>C-ii: XGBoost teacher → student</a:t>
            </a:r>
            <a:endParaRPr lang="en-US" sz="2800" dirty="0"/>
          </a:p>
        </p:txBody>
      </p:sp>
      <p:sp>
        <p:nvSpPr>
          <p:cNvPr id="5" name="Shape 3"/>
          <p:cNvSpPr/>
          <p:nvPr/>
        </p:nvSpPr>
        <p:spPr>
          <a:xfrm>
            <a:off x="640080" y="1188720"/>
            <a:ext cx="7863840" cy="0"/>
          </a:xfrm>
          <a:prstGeom prst="line">
            <a:avLst/>
          </a:prstGeom>
          <a:noFill/>
          <a:ln w="9525">
            <a:solidFill>
              <a:srgbClr val="D8D8D8"/>
            </a:solidFill>
            <a:prstDash val="solid"/>
          </a:ln>
        </p:spPr>
      </p:sp>
      <p:sp>
        <p:nvSpPr>
          <p:cNvPr id="6" name="Shape 4"/>
          <p:cNvSpPr/>
          <p:nvPr/>
        </p:nvSpPr>
        <p:spPr>
          <a:xfrm>
            <a:off x="640080" y="1379157"/>
            <a:ext cx="7863840" cy="502920"/>
          </a:xfrm>
          <a:prstGeom prst="rect">
            <a:avLst/>
          </a:prstGeom>
          <a:solidFill>
            <a:srgbClr val="F5F5F5"/>
          </a:solidFill>
          <a:ln/>
        </p:spPr>
      </p:sp>
      <p:sp>
        <p:nvSpPr>
          <p:cNvPr id="7" name="Text 5"/>
          <p:cNvSpPr/>
          <p:nvPr/>
        </p:nvSpPr>
        <p:spPr>
          <a:xfrm>
            <a:off x="822960" y="1371600"/>
            <a:ext cx="7498080" cy="502920"/>
          </a:xfrm>
          <a:prstGeom prst="rect">
            <a:avLst/>
          </a:prstGeom>
          <a:noFill/>
          <a:ln/>
        </p:spPr>
        <p:txBody>
          <a:bodyPr wrap="square" lIns="0" tIns="0" rIns="0" bIns="0" rtlCol="0" anchor="ctr"/>
          <a:lstStyle/>
          <a:p>
            <a:pPr marL="0" indent="0">
              <a:buNone/>
            </a:pPr>
            <a:r>
              <a:rPr lang="en-US" sz="1100" b="1" dirty="0">
                <a:solidFill>
                  <a:srgbClr val="1A1A1A"/>
                </a:solidFill>
                <a:latin typeface="Helvetica" pitchFamily="34" charset="0"/>
                <a:ea typeface="Helvetica" pitchFamily="34" charset="-122"/>
                <a:cs typeface="Helvetica" pitchFamily="34" charset="-120"/>
              </a:rPr>
              <a:t>WHY?  </a:t>
            </a:r>
            <a:r>
              <a:rPr lang="en-US" sz="1100" i="1" dirty="0">
                <a:solidFill>
                  <a:srgbClr val="4A4A4A"/>
                </a:solidFill>
                <a:latin typeface="Helvetica" pitchFamily="34" charset="0"/>
                <a:ea typeface="Helvetica" pitchFamily="34" charset="-122"/>
                <a:cs typeface="Helvetica" pitchFamily="34" charset="-120"/>
              </a:rPr>
              <a:t>Why distil from a completely different architecture (trees → neural net)?</a:t>
            </a:r>
            <a:endParaRPr lang="en-US" sz="1100" dirty="0"/>
          </a:p>
        </p:txBody>
      </p:sp>
      <p:sp>
        <p:nvSpPr>
          <p:cNvPr id="8" name="Text 6"/>
          <p:cNvSpPr/>
          <p:nvPr/>
        </p:nvSpPr>
        <p:spPr>
          <a:xfrm>
            <a:off x="822960" y="1965960"/>
            <a:ext cx="7498080" cy="594360"/>
          </a:xfrm>
          <a:prstGeom prst="rect">
            <a:avLst/>
          </a:prstGeom>
          <a:noFill/>
          <a:ln/>
        </p:spPr>
        <p:txBody>
          <a:bodyPr wrap="square" lIns="0" tIns="0" rIns="0" bIns="0" rtlCol="0" anchor="ctr"/>
          <a:lstStyle/>
          <a:p>
            <a:pPr marL="0" indent="0">
              <a:lnSpc>
                <a:spcPct val="140000"/>
              </a:lnSpc>
              <a:buNone/>
            </a:pPr>
            <a:r>
              <a:rPr lang="en-US" sz="1000" dirty="0">
                <a:solidFill>
                  <a:srgbClr val="4A4A4A"/>
                </a:solidFill>
                <a:latin typeface="Helvetica" pitchFamily="34" charset="0"/>
                <a:ea typeface="Helvetica" pitchFamily="34" charset="-122"/>
                <a:cs typeface="Helvetica" pitchFamily="34" charset="-120"/>
              </a:rPr>
              <a:t>XGBoost has the best Macro F1 (0.9162) but no anomaly channel and 18 MB of trees. By distilling its classification knowledge into a HybridVAE student, we gain anomaly detection the teacher never had while compressing the model by 20×.</a:t>
            </a:r>
            <a:endParaRPr lang="en-US" sz="1000" dirty="0"/>
          </a:p>
        </p:txBody>
      </p:sp>
      <p:pic>
        <p:nvPicPr>
          <p:cNvPr id="9" name="Image 0" descr="preencoded.png"/>
          <p:cNvPicPr>
            <a:picLocks noChangeAspect="1"/>
          </p:cNvPicPr>
          <p:nvPr/>
        </p:nvPicPr>
        <p:blipFill>
          <a:blip r:embed="rId3"/>
          <a:stretch>
            <a:fillRect/>
          </a:stretch>
        </p:blipFill>
        <p:spPr>
          <a:xfrm>
            <a:off x="434529" y="2743199"/>
            <a:ext cx="6038488" cy="2138631"/>
          </a:xfrm>
          <a:prstGeom prst="rect">
            <a:avLst/>
          </a:prstGeom>
        </p:spPr>
      </p:pic>
      <p:sp>
        <p:nvSpPr>
          <p:cNvPr id="10" name="Text 7"/>
          <p:cNvSpPr/>
          <p:nvPr/>
        </p:nvSpPr>
        <p:spPr>
          <a:xfrm>
            <a:off x="6217920" y="2743200"/>
            <a:ext cx="1371600" cy="274320"/>
          </a:xfrm>
          <a:prstGeom prst="rect">
            <a:avLst/>
          </a:prstGeom>
          <a:noFill/>
          <a:ln/>
        </p:spPr>
        <p:txBody>
          <a:bodyPr wrap="square" lIns="0" tIns="0" rIns="0" bIns="0" rtlCol="0" anchor="ctr"/>
          <a:lstStyle/>
          <a:p>
            <a:pPr marL="0" indent="0" algn="r">
              <a:buNone/>
            </a:pPr>
            <a:r>
              <a:rPr lang="en-US" sz="1800" b="1" dirty="0">
                <a:solidFill>
                  <a:srgbClr val="1A1A1A"/>
                </a:solidFill>
                <a:latin typeface="Helvetica" pitchFamily="34" charset="0"/>
                <a:ea typeface="Helvetica" pitchFamily="34" charset="-122"/>
                <a:cs typeface="Helvetica" pitchFamily="34" charset="-120"/>
              </a:rPr>
              <a:t>0.8141</a:t>
            </a:r>
            <a:endParaRPr lang="en-US" sz="1800" dirty="0"/>
          </a:p>
        </p:txBody>
      </p:sp>
      <p:sp>
        <p:nvSpPr>
          <p:cNvPr id="11" name="Text 8"/>
          <p:cNvSpPr/>
          <p:nvPr/>
        </p:nvSpPr>
        <p:spPr>
          <a:xfrm>
            <a:off x="7680960" y="2770632"/>
            <a:ext cx="1188720" cy="228600"/>
          </a:xfrm>
          <a:prstGeom prst="rect">
            <a:avLst/>
          </a:prstGeom>
          <a:noFill/>
          <a:ln/>
        </p:spPr>
        <p:txBody>
          <a:bodyPr wrap="square" lIns="0" tIns="0" rIns="0" bIns="0" rtlCol="0" anchor="ctr"/>
          <a:lstStyle/>
          <a:p>
            <a:pPr marL="0" indent="0">
              <a:buNone/>
            </a:pPr>
            <a:r>
              <a:rPr lang="en-US" sz="800" dirty="0">
                <a:solidFill>
                  <a:srgbClr val="7A7A7A"/>
                </a:solidFill>
                <a:latin typeface="Helvetica" pitchFamily="34" charset="0"/>
                <a:ea typeface="Helvetica" pitchFamily="34" charset="-122"/>
                <a:cs typeface="Helvetica" pitchFamily="34" charset="-120"/>
              </a:rPr>
              <a:t>Student Macro F1</a:t>
            </a:r>
            <a:endParaRPr lang="en-US" sz="800" dirty="0"/>
          </a:p>
        </p:txBody>
      </p:sp>
      <p:sp>
        <p:nvSpPr>
          <p:cNvPr id="12" name="Text 9"/>
          <p:cNvSpPr/>
          <p:nvPr/>
        </p:nvSpPr>
        <p:spPr>
          <a:xfrm>
            <a:off x="6217920" y="3108960"/>
            <a:ext cx="1371600" cy="274320"/>
          </a:xfrm>
          <a:prstGeom prst="rect">
            <a:avLst/>
          </a:prstGeom>
          <a:noFill/>
          <a:ln/>
        </p:spPr>
        <p:txBody>
          <a:bodyPr wrap="square" lIns="0" tIns="0" rIns="0" bIns="0" rtlCol="0" anchor="ctr"/>
          <a:lstStyle/>
          <a:p>
            <a:pPr marL="0" indent="0" algn="r">
              <a:buNone/>
            </a:pPr>
            <a:r>
              <a:rPr lang="en-US" sz="1800" b="1" dirty="0">
                <a:solidFill>
                  <a:srgbClr val="1A1A1A"/>
                </a:solidFill>
                <a:latin typeface="Helvetica" pitchFamily="34" charset="0"/>
                <a:ea typeface="Helvetica" pitchFamily="34" charset="-122"/>
                <a:cs typeface="Helvetica" pitchFamily="34" charset="-120"/>
              </a:rPr>
              <a:t>88.9%</a:t>
            </a:r>
            <a:endParaRPr lang="en-US" sz="1800" dirty="0"/>
          </a:p>
        </p:txBody>
      </p:sp>
      <p:sp>
        <p:nvSpPr>
          <p:cNvPr id="13" name="Text 10"/>
          <p:cNvSpPr/>
          <p:nvPr/>
        </p:nvSpPr>
        <p:spPr>
          <a:xfrm>
            <a:off x="7680960" y="3136392"/>
            <a:ext cx="1188720" cy="228600"/>
          </a:xfrm>
          <a:prstGeom prst="rect">
            <a:avLst/>
          </a:prstGeom>
          <a:noFill/>
          <a:ln/>
        </p:spPr>
        <p:txBody>
          <a:bodyPr wrap="square" lIns="0" tIns="0" rIns="0" bIns="0" rtlCol="0" anchor="ctr"/>
          <a:lstStyle/>
          <a:p>
            <a:pPr marL="0" indent="0">
              <a:buNone/>
            </a:pPr>
            <a:r>
              <a:rPr lang="en-US" sz="800" dirty="0">
                <a:solidFill>
                  <a:srgbClr val="7A7A7A"/>
                </a:solidFill>
                <a:latin typeface="Helvetica" pitchFamily="34" charset="0"/>
                <a:ea typeface="Helvetica" pitchFamily="34" charset="-122"/>
                <a:cs typeface="Helvetica" pitchFamily="34" charset="-120"/>
              </a:rPr>
              <a:t>of teacher F1 retained</a:t>
            </a:r>
            <a:endParaRPr lang="en-US" sz="800" dirty="0"/>
          </a:p>
        </p:txBody>
      </p:sp>
      <p:sp>
        <p:nvSpPr>
          <p:cNvPr id="14" name="Text 11"/>
          <p:cNvSpPr/>
          <p:nvPr/>
        </p:nvSpPr>
        <p:spPr>
          <a:xfrm>
            <a:off x="6217920" y="3474720"/>
            <a:ext cx="1371600" cy="274320"/>
          </a:xfrm>
          <a:prstGeom prst="rect">
            <a:avLst/>
          </a:prstGeom>
          <a:noFill/>
          <a:ln/>
        </p:spPr>
        <p:txBody>
          <a:bodyPr wrap="square" lIns="0" tIns="0" rIns="0" bIns="0" rtlCol="0" anchor="ctr"/>
          <a:lstStyle/>
          <a:p>
            <a:pPr marL="0" indent="0" algn="r">
              <a:buNone/>
            </a:pPr>
            <a:r>
              <a:rPr lang="en-US" sz="1800" b="1" dirty="0">
                <a:solidFill>
                  <a:srgbClr val="1A1A1A"/>
                </a:solidFill>
                <a:latin typeface="Helvetica" pitchFamily="34" charset="0"/>
                <a:ea typeface="Helvetica" pitchFamily="34" charset="-122"/>
                <a:cs typeface="Helvetica" pitchFamily="34" charset="-120"/>
              </a:rPr>
              <a:t>221,462</a:t>
            </a:r>
            <a:endParaRPr lang="en-US" sz="1800" dirty="0"/>
          </a:p>
        </p:txBody>
      </p:sp>
      <p:sp>
        <p:nvSpPr>
          <p:cNvPr id="15" name="Text 12"/>
          <p:cNvSpPr/>
          <p:nvPr/>
        </p:nvSpPr>
        <p:spPr>
          <a:xfrm>
            <a:off x="7680960" y="3502152"/>
            <a:ext cx="1188720" cy="228600"/>
          </a:xfrm>
          <a:prstGeom prst="rect">
            <a:avLst/>
          </a:prstGeom>
          <a:noFill/>
          <a:ln/>
        </p:spPr>
        <p:txBody>
          <a:bodyPr wrap="square" lIns="0" tIns="0" rIns="0" bIns="0" rtlCol="0" anchor="ctr"/>
          <a:lstStyle/>
          <a:p>
            <a:pPr marL="0" indent="0">
              <a:buNone/>
            </a:pPr>
            <a:r>
              <a:rPr lang="en-US" sz="800" dirty="0">
                <a:solidFill>
                  <a:srgbClr val="7A7A7A"/>
                </a:solidFill>
                <a:latin typeface="Helvetica" pitchFamily="34" charset="0"/>
                <a:ea typeface="Helvetica" pitchFamily="34" charset="-122"/>
                <a:cs typeface="Helvetica" pitchFamily="34" charset="-120"/>
              </a:rPr>
              <a:t>params</a:t>
            </a:r>
            <a:endParaRPr lang="en-US" sz="800" dirty="0"/>
          </a:p>
        </p:txBody>
      </p:sp>
      <p:sp>
        <p:nvSpPr>
          <p:cNvPr id="16" name="Text 13"/>
          <p:cNvSpPr/>
          <p:nvPr/>
        </p:nvSpPr>
        <p:spPr>
          <a:xfrm>
            <a:off x="6217920" y="3840480"/>
            <a:ext cx="1371600" cy="274320"/>
          </a:xfrm>
          <a:prstGeom prst="rect">
            <a:avLst/>
          </a:prstGeom>
          <a:noFill/>
          <a:ln/>
        </p:spPr>
        <p:txBody>
          <a:bodyPr wrap="square" lIns="0" tIns="0" rIns="0" bIns="0" rtlCol="0" anchor="ctr"/>
          <a:lstStyle/>
          <a:p>
            <a:pPr marL="0" indent="0" algn="r">
              <a:buNone/>
            </a:pPr>
            <a:r>
              <a:rPr lang="en-US" sz="1800" b="1" dirty="0">
                <a:solidFill>
                  <a:srgbClr val="1A1A1A"/>
                </a:solidFill>
                <a:latin typeface="Helvetica" pitchFamily="34" charset="0"/>
                <a:ea typeface="Helvetica" pitchFamily="34" charset="-122"/>
                <a:cs typeface="Helvetica" pitchFamily="34" charset="-120"/>
              </a:rPr>
              <a:t>0.894 MB</a:t>
            </a:r>
            <a:endParaRPr lang="en-US" sz="1800" dirty="0"/>
          </a:p>
        </p:txBody>
      </p:sp>
      <p:sp>
        <p:nvSpPr>
          <p:cNvPr id="17" name="Text 14"/>
          <p:cNvSpPr/>
          <p:nvPr/>
        </p:nvSpPr>
        <p:spPr>
          <a:xfrm>
            <a:off x="7680960" y="3867912"/>
            <a:ext cx="1188720" cy="228600"/>
          </a:xfrm>
          <a:prstGeom prst="rect">
            <a:avLst/>
          </a:prstGeom>
          <a:noFill/>
          <a:ln/>
        </p:spPr>
        <p:txBody>
          <a:bodyPr wrap="square" lIns="0" tIns="0" rIns="0" bIns="0" rtlCol="0" anchor="ctr"/>
          <a:lstStyle/>
          <a:p>
            <a:pPr marL="0" indent="0">
              <a:buNone/>
            </a:pPr>
            <a:r>
              <a:rPr lang="en-US" sz="800" dirty="0">
                <a:solidFill>
                  <a:srgbClr val="7A7A7A"/>
                </a:solidFill>
                <a:latin typeface="Helvetica" pitchFamily="34" charset="0"/>
                <a:ea typeface="Helvetica" pitchFamily="34" charset="-122"/>
                <a:cs typeface="Helvetica" pitchFamily="34" charset="-120"/>
              </a:rPr>
              <a:t>model size (20× smaller)</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2743200" cy="274320"/>
          </a:xfrm>
          <a:prstGeom prst="rect">
            <a:avLst/>
          </a:prstGeom>
          <a:noFill/>
          <a:ln/>
        </p:spPr>
        <p:txBody>
          <a:bodyPr wrap="square" lIns="0" tIns="0" rIns="0" bIns="0" rtlCol="0" anchor="ctr"/>
          <a:lstStyle/>
          <a:p>
            <a:pPr marL="0" indent="0">
              <a:buNone/>
            </a:pPr>
            <a:r>
              <a:rPr lang="en-US" sz="800" kern="0" spc="300" dirty="0">
                <a:solidFill>
                  <a:srgbClr val="7A7A7A"/>
                </a:solidFill>
                <a:latin typeface="Helvetica" pitchFamily="34" charset="0"/>
                <a:ea typeface="Helvetica" pitchFamily="34" charset="-122"/>
                <a:cs typeface="Helvetica" pitchFamily="34" charset="-120"/>
              </a:rPr>
              <a:t>DISTILLATION SUMMARY</a:t>
            </a:r>
            <a:endParaRPr lang="en-US" sz="800" dirty="0"/>
          </a:p>
        </p:txBody>
      </p:sp>
      <p:sp>
        <p:nvSpPr>
          <p:cNvPr id="3" name="Text 1"/>
          <p:cNvSpPr/>
          <p:nvPr/>
        </p:nvSpPr>
        <p:spPr>
          <a:xfrm>
            <a:off x="8229600" y="4617720"/>
            <a:ext cx="640080" cy="365760"/>
          </a:xfrm>
          <a:prstGeom prst="rect">
            <a:avLst/>
          </a:prstGeom>
          <a:noFill/>
          <a:ln/>
        </p:spPr>
        <p:txBody>
          <a:bodyPr wrap="square" lIns="0" tIns="0" rIns="0" bIns="0" rtlCol="0" anchor="ctr"/>
          <a:lstStyle/>
          <a:p>
            <a:pPr marL="0" indent="0" algn="r">
              <a:buNone/>
            </a:pPr>
            <a:r>
              <a:rPr lang="en-US" sz="900" dirty="0">
                <a:solidFill>
                  <a:srgbClr val="C0C0C0"/>
                </a:solidFill>
                <a:latin typeface="Helvetica" pitchFamily="34" charset="0"/>
                <a:ea typeface="Helvetica" pitchFamily="34" charset="-122"/>
                <a:cs typeface="Helvetica" pitchFamily="34" charset="-120"/>
              </a:rPr>
              <a:t>22</a:t>
            </a:r>
            <a:endParaRPr lang="en-US" sz="900" dirty="0"/>
          </a:p>
        </p:txBody>
      </p:sp>
      <p:sp>
        <p:nvSpPr>
          <p:cNvPr id="4" name="Text 2"/>
          <p:cNvSpPr/>
          <p:nvPr/>
        </p:nvSpPr>
        <p:spPr>
          <a:xfrm>
            <a:off x="640080" y="640080"/>
            <a:ext cx="7315200" cy="548640"/>
          </a:xfrm>
          <a:prstGeom prst="rect">
            <a:avLst/>
          </a:prstGeom>
          <a:noFill/>
          <a:ln/>
        </p:spPr>
        <p:txBody>
          <a:bodyPr wrap="square" lIns="0" tIns="0" rIns="0" bIns="0" rtlCol="0" anchor="ctr"/>
          <a:lstStyle/>
          <a:p>
            <a:pPr marL="0" indent="0">
              <a:buNone/>
            </a:pPr>
            <a:r>
              <a:rPr lang="en-US" sz="3200" b="1" dirty="0">
                <a:solidFill>
                  <a:srgbClr val="1A1A1A"/>
                </a:solidFill>
                <a:latin typeface="Helvetica" pitchFamily="34" charset="0"/>
                <a:ea typeface="Helvetica" pitchFamily="34" charset="-122"/>
                <a:cs typeface="Helvetica" pitchFamily="34" charset="-120"/>
              </a:rPr>
              <a:t>Distillation comparison</a:t>
            </a:r>
            <a:endParaRPr lang="en-US" sz="3200" dirty="0"/>
          </a:p>
        </p:txBody>
      </p:sp>
      <p:sp>
        <p:nvSpPr>
          <p:cNvPr id="5" name="Shape 3"/>
          <p:cNvSpPr/>
          <p:nvPr/>
        </p:nvSpPr>
        <p:spPr>
          <a:xfrm>
            <a:off x="640080" y="1234440"/>
            <a:ext cx="7863840" cy="0"/>
          </a:xfrm>
          <a:prstGeom prst="line">
            <a:avLst/>
          </a:prstGeom>
          <a:noFill/>
          <a:ln w="9525">
            <a:solidFill>
              <a:srgbClr val="D8D8D8"/>
            </a:solidFill>
            <a:prstDash val="solid"/>
          </a:ln>
        </p:spPr>
      </p:sp>
      <p:graphicFrame>
        <p:nvGraphicFramePr>
          <p:cNvPr id="23" name="Table 0"/>
          <p:cNvGraphicFramePr>
            <a:graphicFrameLocks noGrp="1"/>
          </p:cNvGraphicFramePr>
          <p:nvPr>
            <p:extLst>
              <p:ext uri="{D42A27DB-BD31-4B8C-83A1-F6EECF244321}">
                <p14:modId xmlns:p14="http://schemas.microsoft.com/office/powerpoint/2010/main" val="154220707"/>
              </p:ext>
            </p:extLst>
          </p:nvPr>
        </p:nvGraphicFramePr>
        <p:xfrm>
          <a:off x="640080" y="1463040"/>
          <a:ext cx="7498080" cy="1371600"/>
        </p:xfrm>
        <a:graphic>
          <a:graphicData uri="http://schemas.openxmlformats.org/drawingml/2006/table">
            <a:tbl>
              <a:tblPr/>
              <a:tblGrid>
                <a:gridCol w="219456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tblGrid>
              <a:tr h="274320">
                <a:tc>
                  <a:txBody>
                    <a:bodyPr/>
                    <a:lstStyle/>
                    <a:p>
                      <a:pPr marL="0" indent="0">
                        <a:buNone/>
                      </a:pPr>
                      <a:r>
                        <a:rPr lang="en-US" sz="1000" b="1" dirty="0">
                          <a:solidFill>
                            <a:srgbClr val="2D2D2D"/>
                          </a:solidFill>
                          <a:latin typeface="Helvetica" pitchFamily="34" charset="0"/>
                          <a:ea typeface="Helvetica" pitchFamily="34" charset="-122"/>
                          <a:cs typeface="Helvetica" pitchFamily="34" charset="-120"/>
                        </a:rPr>
                        <a:t>Model</a:t>
                      </a:r>
                      <a:endParaRPr lang="en-US" sz="10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5F5F5"/>
                    </a:solidFill>
                  </a:tcPr>
                </a:tc>
                <a:tc>
                  <a:txBody>
                    <a:bodyPr/>
                    <a:lstStyle/>
                    <a:p>
                      <a:pPr marL="0" indent="0">
                        <a:buNone/>
                      </a:pPr>
                      <a:r>
                        <a:rPr lang="en-US" sz="1000" b="1" dirty="0">
                          <a:solidFill>
                            <a:srgbClr val="2D2D2D"/>
                          </a:solidFill>
                          <a:latin typeface="Helvetica" pitchFamily="34" charset="0"/>
                          <a:ea typeface="Helvetica" pitchFamily="34" charset="-122"/>
                          <a:cs typeface="Helvetica" pitchFamily="34" charset="-120"/>
                        </a:rPr>
                        <a:t>Params</a:t>
                      </a:r>
                      <a:endParaRPr lang="en-US" sz="10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5F5F5"/>
                    </a:solidFill>
                  </a:tcPr>
                </a:tc>
                <a:tc>
                  <a:txBody>
                    <a:bodyPr/>
                    <a:lstStyle/>
                    <a:p>
                      <a:pPr marL="0" indent="0">
                        <a:buNone/>
                      </a:pPr>
                      <a:r>
                        <a:rPr lang="en-US" sz="1000" b="1" dirty="0">
                          <a:solidFill>
                            <a:srgbClr val="2D2D2D"/>
                          </a:solidFill>
                          <a:latin typeface="Helvetica" pitchFamily="34" charset="0"/>
                          <a:ea typeface="Helvetica" pitchFamily="34" charset="-122"/>
                          <a:cs typeface="Helvetica" pitchFamily="34" charset="-120"/>
                        </a:rPr>
                        <a:t>Size (MB)</a:t>
                      </a:r>
                      <a:endParaRPr lang="en-US" sz="10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5F5F5"/>
                    </a:solidFill>
                  </a:tcPr>
                </a:tc>
                <a:tc>
                  <a:txBody>
                    <a:bodyPr/>
                    <a:lstStyle/>
                    <a:p>
                      <a:pPr marL="0" indent="0">
                        <a:buNone/>
                      </a:pPr>
                      <a:r>
                        <a:rPr lang="en-US" sz="1000" b="1" dirty="0">
                          <a:solidFill>
                            <a:srgbClr val="2D2D2D"/>
                          </a:solidFill>
                          <a:latin typeface="Helvetica" pitchFamily="34" charset="0"/>
                          <a:ea typeface="Helvetica" pitchFamily="34" charset="-122"/>
                          <a:cs typeface="Helvetica" pitchFamily="34" charset="-120"/>
                        </a:rPr>
                        <a:t>Macro F1</a:t>
                      </a:r>
                      <a:endParaRPr lang="en-US" sz="10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5F5F5"/>
                    </a:solidFill>
                  </a:tcPr>
                </a:tc>
                <a:tc>
                  <a:txBody>
                    <a:bodyPr/>
                    <a:lstStyle/>
                    <a:p>
                      <a:pPr marL="0" indent="0">
                        <a:buNone/>
                      </a:pPr>
                      <a:r>
                        <a:rPr lang="en-US" sz="1000" b="1" dirty="0">
                          <a:solidFill>
                            <a:srgbClr val="2D2D2D"/>
                          </a:solidFill>
                          <a:latin typeface="Helvetica" pitchFamily="34" charset="0"/>
                          <a:ea typeface="Helvetica" pitchFamily="34" charset="-122"/>
                          <a:cs typeface="Helvetica" pitchFamily="34" charset="-120"/>
                        </a:rPr>
                        <a:t>AUROC</a:t>
                      </a:r>
                      <a:endParaRPr lang="en-US" sz="10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5F5F5"/>
                    </a:solidFill>
                  </a:tcPr>
                </a:tc>
                <a:tc>
                  <a:txBody>
                    <a:bodyPr/>
                    <a:lstStyle/>
                    <a:p>
                      <a:pPr marL="0" indent="0">
                        <a:buNone/>
                      </a:pPr>
                      <a:r>
                        <a:rPr lang="en-US" sz="1000" b="1" dirty="0">
                          <a:solidFill>
                            <a:srgbClr val="2D2D2D"/>
                          </a:solidFill>
                          <a:latin typeface="Helvetica" pitchFamily="34" charset="0"/>
                          <a:ea typeface="Helvetica" pitchFamily="34" charset="-122"/>
                          <a:cs typeface="Helvetica" pitchFamily="34" charset="-120"/>
                        </a:rPr>
                        <a:t>F1 retained</a:t>
                      </a:r>
                      <a:endParaRPr lang="en-US" sz="10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5F5F5"/>
                    </a:solidFill>
                  </a:tcPr>
                </a:tc>
                <a:extLst>
                  <a:ext uri="{0D108BD9-81ED-4DB2-BD59-A6C34878D82A}">
                    <a16:rowId xmlns:a16="http://schemas.microsoft.com/office/drawing/2014/main" val="10000"/>
                  </a:ext>
                </a:extLst>
              </a:tr>
              <a:tr h="274320">
                <a:tc>
                  <a:txBody>
                    <a:bodyPr/>
                    <a:lstStyle/>
                    <a:p>
                      <a:pPr marL="0" indent="0">
                        <a:buNone/>
                      </a:pPr>
                      <a:r>
                        <a:rPr lang="en-US" sz="1000" dirty="0">
                          <a:solidFill>
                            <a:srgbClr val="2D2D2D"/>
                          </a:solidFill>
                          <a:latin typeface="Helvetica" pitchFamily="34" charset="0"/>
                          <a:ea typeface="Helvetica" pitchFamily="34" charset="-122"/>
                          <a:cs typeface="Helvetica" pitchFamily="34" charset="-120"/>
                        </a:rPr>
                        <a:t>HybridVAE Teacher</a:t>
                      </a:r>
                      <a:endParaRPr lang="en-US" sz="10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1000" dirty="0">
                          <a:solidFill>
                            <a:srgbClr val="2D2D2D"/>
                          </a:solidFill>
                          <a:latin typeface="Helvetica" pitchFamily="34" charset="0"/>
                          <a:ea typeface="Helvetica" pitchFamily="34" charset="-122"/>
                          <a:cs typeface="Helvetica" pitchFamily="34" charset="-120"/>
                        </a:rPr>
                        <a:t>749,270</a:t>
                      </a:r>
                      <a:endParaRPr lang="en-US" sz="10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1000" dirty="0">
                          <a:solidFill>
                            <a:srgbClr val="2D2D2D"/>
                          </a:solidFill>
                          <a:latin typeface="Helvetica" pitchFamily="34" charset="0"/>
                          <a:ea typeface="Helvetica" pitchFamily="34" charset="-122"/>
                          <a:cs typeface="Helvetica" pitchFamily="34" charset="-120"/>
                        </a:rPr>
                        <a:t>2.921</a:t>
                      </a:r>
                      <a:endParaRPr lang="en-US" sz="10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1000" dirty="0">
                          <a:solidFill>
                            <a:srgbClr val="2D2D2D"/>
                          </a:solidFill>
                          <a:latin typeface="Helvetica" pitchFamily="34" charset="0"/>
                          <a:ea typeface="Helvetica" pitchFamily="34" charset="-122"/>
                          <a:cs typeface="Helvetica" pitchFamily="34" charset="-120"/>
                        </a:rPr>
                        <a:t>0.8702</a:t>
                      </a:r>
                      <a:endParaRPr lang="en-US" sz="10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1000" dirty="0">
                          <a:solidFill>
                            <a:srgbClr val="2D2D2D"/>
                          </a:solidFill>
                          <a:latin typeface="Helvetica" pitchFamily="34" charset="0"/>
                          <a:ea typeface="Helvetica" pitchFamily="34" charset="-122"/>
                          <a:cs typeface="Helvetica" pitchFamily="34" charset="-120"/>
                        </a:rPr>
                        <a:t>0.8740</a:t>
                      </a:r>
                      <a:endParaRPr lang="en-US" sz="10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1000" dirty="0">
                          <a:solidFill>
                            <a:srgbClr val="2D2D2D"/>
                          </a:solidFill>
                          <a:latin typeface="Helvetica" pitchFamily="34" charset="0"/>
                          <a:ea typeface="Helvetica" pitchFamily="34" charset="-122"/>
                          <a:cs typeface="Helvetica" pitchFamily="34" charset="-120"/>
                        </a:rPr>
                        <a:t>—</a:t>
                      </a:r>
                      <a:endParaRPr lang="en-US" sz="10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buNone/>
                      </a:pPr>
                      <a:r>
                        <a:rPr lang="en-US" sz="1000" dirty="0">
                          <a:solidFill>
                            <a:srgbClr val="2D2D2D"/>
                          </a:solidFill>
                          <a:latin typeface="Helvetica" pitchFamily="34" charset="0"/>
                          <a:ea typeface="Helvetica" pitchFamily="34" charset="-122"/>
                          <a:cs typeface="Helvetica" pitchFamily="34" charset="-120"/>
                        </a:rPr>
                        <a:t>Student C-i (from VAE)</a:t>
                      </a:r>
                      <a:endParaRPr lang="en-US" sz="10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1000" dirty="0">
                          <a:solidFill>
                            <a:srgbClr val="2D2D2D"/>
                          </a:solidFill>
                          <a:latin typeface="Helvetica" pitchFamily="34" charset="0"/>
                          <a:ea typeface="Helvetica" pitchFamily="34" charset="-122"/>
                          <a:cs typeface="Helvetica" pitchFamily="34" charset="-120"/>
                        </a:rPr>
                        <a:t>221,462</a:t>
                      </a:r>
                      <a:endParaRPr lang="en-US" sz="10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1000" dirty="0">
                          <a:solidFill>
                            <a:srgbClr val="2D2D2D"/>
                          </a:solidFill>
                          <a:latin typeface="Helvetica" pitchFamily="34" charset="0"/>
                          <a:ea typeface="Helvetica" pitchFamily="34" charset="-122"/>
                          <a:cs typeface="Helvetica" pitchFamily="34" charset="-120"/>
                        </a:rPr>
                        <a:t>0.894</a:t>
                      </a:r>
                      <a:endParaRPr lang="en-US" sz="10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1000" dirty="0">
                          <a:solidFill>
                            <a:srgbClr val="2D2D2D"/>
                          </a:solidFill>
                          <a:latin typeface="Helvetica" pitchFamily="34" charset="0"/>
                          <a:ea typeface="Helvetica" pitchFamily="34" charset="-122"/>
                          <a:cs typeface="Helvetica" pitchFamily="34" charset="-120"/>
                        </a:rPr>
                        <a:t>0.8621</a:t>
                      </a:r>
                      <a:endParaRPr lang="en-US" sz="10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1000" dirty="0">
                          <a:solidFill>
                            <a:srgbClr val="2D2D2D"/>
                          </a:solidFill>
                          <a:latin typeface="Helvetica" pitchFamily="34" charset="0"/>
                          <a:ea typeface="Helvetica" pitchFamily="34" charset="-122"/>
                          <a:cs typeface="Helvetica" pitchFamily="34" charset="-120"/>
                        </a:rPr>
                        <a:t>0.8500</a:t>
                      </a:r>
                      <a:endParaRPr lang="en-US" sz="10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1000" dirty="0">
                          <a:solidFill>
                            <a:srgbClr val="2D2D2D"/>
                          </a:solidFill>
                          <a:latin typeface="Helvetica" pitchFamily="34" charset="0"/>
                          <a:ea typeface="Helvetica" pitchFamily="34" charset="-122"/>
                          <a:cs typeface="Helvetica" pitchFamily="34" charset="-120"/>
                        </a:rPr>
                        <a:t>99.1%</a:t>
                      </a:r>
                      <a:endParaRPr lang="en-US" sz="10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buNone/>
                      </a:pPr>
                      <a:r>
                        <a:rPr lang="en-US" sz="1000" dirty="0">
                          <a:solidFill>
                            <a:srgbClr val="2D2D2D"/>
                          </a:solidFill>
                          <a:latin typeface="Helvetica" pitchFamily="34" charset="0"/>
                          <a:ea typeface="Helvetica" pitchFamily="34" charset="-122"/>
                          <a:cs typeface="Helvetica" pitchFamily="34" charset="-120"/>
                        </a:rPr>
                        <a:t>XGBoost Teacher</a:t>
                      </a:r>
                      <a:endParaRPr lang="en-US" sz="10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1000" dirty="0">
                          <a:solidFill>
                            <a:srgbClr val="2D2D2D"/>
                          </a:solidFill>
                          <a:latin typeface="Helvetica" pitchFamily="34" charset="0"/>
                          <a:ea typeface="Helvetica" pitchFamily="34" charset="-122"/>
                          <a:cs typeface="Helvetica" pitchFamily="34" charset="-120"/>
                        </a:rPr>
                        <a:t>N/A</a:t>
                      </a:r>
                      <a:endParaRPr lang="en-US" sz="10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1000" dirty="0">
                          <a:solidFill>
                            <a:srgbClr val="2D2D2D"/>
                          </a:solidFill>
                          <a:latin typeface="Helvetica" pitchFamily="34" charset="0"/>
                          <a:ea typeface="Helvetica" pitchFamily="34" charset="-122"/>
                          <a:cs typeface="Helvetica" pitchFamily="34" charset="-120"/>
                        </a:rPr>
                        <a:t>18.176</a:t>
                      </a:r>
                      <a:endParaRPr lang="en-US" sz="10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1000" dirty="0">
                          <a:solidFill>
                            <a:srgbClr val="2D2D2D"/>
                          </a:solidFill>
                          <a:latin typeface="Helvetica" pitchFamily="34" charset="0"/>
                          <a:ea typeface="Helvetica" pitchFamily="34" charset="-122"/>
                          <a:cs typeface="Helvetica" pitchFamily="34" charset="-120"/>
                        </a:rPr>
                        <a:t>0.9162</a:t>
                      </a:r>
                      <a:endParaRPr lang="en-US" sz="10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1000" dirty="0">
                          <a:solidFill>
                            <a:srgbClr val="2D2D2D"/>
                          </a:solidFill>
                          <a:latin typeface="Helvetica" pitchFamily="34" charset="0"/>
                          <a:ea typeface="Helvetica" pitchFamily="34" charset="-122"/>
                          <a:cs typeface="Helvetica" pitchFamily="34" charset="-120"/>
                        </a:rPr>
                        <a:t>N/A</a:t>
                      </a:r>
                      <a:endParaRPr lang="en-US" sz="10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1000" dirty="0">
                          <a:solidFill>
                            <a:srgbClr val="2D2D2D"/>
                          </a:solidFill>
                          <a:latin typeface="Helvetica" pitchFamily="34" charset="0"/>
                          <a:ea typeface="Helvetica" pitchFamily="34" charset="-122"/>
                          <a:cs typeface="Helvetica" pitchFamily="34" charset="-120"/>
                        </a:rPr>
                        <a:t>—</a:t>
                      </a:r>
                      <a:endParaRPr lang="en-US" sz="10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marL="0" indent="0">
                        <a:buNone/>
                      </a:pPr>
                      <a:r>
                        <a:rPr lang="en-US" sz="1000" dirty="0">
                          <a:solidFill>
                            <a:srgbClr val="2D2D2D"/>
                          </a:solidFill>
                          <a:latin typeface="Helvetica" pitchFamily="34" charset="0"/>
                          <a:ea typeface="Helvetica" pitchFamily="34" charset="-122"/>
                          <a:cs typeface="Helvetica" pitchFamily="34" charset="-120"/>
                        </a:rPr>
                        <a:t>Student C-ii (from XGB)</a:t>
                      </a:r>
                      <a:endParaRPr lang="en-US" sz="10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1000" dirty="0">
                          <a:solidFill>
                            <a:srgbClr val="2D2D2D"/>
                          </a:solidFill>
                          <a:latin typeface="Helvetica" pitchFamily="34" charset="0"/>
                          <a:ea typeface="Helvetica" pitchFamily="34" charset="-122"/>
                          <a:cs typeface="Helvetica" pitchFamily="34" charset="-120"/>
                        </a:rPr>
                        <a:t>221,462</a:t>
                      </a:r>
                      <a:endParaRPr lang="en-US" sz="10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1000" dirty="0">
                          <a:solidFill>
                            <a:srgbClr val="2D2D2D"/>
                          </a:solidFill>
                          <a:latin typeface="Helvetica" pitchFamily="34" charset="0"/>
                          <a:ea typeface="Helvetica" pitchFamily="34" charset="-122"/>
                          <a:cs typeface="Helvetica" pitchFamily="34" charset="-120"/>
                        </a:rPr>
                        <a:t>0.894</a:t>
                      </a:r>
                      <a:endParaRPr lang="en-US" sz="10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1000" dirty="0">
                          <a:solidFill>
                            <a:srgbClr val="2D2D2D"/>
                          </a:solidFill>
                          <a:latin typeface="Helvetica" pitchFamily="34" charset="0"/>
                          <a:ea typeface="Helvetica" pitchFamily="34" charset="-122"/>
                          <a:cs typeface="Helvetica" pitchFamily="34" charset="-120"/>
                        </a:rPr>
                        <a:t>0.8141</a:t>
                      </a:r>
                      <a:endParaRPr lang="en-US" sz="10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1000" dirty="0">
                          <a:solidFill>
                            <a:srgbClr val="2D2D2D"/>
                          </a:solidFill>
                          <a:latin typeface="Helvetica" pitchFamily="34" charset="0"/>
                          <a:ea typeface="Helvetica" pitchFamily="34" charset="-122"/>
                          <a:cs typeface="Helvetica" pitchFamily="34" charset="-120"/>
                        </a:rPr>
                        <a:t>—</a:t>
                      </a:r>
                      <a:endParaRPr lang="en-US" sz="10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1000" dirty="0">
                          <a:solidFill>
                            <a:srgbClr val="2D2D2D"/>
                          </a:solidFill>
                          <a:latin typeface="Helvetica" pitchFamily="34" charset="0"/>
                          <a:ea typeface="Helvetica" pitchFamily="34" charset="-122"/>
                          <a:cs typeface="Helvetica" pitchFamily="34" charset="-120"/>
                        </a:rPr>
                        <a:t>88.9%</a:t>
                      </a:r>
                      <a:endParaRPr lang="en-US" sz="10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pic>
        <p:nvPicPr>
          <p:cNvPr id="7" name="Image 0" descr="preencoded.png"/>
          <p:cNvPicPr>
            <a:picLocks noChangeAspect="1"/>
          </p:cNvPicPr>
          <p:nvPr/>
        </p:nvPicPr>
        <p:blipFill>
          <a:blip r:embed="rId3"/>
          <a:stretch>
            <a:fillRect/>
          </a:stretch>
        </p:blipFill>
        <p:spPr>
          <a:xfrm>
            <a:off x="457200" y="3017520"/>
            <a:ext cx="5669280" cy="1920240"/>
          </a:xfrm>
          <a:prstGeom prst="rect">
            <a:avLst/>
          </a:prstGeom>
        </p:spPr>
      </p:pic>
      <p:pic>
        <p:nvPicPr>
          <p:cNvPr id="8" name="Image 1" descr="preencoded.png"/>
          <p:cNvPicPr>
            <a:picLocks noChangeAspect="1"/>
          </p:cNvPicPr>
          <p:nvPr/>
        </p:nvPicPr>
        <p:blipFill>
          <a:blip r:embed="rId4"/>
          <a:stretch>
            <a:fillRect/>
          </a:stretch>
        </p:blipFill>
        <p:spPr>
          <a:xfrm>
            <a:off x="6217920" y="3017520"/>
            <a:ext cx="2286000" cy="169164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2743200" cy="274320"/>
          </a:xfrm>
          <a:prstGeom prst="rect">
            <a:avLst/>
          </a:prstGeom>
          <a:noFill/>
          <a:ln/>
        </p:spPr>
        <p:txBody>
          <a:bodyPr wrap="square" lIns="0" tIns="0" rIns="0" bIns="0" rtlCol="0" anchor="ctr"/>
          <a:lstStyle/>
          <a:p>
            <a:pPr marL="0" indent="0">
              <a:buNone/>
            </a:pPr>
            <a:r>
              <a:rPr lang="en-US" sz="800" kern="0" spc="300" dirty="0">
                <a:solidFill>
                  <a:srgbClr val="7A7A7A"/>
                </a:solidFill>
                <a:latin typeface="Helvetica" pitchFamily="34" charset="0"/>
                <a:ea typeface="Helvetica" pitchFamily="34" charset="-122"/>
                <a:cs typeface="Helvetica" pitchFamily="34" charset="-120"/>
              </a:rPr>
              <a:t>PRUNING ONE-SHOT</a:t>
            </a:r>
            <a:endParaRPr lang="en-US" sz="800" dirty="0"/>
          </a:p>
        </p:txBody>
      </p:sp>
      <p:sp>
        <p:nvSpPr>
          <p:cNvPr id="3" name="Text 1"/>
          <p:cNvSpPr/>
          <p:nvPr/>
        </p:nvSpPr>
        <p:spPr>
          <a:xfrm>
            <a:off x="8229600" y="4617720"/>
            <a:ext cx="640080" cy="365760"/>
          </a:xfrm>
          <a:prstGeom prst="rect">
            <a:avLst/>
          </a:prstGeom>
          <a:noFill/>
          <a:ln/>
        </p:spPr>
        <p:txBody>
          <a:bodyPr wrap="square" lIns="0" tIns="0" rIns="0" bIns="0" rtlCol="0" anchor="ctr"/>
          <a:lstStyle/>
          <a:p>
            <a:pPr marL="0" indent="0" algn="r">
              <a:buNone/>
            </a:pPr>
            <a:r>
              <a:rPr lang="en-US" sz="900" dirty="0">
                <a:solidFill>
                  <a:srgbClr val="C0C0C0"/>
                </a:solidFill>
                <a:latin typeface="Helvetica" pitchFamily="34" charset="0"/>
                <a:ea typeface="Helvetica" pitchFamily="34" charset="-122"/>
                <a:cs typeface="Helvetica" pitchFamily="34" charset="-120"/>
              </a:rPr>
              <a:t>23</a:t>
            </a:r>
            <a:endParaRPr lang="en-US" sz="900" dirty="0"/>
          </a:p>
        </p:txBody>
      </p:sp>
      <p:sp>
        <p:nvSpPr>
          <p:cNvPr id="4" name="Text 2"/>
          <p:cNvSpPr/>
          <p:nvPr/>
        </p:nvSpPr>
        <p:spPr>
          <a:xfrm>
            <a:off x="640080" y="640080"/>
            <a:ext cx="7315200" cy="548640"/>
          </a:xfrm>
          <a:prstGeom prst="rect">
            <a:avLst/>
          </a:prstGeom>
          <a:noFill/>
          <a:ln/>
        </p:spPr>
        <p:txBody>
          <a:bodyPr wrap="square" lIns="0" tIns="0" rIns="0" bIns="0" rtlCol="0" anchor="ctr"/>
          <a:lstStyle/>
          <a:p>
            <a:pPr marL="0" indent="0">
              <a:buNone/>
            </a:pPr>
            <a:r>
              <a:rPr lang="en-US" sz="2800" b="1" dirty="0">
                <a:solidFill>
                  <a:srgbClr val="1A1A1A"/>
                </a:solidFill>
                <a:latin typeface="Helvetica" pitchFamily="34" charset="0"/>
                <a:ea typeface="Helvetica" pitchFamily="34" charset="-122"/>
                <a:cs typeface="Helvetica" pitchFamily="34" charset="-120"/>
              </a:rPr>
              <a:t>Why prune? Why magnitude-based?</a:t>
            </a:r>
            <a:endParaRPr lang="en-US" sz="2800" dirty="0"/>
          </a:p>
        </p:txBody>
      </p:sp>
      <p:sp>
        <p:nvSpPr>
          <p:cNvPr id="5" name="Shape 3"/>
          <p:cNvSpPr/>
          <p:nvPr/>
        </p:nvSpPr>
        <p:spPr>
          <a:xfrm>
            <a:off x="640080" y="1188720"/>
            <a:ext cx="7863840" cy="0"/>
          </a:xfrm>
          <a:prstGeom prst="line">
            <a:avLst/>
          </a:prstGeom>
          <a:noFill/>
          <a:ln w="9525">
            <a:solidFill>
              <a:srgbClr val="D8D8D8"/>
            </a:solidFill>
            <a:prstDash val="solid"/>
          </a:ln>
        </p:spPr>
      </p:sp>
      <p:sp>
        <p:nvSpPr>
          <p:cNvPr id="6" name="Text 4"/>
          <p:cNvSpPr/>
          <p:nvPr/>
        </p:nvSpPr>
        <p:spPr>
          <a:xfrm>
            <a:off x="640080" y="1371600"/>
            <a:ext cx="7863840" cy="548640"/>
          </a:xfrm>
          <a:prstGeom prst="rect">
            <a:avLst/>
          </a:prstGeom>
          <a:noFill/>
          <a:ln/>
        </p:spPr>
        <p:txBody>
          <a:bodyPr wrap="square" lIns="0" tIns="0" rIns="0" bIns="0" rtlCol="0" anchor="ctr"/>
          <a:lstStyle/>
          <a:p>
            <a:pPr marL="0" indent="0">
              <a:lnSpc>
                <a:spcPct val="140000"/>
              </a:lnSpc>
              <a:buNone/>
            </a:pPr>
            <a:r>
              <a:rPr lang="en-US" sz="1050" dirty="0">
                <a:solidFill>
                  <a:srgbClr val="4A4A4A"/>
                </a:solidFill>
                <a:latin typeface="Helvetica" pitchFamily="34" charset="0"/>
                <a:ea typeface="Helvetica" pitchFamily="34" charset="-122"/>
                <a:cs typeface="Helvetica" pitchFamily="34" charset="-120"/>
              </a:rPr>
              <a:t>Pruning zeroes out small-magnitude weights, reducing computation without changing the architecture. One-shot pruning is the simplest approach: prune once, evaluate immediately, no retraining. It reveals how much </a:t>
            </a:r>
            <a:r>
              <a:rPr lang="en-US" sz="1050" b="1" dirty="0">
                <a:solidFill>
                  <a:srgbClr val="4A4A4A"/>
                </a:solidFill>
                <a:latin typeface="Helvetica" pitchFamily="34" charset="0"/>
                <a:ea typeface="Helvetica" pitchFamily="34" charset="-122"/>
                <a:cs typeface="Helvetica" pitchFamily="34" charset="-120"/>
              </a:rPr>
              <a:t>redundancy </a:t>
            </a:r>
            <a:r>
              <a:rPr lang="en-US" sz="1050" dirty="0">
                <a:solidFill>
                  <a:srgbClr val="4A4A4A"/>
                </a:solidFill>
                <a:latin typeface="Helvetica" pitchFamily="34" charset="0"/>
                <a:ea typeface="Helvetica" pitchFamily="34" charset="-122"/>
                <a:cs typeface="Helvetica" pitchFamily="34" charset="-120"/>
              </a:rPr>
              <a:t>exists in the trained model.</a:t>
            </a:r>
            <a:endParaRPr lang="en-US" sz="1050" dirty="0"/>
          </a:p>
        </p:txBody>
      </p:sp>
      <p:pic>
        <p:nvPicPr>
          <p:cNvPr id="7" name="Image 0" descr="preencoded.png"/>
          <p:cNvPicPr>
            <a:picLocks noChangeAspect="1"/>
          </p:cNvPicPr>
          <p:nvPr/>
        </p:nvPicPr>
        <p:blipFill>
          <a:blip r:embed="rId3"/>
          <a:stretch>
            <a:fillRect/>
          </a:stretch>
        </p:blipFill>
        <p:spPr>
          <a:xfrm>
            <a:off x="274320" y="2011680"/>
            <a:ext cx="5029200" cy="2743200"/>
          </a:xfrm>
          <a:prstGeom prst="rect">
            <a:avLst/>
          </a:prstGeom>
        </p:spPr>
      </p:pic>
      <p:sp>
        <p:nvSpPr>
          <p:cNvPr id="8" name="Text 5"/>
          <p:cNvSpPr/>
          <p:nvPr/>
        </p:nvSpPr>
        <p:spPr>
          <a:xfrm>
            <a:off x="5486400" y="2103120"/>
            <a:ext cx="2743200" cy="228600"/>
          </a:xfrm>
          <a:prstGeom prst="rect">
            <a:avLst/>
          </a:prstGeom>
          <a:noFill/>
          <a:ln/>
        </p:spPr>
        <p:txBody>
          <a:bodyPr wrap="square" lIns="0" tIns="0" rIns="0" bIns="0" rtlCol="0" anchor="ctr"/>
          <a:lstStyle/>
          <a:p>
            <a:pPr marL="0" indent="0">
              <a:buNone/>
            </a:pPr>
            <a:r>
              <a:rPr lang="en-US" sz="800" kern="0" spc="200" dirty="0">
                <a:solidFill>
                  <a:srgbClr val="7A7A7A"/>
                </a:solidFill>
                <a:latin typeface="Helvetica" pitchFamily="34" charset="0"/>
                <a:ea typeface="Helvetica" pitchFamily="34" charset="-122"/>
                <a:cs typeface="Helvetica" pitchFamily="34" charset="-120"/>
              </a:rPr>
              <a:t>KEY FINDINGS</a:t>
            </a:r>
            <a:endParaRPr lang="en-US" sz="800" dirty="0"/>
          </a:p>
        </p:txBody>
      </p:sp>
      <p:sp>
        <p:nvSpPr>
          <p:cNvPr id="9" name="Text 6"/>
          <p:cNvSpPr/>
          <p:nvPr/>
        </p:nvSpPr>
        <p:spPr>
          <a:xfrm>
            <a:off x="5486400" y="2423160"/>
            <a:ext cx="3200400" cy="274320"/>
          </a:xfrm>
          <a:prstGeom prst="rect">
            <a:avLst/>
          </a:prstGeom>
          <a:noFill/>
          <a:ln/>
        </p:spPr>
        <p:txBody>
          <a:bodyPr wrap="square" lIns="0" tIns="0" rIns="0" bIns="0" rtlCol="0" anchor="ctr"/>
          <a:lstStyle/>
          <a:p>
            <a:pPr marL="0" indent="0">
              <a:buNone/>
            </a:pPr>
            <a:r>
              <a:rPr lang="en-US" sz="950" dirty="0">
                <a:solidFill>
                  <a:srgbClr val="4A4A4A"/>
                </a:solidFill>
                <a:latin typeface="Helvetica" pitchFamily="34" charset="0"/>
                <a:ea typeface="Helvetica" pitchFamily="34" charset="-122"/>
                <a:cs typeface="Helvetica" pitchFamily="34" charset="-120"/>
              </a:rPr>
              <a:t>20% sparsity: F1 unchanged (0.8703)</a:t>
            </a:r>
            <a:endParaRPr lang="en-US" sz="950" dirty="0"/>
          </a:p>
        </p:txBody>
      </p:sp>
      <p:sp>
        <p:nvSpPr>
          <p:cNvPr id="10" name="Text 7"/>
          <p:cNvSpPr/>
          <p:nvPr/>
        </p:nvSpPr>
        <p:spPr>
          <a:xfrm>
            <a:off x="5486400" y="2743200"/>
            <a:ext cx="3200400" cy="274320"/>
          </a:xfrm>
          <a:prstGeom prst="rect">
            <a:avLst/>
          </a:prstGeom>
          <a:noFill/>
          <a:ln/>
        </p:spPr>
        <p:txBody>
          <a:bodyPr wrap="square" lIns="0" tIns="0" rIns="0" bIns="0" rtlCol="0" anchor="ctr"/>
          <a:lstStyle/>
          <a:p>
            <a:pPr marL="0" indent="0">
              <a:buNone/>
            </a:pPr>
            <a:r>
              <a:rPr lang="en-US" sz="950" dirty="0">
                <a:solidFill>
                  <a:srgbClr val="4A4A4A"/>
                </a:solidFill>
                <a:latin typeface="Helvetica" pitchFamily="34" charset="0"/>
                <a:ea typeface="Helvetica" pitchFamily="34" charset="-122"/>
                <a:cs typeface="Helvetica" pitchFamily="34" charset="-120"/>
              </a:rPr>
              <a:t>40% sparsity: F1 slightly up (0.8729)</a:t>
            </a:r>
            <a:endParaRPr lang="en-US" sz="950" dirty="0"/>
          </a:p>
        </p:txBody>
      </p:sp>
      <p:sp>
        <p:nvSpPr>
          <p:cNvPr id="11" name="Text 8"/>
          <p:cNvSpPr/>
          <p:nvPr/>
        </p:nvSpPr>
        <p:spPr>
          <a:xfrm>
            <a:off x="5486400" y="3063240"/>
            <a:ext cx="3200400" cy="274320"/>
          </a:xfrm>
          <a:prstGeom prst="rect">
            <a:avLst/>
          </a:prstGeom>
          <a:noFill/>
          <a:ln/>
        </p:spPr>
        <p:txBody>
          <a:bodyPr wrap="square" lIns="0" tIns="0" rIns="0" bIns="0" rtlCol="0" anchor="ctr"/>
          <a:lstStyle/>
          <a:p>
            <a:pPr marL="0" indent="0">
              <a:buNone/>
            </a:pPr>
            <a:r>
              <a:rPr lang="en-US" sz="950" dirty="0">
                <a:solidFill>
                  <a:srgbClr val="4A4A4A"/>
                </a:solidFill>
                <a:latin typeface="Helvetica" pitchFamily="34" charset="0"/>
                <a:ea typeface="Helvetica" pitchFamily="34" charset="-122"/>
                <a:cs typeface="Helvetica" pitchFamily="34" charset="-120"/>
              </a:rPr>
              <a:t>45% sparsity: Best F1=0.8773 (+0.007)</a:t>
            </a:r>
            <a:endParaRPr lang="en-US" sz="950" dirty="0"/>
          </a:p>
        </p:txBody>
      </p:sp>
      <p:sp>
        <p:nvSpPr>
          <p:cNvPr id="12" name="Text 9"/>
          <p:cNvSpPr/>
          <p:nvPr/>
        </p:nvSpPr>
        <p:spPr>
          <a:xfrm>
            <a:off x="5486400" y="3383280"/>
            <a:ext cx="3200400" cy="274320"/>
          </a:xfrm>
          <a:prstGeom prst="rect">
            <a:avLst/>
          </a:prstGeom>
          <a:noFill/>
          <a:ln/>
        </p:spPr>
        <p:txBody>
          <a:bodyPr wrap="square" lIns="0" tIns="0" rIns="0" bIns="0" rtlCol="0" anchor="ctr"/>
          <a:lstStyle/>
          <a:p>
            <a:pPr marL="0" indent="0">
              <a:buNone/>
            </a:pPr>
            <a:r>
              <a:rPr lang="en-US" sz="950" dirty="0">
                <a:solidFill>
                  <a:srgbClr val="4A4A4A"/>
                </a:solidFill>
                <a:latin typeface="Helvetica" pitchFamily="34" charset="0"/>
                <a:ea typeface="Helvetica" pitchFamily="34" charset="-122"/>
                <a:cs typeface="Helvetica" pitchFamily="34" charset="-120"/>
              </a:rPr>
              <a:t>50% sparsity: Cliff F1 drops to 0.788</a:t>
            </a:r>
            <a:endParaRPr lang="en-US" sz="950" dirty="0"/>
          </a:p>
        </p:txBody>
      </p:sp>
      <p:sp>
        <p:nvSpPr>
          <p:cNvPr id="13" name="Text 10"/>
          <p:cNvSpPr/>
          <p:nvPr/>
        </p:nvSpPr>
        <p:spPr>
          <a:xfrm>
            <a:off x="5486400" y="3703320"/>
            <a:ext cx="3200400" cy="274320"/>
          </a:xfrm>
          <a:prstGeom prst="rect">
            <a:avLst/>
          </a:prstGeom>
          <a:noFill/>
          <a:ln/>
        </p:spPr>
        <p:txBody>
          <a:bodyPr wrap="square" lIns="0" tIns="0" rIns="0" bIns="0" rtlCol="0" anchor="ctr"/>
          <a:lstStyle/>
          <a:p>
            <a:pPr marL="0" indent="0">
              <a:buNone/>
            </a:pPr>
            <a:r>
              <a:rPr lang="en-US" sz="950" dirty="0">
                <a:solidFill>
                  <a:srgbClr val="4A4A4A"/>
                </a:solidFill>
                <a:latin typeface="Helvetica" pitchFamily="34" charset="0"/>
                <a:ea typeface="Helvetica" pitchFamily="34" charset="-122"/>
                <a:cs typeface="Helvetica" pitchFamily="34" charset="-120"/>
              </a:rPr>
              <a:t>60% sparsity: Collapse F1=0.619</a:t>
            </a:r>
            <a:endParaRPr lang="en-US" sz="950" dirty="0"/>
          </a:p>
        </p:txBody>
      </p:sp>
      <p:sp>
        <p:nvSpPr>
          <p:cNvPr id="14" name="Text 11"/>
          <p:cNvSpPr/>
          <p:nvPr/>
        </p:nvSpPr>
        <p:spPr>
          <a:xfrm>
            <a:off x="5486400" y="4206240"/>
            <a:ext cx="3200400" cy="548640"/>
          </a:xfrm>
          <a:prstGeom prst="rect">
            <a:avLst/>
          </a:prstGeom>
          <a:noFill/>
          <a:ln/>
        </p:spPr>
        <p:txBody>
          <a:bodyPr wrap="square" lIns="0" tIns="0" rIns="0" bIns="0" rtlCol="0" anchor="ctr"/>
          <a:lstStyle/>
          <a:p>
            <a:pPr marL="0" indent="0">
              <a:lnSpc>
                <a:spcPct val="130000"/>
              </a:lnSpc>
              <a:buNone/>
            </a:pPr>
            <a:r>
              <a:rPr lang="en-US" sz="950" b="1" dirty="0">
                <a:solidFill>
                  <a:srgbClr val="2D2D2D"/>
                </a:solidFill>
                <a:latin typeface="Helvetica" pitchFamily="34" charset="0"/>
                <a:ea typeface="Helvetica" pitchFamily="34" charset="-122"/>
                <a:cs typeface="Helvetica" pitchFamily="34" charset="-120"/>
              </a:rPr>
              <a:t>One-shot pruning hits a cliff at 50%. Beyond that, critical weights are destroyed. Can we do better?</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2743200" cy="274320"/>
          </a:xfrm>
          <a:prstGeom prst="rect">
            <a:avLst/>
          </a:prstGeom>
          <a:noFill/>
          <a:ln/>
        </p:spPr>
        <p:txBody>
          <a:bodyPr wrap="square" lIns="0" tIns="0" rIns="0" bIns="0" rtlCol="0" anchor="ctr"/>
          <a:lstStyle/>
          <a:p>
            <a:pPr marL="0" indent="0">
              <a:buNone/>
            </a:pPr>
            <a:r>
              <a:rPr lang="en-US" sz="800" kern="0" spc="300" dirty="0">
                <a:solidFill>
                  <a:srgbClr val="7A7A7A"/>
                </a:solidFill>
                <a:latin typeface="Helvetica" pitchFamily="34" charset="0"/>
                <a:ea typeface="Helvetica" pitchFamily="34" charset="-122"/>
                <a:cs typeface="Helvetica" pitchFamily="34" charset="-120"/>
              </a:rPr>
              <a:t>PRUNING IMP</a:t>
            </a:r>
            <a:endParaRPr lang="en-US" sz="800" dirty="0"/>
          </a:p>
        </p:txBody>
      </p:sp>
      <p:sp>
        <p:nvSpPr>
          <p:cNvPr id="3" name="Text 1"/>
          <p:cNvSpPr/>
          <p:nvPr/>
        </p:nvSpPr>
        <p:spPr>
          <a:xfrm>
            <a:off x="8229600" y="4617720"/>
            <a:ext cx="640080" cy="365760"/>
          </a:xfrm>
          <a:prstGeom prst="rect">
            <a:avLst/>
          </a:prstGeom>
          <a:noFill/>
          <a:ln/>
        </p:spPr>
        <p:txBody>
          <a:bodyPr wrap="square" lIns="0" tIns="0" rIns="0" bIns="0" rtlCol="0" anchor="ctr"/>
          <a:lstStyle/>
          <a:p>
            <a:pPr marL="0" indent="0" algn="r">
              <a:buNone/>
            </a:pPr>
            <a:r>
              <a:rPr lang="en-US" sz="900" dirty="0">
                <a:solidFill>
                  <a:srgbClr val="C0C0C0"/>
                </a:solidFill>
                <a:latin typeface="Helvetica" pitchFamily="34" charset="0"/>
                <a:ea typeface="Helvetica" pitchFamily="34" charset="-122"/>
                <a:cs typeface="Helvetica" pitchFamily="34" charset="-120"/>
              </a:rPr>
              <a:t>24</a:t>
            </a:r>
            <a:endParaRPr lang="en-US" sz="900" dirty="0"/>
          </a:p>
        </p:txBody>
      </p:sp>
      <p:sp>
        <p:nvSpPr>
          <p:cNvPr id="4" name="Text 2"/>
          <p:cNvSpPr/>
          <p:nvPr/>
        </p:nvSpPr>
        <p:spPr>
          <a:xfrm>
            <a:off x="640080" y="640080"/>
            <a:ext cx="7315200" cy="548640"/>
          </a:xfrm>
          <a:prstGeom prst="rect">
            <a:avLst/>
          </a:prstGeom>
          <a:noFill/>
          <a:ln/>
        </p:spPr>
        <p:txBody>
          <a:bodyPr wrap="square" lIns="0" tIns="0" rIns="0" bIns="0" rtlCol="0" anchor="ctr"/>
          <a:lstStyle/>
          <a:p>
            <a:pPr marL="0" indent="0">
              <a:buNone/>
            </a:pPr>
            <a:r>
              <a:rPr lang="en-US" sz="2800" b="1" dirty="0">
                <a:solidFill>
                  <a:srgbClr val="1A1A1A"/>
                </a:solidFill>
                <a:latin typeface="Helvetica" pitchFamily="34" charset="0"/>
                <a:ea typeface="Helvetica" pitchFamily="34" charset="-122"/>
                <a:cs typeface="Helvetica" pitchFamily="34" charset="-120"/>
              </a:rPr>
              <a:t>Why iterative pruning (Lottery Ticket)?</a:t>
            </a:r>
            <a:endParaRPr lang="en-US" sz="2800" dirty="0"/>
          </a:p>
        </p:txBody>
      </p:sp>
      <p:sp>
        <p:nvSpPr>
          <p:cNvPr id="5" name="Shape 3"/>
          <p:cNvSpPr/>
          <p:nvPr/>
        </p:nvSpPr>
        <p:spPr>
          <a:xfrm>
            <a:off x="640080" y="1188720"/>
            <a:ext cx="7863840" cy="0"/>
          </a:xfrm>
          <a:prstGeom prst="line">
            <a:avLst/>
          </a:prstGeom>
          <a:noFill/>
          <a:ln w="9525">
            <a:solidFill>
              <a:srgbClr val="D8D8D8"/>
            </a:solidFill>
            <a:prstDash val="solid"/>
          </a:ln>
        </p:spPr>
      </p:sp>
      <p:sp>
        <p:nvSpPr>
          <p:cNvPr id="6" name="Text 4"/>
          <p:cNvSpPr/>
          <p:nvPr/>
        </p:nvSpPr>
        <p:spPr>
          <a:xfrm>
            <a:off x="640080" y="1371600"/>
            <a:ext cx="7863840" cy="640080"/>
          </a:xfrm>
          <a:prstGeom prst="rect">
            <a:avLst/>
          </a:prstGeom>
          <a:noFill/>
          <a:ln/>
        </p:spPr>
        <p:txBody>
          <a:bodyPr wrap="square" lIns="0" tIns="0" rIns="0" bIns="0" rtlCol="0" anchor="ctr"/>
          <a:lstStyle/>
          <a:p>
            <a:pPr marL="0" indent="0">
              <a:lnSpc>
                <a:spcPct val="140000"/>
              </a:lnSpc>
              <a:buNone/>
            </a:pPr>
            <a:r>
              <a:rPr lang="en-US" sz="1050" dirty="0">
                <a:solidFill>
                  <a:srgbClr val="4A4A4A"/>
                </a:solidFill>
                <a:latin typeface="Helvetica" pitchFamily="34" charset="0"/>
                <a:ea typeface="Helvetica" pitchFamily="34" charset="-122"/>
                <a:cs typeface="Helvetica" pitchFamily="34" charset="-120"/>
              </a:rPr>
              <a:t>The Lottery Ticket Hypothesis says dense networks contain sparse sub-networks ("winning tickets") that can match the original's accuracy. IMP finds them by iteratively pruning small fractions and retraining between rounds allowing the network to adapt its remaining weights before removing more.</a:t>
            </a:r>
            <a:endParaRPr lang="en-US" sz="1050" dirty="0"/>
          </a:p>
        </p:txBody>
      </p:sp>
      <p:pic>
        <p:nvPicPr>
          <p:cNvPr id="7" name="Image 0" descr="preencoded.png"/>
          <p:cNvPicPr>
            <a:picLocks noChangeAspect="1"/>
          </p:cNvPicPr>
          <p:nvPr/>
        </p:nvPicPr>
        <p:blipFill>
          <a:blip r:embed="rId3"/>
          <a:stretch>
            <a:fillRect/>
          </a:stretch>
        </p:blipFill>
        <p:spPr>
          <a:xfrm>
            <a:off x="274320" y="2103120"/>
            <a:ext cx="5029200" cy="2011680"/>
          </a:xfrm>
          <a:prstGeom prst="rect">
            <a:avLst/>
          </a:prstGeom>
        </p:spPr>
      </p:pic>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0" y="2286000"/>
          <a:ext cx="3200400" cy="1280160"/>
        </p:xfrm>
        <a:graphic>
          <a:graphicData uri="http://schemas.openxmlformats.org/drawingml/2006/table">
            <a:tbl>
              <a:tblPr/>
              <a:tblGrid>
                <a:gridCol w="109728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tblGrid>
              <a:tr h="256032">
                <a:tc>
                  <a:txBody>
                    <a:bodyPr/>
                    <a:lstStyle/>
                    <a:p>
                      <a:pPr marL="0" indent="0">
                        <a:buNone/>
                      </a:pPr>
                      <a:r>
                        <a:rPr lang="en-US" sz="900" b="1" dirty="0">
                          <a:solidFill>
                            <a:srgbClr val="2D2D2D"/>
                          </a:solidFill>
                          <a:latin typeface="Helvetica" pitchFamily="34" charset="0"/>
                          <a:ea typeface="Helvetica" pitchFamily="34" charset="-122"/>
                          <a:cs typeface="Helvetica" pitchFamily="34" charset="-120"/>
                        </a:rPr>
                        <a:t>Method</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5F5F5"/>
                    </a:solidFill>
                  </a:tcPr>
                </a:tc>
                <a:tc>
                  <a:txBody>
                    <a:bodyPr/>
                    <a:lstStyle/>
                    <a:p>
                      <a:pPr marL="0" indent="0">
                        <a:buNone/>
                      </a:pPr>
                      <a:r>
                        <a:rPr lang="en-US" sz="900" b="1" dirty="0">
                          <a:solidFill>
                            <a:srgbClr val="2D2D2D"/>
                          </a:solidFill>
                          <a:latin typeface="Helvetica" pitchFamily="34" charset="0"/>
                          <a:ea typeface="Helvetica" pitchFamily="34" charset="-122"/>
                          <a:cs typeface="Helvetica" pitchFamily="34" charset="-120"/>
                        </a:rPr>
                        <a:t>Sparsity</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5F5F5"/>
                    </a:solidFill>
                  </a:tcPr>
                </a:tc>
                <a:tc>
                  <a:txBody>
                    <a:bodyPr/>
                    <a:lstStyle/>
                    <a:p>
                      <a:pPr marL="0" indent="0">
                        <a:buNone/>
                      </a:pPr>
                      <a:r>
                        <a:rPr lang="en-US" sz="900" b="1" dirty="0">
                          <a:solidFill>
                            <a:srgbClr val="2D2D2D"/>
                          </a:solidFill>
                          <a:latin typeface="Helvetica" pitchFamily="34" charset="0"/>
                          <a:ea typeface="Helvetica" pitchFamily="34" charset="-122"/>
                          <a:cs typeface="Helvetica" pitchFamily="34" charset="-120"/>
                        </a:rPr>
                        <a:t>Macro F1</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5F5F5"/>
                    </a:solidFill>
                  </a:tcPr>
                </a:tc>
                <a:tc>
                  <a:txBody>
                    <a:bodyPr/>
                    <a:lstStyle/>
                    <a:p>
                      <a:pPr marL="0" indent="0">
                        <a:buNone/>
                      </a:pPr>
                      <a:r>
                        <a:rPr lang="en-US" sz="900" b="1" dirty="0">
                          <a:solidFill>
                            <a:srgbClr val="2D2D2D"/>
                          </a:solidFill>
                          <a:latin typeface="Helvetica" pitchFamily="34" charset="0"/>
                          <a:ea typeface="Helvetica" pitchFamily="34" charset="-122"/>
                          <a:cs typeface="Helvetica" pitchFamily="34" charset="-120"/>
                        </a:rPr>
                        <a:t>AUROC</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5F5F5"/>
                    </a:solidFill>
                  </a:tcPr>
                </a:tc>
                <a:extLst>
                  <a:ext uri="{0D108BD9-81ED-4DB2-BD59-A6C34878D82A}">
                    <a16:rowId xmlns:a16="http://schemas.microsoft.com/office/drawing/2014/main" val="10000"/>
                  </a:ext>
                </a:extLst>
              </a:tr>
              <a:tr h="256032">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Baseline (0%)</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0%</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0.8702</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0.8740</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1"/>
                  </a:ext>
                </a:extLst>
              </a:tr>
              <a:tr h="256032">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One-shot best</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45%</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0.8773</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0.8704</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2"/>
                  </a:ext>
                </a:extLst>
              </a:tr>
              <a:tr h="256032">
                <a:tc>
                  <a:txBody>
                    <a:bodyPr/>
                    <a:lstStyle/>
                    <a:p>
                      <a:pPr marL="0" indent="0">
                        <a:buNone/>
                      </a:pPr>
                      <a:r>
                        <a:rPr lang="en-US" sz="900" b="1" dirty="0">
                          <a:solidFill>
                            <a:srgbClr val="2D2D2D"/>
                          </a:solidFill>
                          <a:latin typeface="Helvetica" pitchFamily="34" charset="0"/>
                          <a:ea typeface="Helvetica" pitchFamily="34" charset="-122"/>
                          <a:cs typeface="Helvetica" pitchFamily="34" charset="-120"/>
                        </a:rPr>
                        <a:t>IMP best</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b="1" dirty="0">
                          <a:solidFill>
                            <a:srgbClr val="2D2D2D"/>
                          </a:solidFill>
                          <a:latin typeface="Helvetica" pitchFamily="34" charset="0"/>
                          <a:ea typeface="Helvetica" pitchFamily="34" charset="-122"/>
                          <a:cs typeface="Helvetica" pitchFamily="34" charset="-120"/>
                        </a:rPr>
                        <a:t>60%</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b="1" dirty="0">
                          <a:solidFill>
                            <a:srgbClr val="2D2D2D"/>
                          </a:solidFill>
                          <a:latin typeface="Helvetica" pitchFamily="34" charset="0"/>
                          <a:ea typeface="Helvetica" pitchFamily="34" charset="-122"/>
                          <a:cs typeface="Helvetica" pitchFamily="34" charset="-120"/>
                        </a:rPr>
                        <a:t>0.8992</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b="1" dirty="0">
                          <a:solidFill>
                            <a:srgbClr val="2D2D2D"/>
                          </a:solidFill>
                          <a:latin typeface="Helvetica" pitchFamily="34" charset="0"/>
                          <a:ea typeface="Helvetica" pitchFamily="34" charset="-122"/>
                          <a:cs typeface="Helvetica" pitchFamily="34" charset="-120"/>
                        </a:rPr>
                        <a:t>0.8710</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3"/>
                  </a:ext>
                </a:extLst>
              </a:tr>
              <a:tr h="256032">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One-shot @ 60%</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60%</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0.6189</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00" dirty="0">
                          <a:solidFill>
                            <a:srgbClr val="2D2D2D"/>
                          </a:solidFill>
                          <a:latin typeface="Helvetica" pitchFamily="34" charset="0"/>
                          <a:ea typeface="Helvetica" pitchFamily="34" charset="-122"/>
                          <a:cs typeface="Helvetica" pitchFamily="34" charset="-120"/>
                        </a:rPr>
                        <a:t>0.8636</a:t>
                      </a:r>
                      <a:endParaRPr lang="en-US" sz="90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Text 5"/>
          <p:cNvSpPr/>
          <p:nvPr/>
        </p:nvSpPr>
        <p:spPr>
          <a:xfrm>
            <a:off x="640080" y="4389120"/>
            <a:ext cx="7863840" cy="457200"/>
          </a:xfrm>
          <a:prstGeom prst="rect">
            <a:avLst/>
          </a:prstGeom>
          <a:noFill/>
          <a:ln/>
        </p:spPr>
        <p:txBody>
          <a:bodyPr wrap="square" lIns="0" tIns="0" rIns="0" bIns="0" rtlCol="0" anchor="ctr"/>
          <a:lstStyle/>
          <a:p>
            <a:pPr marL="0" indent="0">
              <a:lnSpc>
                <a:spcPct val="130000"/>
              </a:lnSpc>
              <a:buNone/>
            </a:pPr>
            <a:r>
              <a:rPr lang="en-US" sz="1050" b="1" dirty="0">
                <a:solidFill>
                  <a:srgbClr val="2D2D2D"/>
                </a:solidFill>
                <a:latin typeface="Helvetica" pitchFamily="34" charset="0"/>
                <a:ea typeface="Helvetica" pitchFamily="34" charset="-122"/>
                <a:cs typeface="Helvetica" pitchFamily="34" charset="-120"/>
              </a:rPr>
              <a:t>IMP at 60% sparsity achieves Macro F1 = 0.8992 surpassing the unpruned baseline (0.8702) while one-shot at 60% collapsed to 0.619.</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9251D-B55D-B513-0FA9-532602EE182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EF82837-DAD4-94BE-0CE8-FE6FF615B934}"/>
              </a:ext>
            </a:extLst>
          </p:cNvPr>
          <p:cNvSpPr/>
          <p:nvPr/>
        </p:nvSpPr>
        <p:spPr>
          <a:xfrm>
            <a:off x="640080" y="320040"/>
            <a:ext cx="2743200" cy="274320"/>
          </a:xfrm>
          <a:prstGeom prst="rect">
            <a:avLst/>
          </a:prstGeom>
          <a:noFill/>
          <a:ln/>
        </p:spPr>
        <p:txBody>
          <a:bodyPr wrap="square" lIns="0" tIns="0" rIns="0" bIns="0" rtlCol="0" anchor="ctr"/>
          <a:lstStyle/>
          <a:p>
            <a:pPr marL="0" indent="0">
              <a:buNone/>
            </a:pPr>
            <a:r>
              <a:rPr lang="en-US" sz="800" kern="0" spc="300" dirty="0">
                <a:solidFill>
                  <a:srgbClr val="7A7A7A"/>
                </a:solidFill>
                <a:latin typeface="Helvetica" pitchFamily="34" charset="0"/>
                <a:ea typeface="Helvetica" pitchFamily="34" charset="-122"/>
                <a:cs typeface="Helvetica" pitchFamily="34" charset="-120"/>
              </a:rPr>
              <a:t>PRUNING CONFUSION MATRICES</a:t>
            </a:r>
            <a:endParaRPr lang="en-US" sz="800" dirty="0"/>
          </a:p>
        </p:txBody>
      </p:sp>
      <p:sp>
        <p:nvSpPr>
          <p:cNvPr id="3" name="Text 1">
            <a:extLst>
              <a:ext uri="{FF2B5EF4-FFF2-40B4-BE49-F238E27FC236}">
                <a16:creationId xmlns:a16="http://schemas.microsoft.com/office/drawing/2014/main" id="{BF2DE5C9-9F58-B60A-498A-32BC58E1FB1C}"/>
              </a:ext>
            </a:extLst>
          </p:cNvPr>
          <p:cNvSpPr/>
          <p:nvPr/>
        </p:nvSpPr>
        <p:spPr>
          <a:xfrm>
            <a:off x="8229600" y="4617720"/>
            <a:ext cx="640080" cy="365760"/>
          </a:xfrm>
          <a:prstGeom prst="rect">
            <a:avLst/>
          </a:prstGeom>
          <a:noFill/>
          <a:ln/>
        </p:spPr>
        <p:txBody>
          <a:bodyPr wrap="square" lIns="0" tIns="0" rIns="0" bIns="0" rtlCol="0" anchor="ctr"/>
          <a:lstStyle/>
          <a:p>
            <a:pPr marL="0" indent="0" algn="r">
              <a:buNone/>
            </a:pPr>
            <a:r>
              <a:rPr lang="en-US" sz="900" dirty="0">
                <a:solidFill>
                  <a:srgbClr val="C0C0C0"/>
                </a:solidFill>
                <a:latin typeface="Helvetica" pitchFamily="34" charset="0"/>
                <a:ea typeface="Helvetica" pitchFamily="34" charset="-122"/>
                <a:cs typeface="Helvetica" pitchFamily="34" charset="-120"/>
              </a:rPr>
              <a:t>25</a:t>
            </a:r>
            <a:endParaRPr lang="en-US" sz="900" dirty="0"/>
          </a:p>
        </p:txBody>
      </p:sp>
      <p:sp>
        <p:nvSpPr>
          <p:cNvPr id="4" name="Text 2">
            <a:extLst>
              <a:ext uri="{FF2B5EF4-FFF2-40B4-BE49-F238E27FC236}">
                <a16:creationId xmlns:a16="http://schemas.microsoft.com/office/drawing/2014/main" id="{57D18771-FDAC-101D-2638-33BD08614C99}"/>
              </a:ext>
            </a:extLst>
          </p:cNvPr>
          <p:cNvSpPr/>
          <p:nvPr/>
        </p:nvSpPr>
        <p:spPr>
          <a:xfrm>
            <a:off x="640080" y="640080"/>
            <a:ext cx="7315200" cy="548640"/>
          </a:xfrm>
          <a:prstGeom prst="rect">
            <a:avLst/>
          </a:prstGeom>
          <a:noFill/>
          <a:ln/>
        </p:spPr>
        <p:txBody>
          <a:bodyPr wrap="square" lIns="0" tIns="0" rIns="0" bIns="0" rtlCol="0" anchor="ctr"/>
          <a:lstStyle/>
          <a:p>
            <a:pPr marL="0" indent="0">
              <a:buNone/>
            </a:pPr>
            <a:r>
              <a:rPr lang="en-US" sz="2800" b="1" dirty="0">
                <a:solidFill>
                  <a:srgbClr val="1A1A1A"/>
                </a:solidFill>
                <a:latin typeface="Helvetica" pitchFamily="34" charset="0"/>
                <a:ea typeface="Helvetica" pitchFamily="34" charset="-122"/>
                <a:cs typeface="Helvetica" pitchFamily="34" charset="-120"/>
              </a:rPr>
              <a:t>Where IMP beats one-shot</a:t>
            </a:r>
            <a:endParaRPr lang="en-US" sz="2800" dirty="0"/>
          </a:p>
        </p:txBody>
      </p:sp>
      <p:sp>
        <p:nvSpPr>
          <p:cNvPr id="5" name="Shape 3">
            <a:extLst>
              <a:ext uri="{FF2B5EF4-FFF2-40B4-BE49-F238E27FC236}">
                <a16:creationId xmlns:a16="http://schemas.microsoft.com/office/drawing/2014/main" id="{5014EE74-508B-D684-1415-B984F90F1F57}"/>
              </a:ext>
            </a:extLst>
          </p:cNvPr>
          <p:cNvSpPr/>
          <p:nvPr/>
        </p:nvSpPr>
        <p:spPr>
          <a:xfrm>
            <a:off x="640080" y="1188720"/>
            <a:ext cx="7863840" cy="0"/>
          </a:xfrm>
          <a:prstGeom prst="line">
            <a:avLst/>
          </a:prstGeom>
          <a:noFill/>
          <a:ln w="9525">
            <a:solidFill>
              <a:srgbClr val="D8D8D8"/>
            </a:solidFill>
            <a:prstDash val="solid"/>
          </a:ln>
        </p:spPr>
      </p:sp>
      <p:pic>
        <p:nvPicPr>
          <p:cNvPr id="6" name="Image 0" descr="preencoded.png">
            <a:extLst>
              <a:ext uri="{FF2B5EF4-FFF2-40B4-BE49-F238E27FC236}">
                <a16:creationId xmlns:a16="http://schemas.microsoft.com/office/drawing/2014/main" id="{FB31BB91-6040-9B5B-7A95-0953A4B0C6C6}"/>
              </a:ext>
            </a:extLst>
          </p:cNvPr>
          <p:cNvPicPr>
            <a:picLocks noChangeAspect="1"/>
          </p:cNvPicPr>
          <p:nvPr/>
        </p:nvPicPr>
        <p:blipFill>
          <a:blip r:embed="rId3"/>
          <a:srcRect l="51363" t="5305"/>
          <a:stretch>
            <a:fillRect/>
          </a:stretch>
        </p:blipFill>
        <p:spPr>
          <a:xfrm>
            <a:off x="542611" y="1446962"/>
            <a:ext cx="3383279" cy="2656135"/>
          </a:xfrm>
          <a:prstGeom prst="rect">
            <a:avLst/>
          </a:prstGeom>
        </p:spPr>
      </p:pic>
      <p:sp>
        <p:nvSpPr>
          <p:cNvPr id="7" name="Text 4">
            <a:extLst>
              <a:ext uri="{FF2B5EF4-FFF2-40B4-BE49-F238E27FC236}">
                <a16:creationId xmlns:a16="http://schemas.microsoft.com/office/drawing/2014/main" id="{FAF085B7-385F-44C5-0817-FBAE09CE14B2}"/>
              </a:ext>
            </a:extLst>
          </p:cNvPr>
          <p:cNvSpPr/>
          <p:nvPr/>
        </p:nvSpPr>
        <p:spPr>
          <a:xfrm>
            <a:off x="1905" y="3954805"/>
            <a:ext cx="4464690" cy="548615"/>
          </a:xfrm>
          <a:prstGeom prst="rect">
            <a:avLst/>
          </a:prstGeom>
          <a:noFill/>
          <a:ln/>
        </p:spPr>
        <p:txBody>
          <a:bodyPr wrap="square" lIns="0" tIns="0" rIns="0" bIns="0" rtlCol="0" anchor="ctr"/>
          <a:lstStyle/>
          <a:p>
            <a:pPr marL="0" indent="0" algn="ctr">
              <a:buNone/>
            </a:pPr>
            <a:r>
              <a:rPr lang="en-US" sz="800" dirty="0">
                <a:solidFill>
                  <a:srgbClr val="7A7A7A"/>
                </a:solidFill>
                <a:latin typeface="Helvetica" pitchFamily="34" charset="0"/>
                <a:ea typeface="Helvetica" pitchFamily="34" charset="-122"/>
                <a:cs typeface="Helvetica" pitchFamily="34" charset="-120"/>
              </a:rPr>
              <a:t>One-shot 45% (best)</a:t>
            </a:r>
            <a:endParaRPr lang="en-US" sz="800" dirty="0"/>
          </a:p>
        </p:txBody>
      </p:sp>
      <p:pic>
        <p:nvPicPr>
          <p:cNvPr id="12" name="Image 1" descr="preencoded.png">
            <a:extLst>
              <a:ext uri="{FF2B5EF4-FFF2-40B4-BE49-F238E27FC236}">
                <a16:creationId xmlns:a16="http://schemas.microsoft.com/office/drawing/2014/main" id="{5A054DE5-8726-790C-DFBF-72AF469A69DA}"/>
              </a:ext>
            </a:extLst>
          </p:cNvPr>
          <p:cNvPicPr>
            <a:picLocks noChangeAspect="1"/>
          </p:cNvPicPr>
          <p:nvPr/>
        </p:nvPicPr>
        <p:blipFill>
          <a:blip r:embed="rId4"/>
          <a:srcRect l="51502" t="5237"/>
          <a:stretch>
            <a:fillRect/>
          </a:stretch>
        </p:blipFill>
        <p:spPr>
          <a:xfrm>
            <a:off x="4833061" y="1446962"/>
            <a:ext cx="3404075" cy="2682007"/>
          </a:xfrm>
          <a:prstGeom prst="rect">
            <a:avLst/>
          </a:prstGeom>
        </p:spPr>
      </p:pic>
      <p:sp>
        <p:nvSpPr>
          <p:cNvPr id="13" name="Text 5">
            <a:extLst>
              <a:ext uri="{FF2B5EF4-FFF2-40B4-BE49-F238E27FC236}">
                <a16:creationId xmlns:a16="http://schemas.microsoft.com/office/drawing/2014/main" id="{DD690748-9356-489A-D756-1FB5BCAAF499}"/>
              </a:ext>
            </a:extLst>
          </p:cNvPr>
          <p:cNvSpPr/>
          <p:nvPr/>
        </p:nvSpPr>
        <p:spPr>
          <a:xfrm>
            <a:off x="5211578" y="4103097"/>
            <a:ext cx="2834640" cy="228600"/>
          </a:xfrm>
          <a:prstGeom prst="rect">
            <a:avLst/>
          </a:prstGeom>
          <a:noFill/>
          <a:ln/>
        </p:spPr>
        <p:txBody>
          <a:bodyPr wrap="square" lIns="0" tIns="0" rIns="0" bIns="0" rtlCol="0" anchor="ctr"/>
          <a:lstStyle/>
          <a:p>
            <a:pPr marL="0" indent="0" algn="ctr">
              <a:buNone/>
            </a:pPr>
            <a:r>
              <a:rPr lang="en-US" sz="800" dirty="0">
                <a:solidFill>
                  <a:srgbClr val="7A7A7A"/>
                </a:solidFill>
                <a:latin typeface="Helvetica" pitchFamily="34" charset="0"/>
                <a:ea typeface="Helvetica" pitchFamily="34" charset="-122"/>
                <a:cs typeface="Helvetica" pitchFamily="34" charset="-120"/>
              </a:rPr>
              <a:t>IMP 60% (best)</a:t>
            </a:r>
            <a:endParaRPr lang="en-US" sz="800" dirty="0"/>
          </a:p>
        </p:txBody>
      </p:sp>
    </p:spTree>
    <p:extLst>
      <p:ext uri="{BB962C8B-B14F-4D97-AF65-F5344CB8AC3E}">
        <p14:creationId xmlns:p14="http://schemas.microsoft.com/office/powerpoint/2010/main" val="13504598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2743200" cy="274320"/>
          </a:xfrm>
          <a:prstGeom prst="rect">
            <a:avLst/>
          </a:prstGeom>
          <a:noFill/>
          <a:ln/>
        </p:spPr>
        <p:txBody>
          <a:bodyPr wrap="square" lIns="0" tIns="0" rIns="0" bIns="0" rtlCol="0" anchor="ctr"/>
          <a:lstStyle/>
          <a:p>
            <a:pPr marL="0" indent="0">
              <a:buNone/>
            </a:pPr>
            <a:r>
              <a:rPr lang="en-US" sz="800" kern="0" spc="300" dirty="0">
                <a:solidFill>
                  <a:srgbClr val="7A7A7A"/>
                </a:solidFill>
                <a:latin typeface="Helvetica" pitchFamily="34" charset="0"/>
                <a:ea typeface="Helvetica" pitchFamily="34" charset="-122"/>
                <a:cs typeface="Helvetica" pitchFamily="34" charset="-120"/>
              </a:rPr>
              <a:t>PRUNING CONFUSION MATRICES</a:t>
            </a:r>
            <a:endParaRPr lang="en-US" sz="800" dirty="0"/>
          </a:p>
        </p:txBody>
      </p:sp>
      <p:sp>
        <p:nvSpPr>
          <p:cNvPr id="3" name="Text 1"/>
          <p:cNvSpPr/>
          <p:nvPr/>
        </p:nvSpPr>
        <p:spPr>
          <a:xfrm>
            <a:off x="8229600" y="4617720"/>
            <a:ext cx="640080" cy="365760"/>
          </a:xfrm>
          <a:prstGeom prst="rect">
            <a:avLst/>
          </a:prstGeom>
          <a:noFill/>
          <a:ln/>
        </p:spPr>
        <p:txBody>
          <a:bodyPr wrap="square" lIns="0" tIns="0" rIns="0" bIns="0" rtlCol="0" anchor="ctr"/>
          <a:lstStyle/>
          <a:p>
            <a:pPr marL="0" indent="0" algn="r">
              <a:buNone/>
            </a:pPr>
            <a:r>
              <a:rPr lang="en-US" sz="900" dirty="0">
                <a:solidFill>
                  <a:srgbClr val="C0C0C0"/>
                </a:solidFill>
                <a:latin typeface="Helvetica" pitchFamily="34" charset="0"/>
                <a:ea typeface="Helvetica" pitchFamily="34" charset="-122"/>
                <a:cs typeface="Helvetica" pitchFamily="34" charset="-120"/>
              </a:rPr>
              <a:t>25</a:t>
            </a:r>
            <a:endParaRPr lang="en-US" sz="900" dirty="0"/>
          </a:p>
        </p:txBody>
      </p:sp>
      <p:sp>
        <p:nvSpPr>
          <p:cNvPr id="4" name="Text 2"/>
          <p:cNvSpPr/>
          <p:nvPr/>
        </p:nvSpPr>
        <p:spPr>
          <a:xfrm>
            <a:off x="640080" y="640080"/>
            <a:ext cx="7315200" cy="548640"/>
          </a:xfrm>
          <a:prstGeom prst="rect">
            <a:avLst/>
          </a:prstGeom>
          <a:noFill/>
          <a:ln/>
        </p:spPr>
        <p:txBody>
          <a:bodyPr wrap="square" lIns="0" tIns="0" rIns="0" bIns="0" rtlCol="0" anchor="ctr"/>
          <a:lstStyle/>
          <a:p>
            <a:pPr marL="0" indent="0">
              <a:buNone/>
            </a:pPr>
            <a:r>
              <a:rPr lang="en-US" sz="2800" b="1" dirty="0">
                <a:solidFill>
                  <a:srgbClr val="1A1A1A"/>
                </a:solidFill>
                <a:latin typeface="Helvetica" pitchFamily="34" charset="0"/>
                <a:ea typeface="Helvetica" pitchFamily="34" charset="-122"/>
                <a:cs typeface="Helvetica" pitchFamily="34" charset="-120"/>
              </a:rPr>
              <a:t>Where IMP beats one-shot</a:t>
            </a:r>
            <a:endParaRPr lang="en-US" sz="2800" dirty="0"/>
          </a:p>
        </p:txBody>
      </p:sp>
      <p:sp>
        <p:nvSpPr>
          <p:cNvPr id="5" name="Shape 3"/>
          <p:cNvSpPr/>
          <p:nvPr/>
        </p:nvSpPr>
        <p:spPr>
          <a:xfrm>
            <a:off x="640080" y="1188720"/>
            <a:ext cx="7863840" cy="0"/>
          </a:xfrm>
          <a:prstGeom prst="line">
            <a:avLst/>
          </a:prstGeom>
          <a:noFill/>
          <a:ln w="9525">
            <a:solidFill>
              <a:srgbClr val="D8D8D8"/>
            </a:solidFill>
            <a:prstDash val="solid"/>
          </a:ln>
        </p:spPr>
      </p:sp>
      <p:pic>
        <p:nvPicPr>
          <p:cNvPr id="10" name="Image 2" descr="preencoded.png"/>
          <p:cNvPicPr>
            <a:picLocks noChangeAspect="1"/>
          </p:cNvPicPr>
          <p:nvPr/>
        </p:nvPicPr>
        <p:blipFill>
          <a:blip r:embed="rId3"/>
          <a:srcRect l="33593" r="30208" b="91536"/>
          <a:stretch>
            <a:fillRect/>
          </a:stretch>
        </p:blipFill>
        <p:spPr>
          <a:xfrm>
            <a:off x="3305908" y="1215312"/>
            <a:ext cx="2793441" cy="228596"/>
          </a:xfrm>
          <a:prstGeom prst="rect">
            <a:avLst/>
          </a:prstGeom>
        </p:spPr>
      </p:pic>
      <p:sp>
        <p:nvSpPr>
          <p:cNvPr id="11" name="Text 6"/>
          <p:cNvSpPr/>
          <p:nvPr/>
        </p:nvSpPr>
        <p:spPr>
          <a:xfrm>
            <a:off x="1959428" y="4670472"/>
            <a:ext cx="5486400" cy="228600"/>
          </a:xfrm>
          <a:prstGeom prst="rect">
            <a:avLst/>
          </a:prstGeom>
          <a:noFill/>
          <a:ln/>
        </p:spPr>
        <p:txBody>
          <a:bodyPr wrap="square" lIns="0" tIns="0" rIns="0" bIns="0" rtlCol="0" anchor="ctr"/>
          <a:lstStyle/>
          <a:p>
            <a:pPr marL="0" indent="0" algn="ctr">
              <a:buNone/>
            </a:pPr>
            <a:r>
              <a:rPr lang="en-US" sz="800" dirty="0">
                <a:solidFill>
                  <a:srgbClr val="7A7A7A"/>
                </a:solidFill>
                <a:latin typeface="Helvetica" pitchFamily="34" charset="0"/>
                <a:ea typeface="Helvetica" pitchFamily="34" charset="-122"/>
                <a:cs typeface="Helvetica" pitchFamily="34" charset="-120"/>
              </a:rPr>
              <a:t>Delta: IMP 60% minus One-shot 45% (normalised)</a:t>
            </a:r>
            <a:endParaRPr lang="en-US" sz="800" dirty="0"/>
          </a:p>
        </p:txBody>
      </p:sp>
      <p:pic>
        <p:nvPicPr>
          <p:cNvPr id="12" name="Image 2" descr="preencoded.png">
            <a:extLst>
              <a:ext uri="{FF2B5EF4-FFF2-40B4-BE49-F238E27FC236}">
                <a16:creationId xmlns:a16="http://schemas.microsoft.com/office/drawing/2014/main" id="{C9A81E0C-26D0-D548-4E97-ADF178004B7F}"/>
              </a:ext>
            </a:extLst>
          </p:cNvPr>
          <p:cNvPicPr>
            <a:picLocks noChangeAspect="1"/>
          </p:cNvPicPr>
          <p:nvPr/>
        </p:nvPicPr>
        <p:blipFill>
          <a:blip r:embed="rId3"/>
          <a:srcRect t="7771" r="50413"/>
          <a:stretch>
            <a:fillRect/>
          </a:stretch>
        </p:blipFill>
        <p:spPr>
          <a:xfrm>
            <a:off x="2176398" y="1484410"/>
            <a:ext cx="4857447" cy="316206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2743200" cy="274320"/>
          </a:xfrm>
          <a:prstGeom prst="rect">
            <a:avLst/>
          </a:prstGeom>
          <a:noFill/>
          <a:ln/>
        </p:spPr>
        <p:txBody>
          <a:bodyPr wrap="square" lIns="0" tIns="0" rIns="0" bIns="0" rtlCol="0" anchor="ctr"/>
          <a:lstStyle/>
          <a:p>
            <a:pPr marL="0" indent="0">
              <a:buNone/>
            </a:pPr>
            <a:r>
              <a:rPr lang="en-US" sz="800" kern="0" spc="300" dirty="0">
                <a:solidFill>
                  <a:srgbClr val="7A7A7A"/>
                </a:solidFill>
                <a:latin typeface="Helvetica" pitchFamily="34" charset="0"/>
                <a:ea typeface="Helvetica" pitchFamily="34" charset="-122"/>
                <a:cs typeface="Helvetica" pitchFamily="34" charset="-120"/>
              </a:rPr>
              <a:t>MODEL ZOO</a:t>
            </a:r>
            <a:endParaRPr lang="en-US" sz="800" dirty="0"/>
          </a:p>
        </p:txBody>
      </p:sp>
      <p:sp>
        <p:nvSpPr>
          <p:cNvPr id="3" name="Text 1"/>
          <p:cNvSpPr/>
          <p:nvPr/>
        </p:nvSpPr>
        <p:spPr>
          <a:xfrm>
            <a:off x="8229600" y="4617720"/>
            <a:ext cx="640080" cy="365760"/>
          </a:xfrm>
          <a:prstGeom prst="rect">
            <a:avLst/>
          </a:prstGeom>
          <a:noFill/>
          <a:ln/>
        </p:spPr>
        <p:txBody>
          <a:bodyPr wrap="square" lIns="0" tIns="0" rIns="0" bIns="0" rtlCol="0" anchor="ctr"/>
          <a:lstStyle/>
          <a:p>
            <a:pPr marL="0" indent="0" algn="r">
              <a:buNone/>
            </a:pPr>
            <a:r>
              <a:rPr lang="en-US" sz="900" dirty="0">
                <a:solidFill>
                  <a:srgbClr val="C0C0C0"/>
                </a:solidFill>
                <a:latin typeface="Helvetica" pitchFamily="34" charset="0"/>
                <a:ea typeface="Helvetica" pitchFamily="34" charset="-122"/>
                <a:cs typeface="Helvetica" pitchFamily="34" charset="-120"/>
              </a:rPr>
              <a:t>26</a:t>
            </a:r>
            <a:endParaRPr lang="en-US" sz="900" dirty="0"/>
          </a:p>
        </p:txBody>
      </p:sp>
      <p:sp>
        <p:nvSpPr>
          <p:cNvPr id="4" name="Text 2"/>
          <p:cNvSpPr/>
          <p:nvPr/>
        </p:nvSpPr>
        <p:spPr>
          <a:xfrm>
            <a:off x="640080" y="640080"/>
            <a:ext cx="7315200" cy="548640"/>
          </a:xfrm>
          <a:prstGeom prst="rect">
            <a:avLst/>
          </a:prstGeom>
          <a:noFill/>
          <a:ln/>
        </p:spPr>
        <p:txBody>
          <a:bodyPr wrap="square" lIns="0" tIns="0" rIns="0" bIns="0" rtlCol="0" anchor="ctr"/>
          <a:lstStyle/>
          <a:p>
            <a:pPr marL="0" indent="0">
              <a:buNone/>
            </a:pPr>
            <a:r>
              <a:rPr lang="en-US" sz="3200" b="1" dirty="0">
                <a:solidFill>
                  <a:srgbClr val="1A1A1A"/>
                </a:solidFill>
                <a:latin typeface="Helvetica" pitchFamily="34" charset="0"/>
                <a:ea typeface="Helvetica" pitchFamily="34" charset="-122"/>
                <a:cs typeface="Helvetica" pitchFamily="34" charset="-120"/>
              </a:rPr>
              <a:t>Full model comparison</a:t>
            </a:r>
            <a:endParaRPr lang="en-US" sz="3200" dirty="0"/>
          </a:p>
        </p:txBody>
      </p:sp>
      <p:sp>
        <p:nvSpPr>
          <p:cNvPr id="5" name="Shape 3"/>
          <p:cNvSpPr/>
          <p:nvPr/>
        </p:nvSpPr>
        <p:spPr>
          <a:xfrm>
            <a:off x="640080" y="1234440"/>
            <a:ext cx="7863840" cy="0"/>
          </a:xfrm>
          <a:prstGeom prst="line">
            <a:avLst/>
          </a:prstGeom>
          <a:noFill/>
          <a:ln w="9525">
            <a:solidFill>
              <a:srgbClr val="D8D8D8"/>
            </a:solidFill>
            <a:prstDash val="solid"/>
          </a:ln>
        </p:spPr>
      </p:sp>
      <p:graphicFrame>
        <p:nvGraphicFramePr>
          <p:cNvPr id="27" name="Table 0"/>
          <p:cNvGraphicFramePr>
            <a:graphicFrameLocks noGrp="1"/>
          </p:cNvGraphicFramePr>
          <p:nvPr>
            <p:extLst>
              <p:ext uri="{D42A27DB-BD31-4B8C-83A1-F6EECF244321}">
                <p14:modId xmlns:p14="http://schemas.microsoft.com/office/powerpoint/2010/main" val="2986057503"/>
              </p:ext>
            </p:extLst>
          </p:nvPr>
        </p:nvGraphicFramePr>
        <p:xfrm>
          <a:off x="640080" y="1463040"/>
          <a:ext cx="6583680" cy="2194560"/>
        </p:xfrm>
        <a:graphic>
          <a:graphicData uri="http://schemas.openxmlformats.org/drawingml/2006/table">
            <a:tbl>
              <a:tblPr/>
              <a:tblGrid>
                <a:gridCol w="21945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274320">
                <a:tc>
                  <a:txBody>
                    <a:bodyPr/>
                    <a:lstStyle/>
                    <a:p>
                      <a:pPr marL="0" indent="0">
                        <a:buNone/>
                      </a:pPr>
                      <a:r>
                        <a:rPr lang="en-US" sz="950" b="1" dirty="0">
                          <a:solidFill>
                            <a:srgbClr val="2D2D2D"/>
                          </a:solidFill>
                          <a:latin typeface="Helvetica" pitchFamily="34" charset="0"/>
                          <a:ea typeface="Helvetica" pitchFamily="34" charset="-122"/>
                          <a:cs typeface="Helvetica" pitchFamily="34" charset="-120"/>
                        </a:rPr>
                        <a:t>Model</a:t>
                      </a:r>
                      <a:endParaRPr lang="en-US" sz="95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5F5F5"/>
                    </a:solidFill>
                  </a:tcPr>
                </a:tc>
                <a:tc>
                  <a:txBody>
                    <a:bodyPr/>
                    <a:lstStyle/>
                    <a:p>
                      <a:pPr marL="0" indent="0">
                        <a:buNone/>
                      </a:pPr>
                      <a:r>
                        <a:rPr lang="en-US" sz="950" b="1" dirty="0">
                          <a:solidFill>
                            <a:srgbClr val="2D2D2D"/>
                          </a:solidFill>
                          <a:latin typeface="Helvetica" pitchFamily="34" charset="0"/>
                          <a:ea typeface="Helvetica" pitchFamily="34" charset="-122"/>
                          <a:cs typeface="Helvetica" pitchFamily="34" charset="-120"/>
                        </a:rPr>
                        <a:t>Params</a:t>
                      </a:r>
                      <a:endParaRPr lang="en-US" sz="95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5F5F5"/>
                    </a:solidFill>
                  </a:tcPr>
                </a:tc>
                <a:tc>
                  <a:txBody>
                    <a:bodyPr/>
                    <a:lstStyle/>
                    <a:p>
                      <a:pPr marL="0" indent="0">
                        <a:buNone/>
                      </a:pPr>
                      <a:r>
                        <a:rPr lang="en-US" sz="950" b="1" dirty="0">
                          <a:solidFill>
                            <a:srgbClr val="2D2D2D"/>
                          </a:solidFill>
                          <a:latin typeface="Helvetica" pitchFamily="34" charset="0"/>
                          <a:ea typeface="Helvetica" pitchFamily="34" charset="-122"/>
                          <a:cs typeface="Helvetica" pitchFamily="34" charset="-120"/>
                        </a:rPr>
                        <a:t>Size</a:t>
                      </a:r>
                      <a:endParaRPr lang="en-US" sz="95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5F5F5"/>
                    </a:solidFill>
                  </a:tcPr>
                </a:tc>
                <a:tc>
                  <a:txBody>
                    <a:bodyPr/>
                    <a:lstStyle/>
                    <a:p>
                      <a:pPr marL="0" indent="0">
                        <a:buNone/>
                      </a:pPr>
                      <a:r>
                        <a:rPr lang="en-US" sz="950" b="1" dirty="0">
                          <a:solidFill>
                            <a:srgbClr val="2D2D2D"/>
                          </a:solidFill>
                          <a:latin typeface="Helvetica" pitchFamily="34" charset="0"/>
                          <a:ea typeface="Helvetica" pitchFamily="34" charset="-122"/>
                          <a:cs typeface="Helvetica" pitchFamily="34" charset="-120"/>
                        </a:rPr>
                        <a:t>F1</a:t>
                      </a:r>
                      <a:endParaRPr lang="en-US" sz="95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5F5F5"/>
                    </a:solidFill>
                  </a:tcPr>
                </a:tc>
                <a:tc>
                  <a:txBody>
                    <a:bodyPr/>
                    <a:lstStyle/>
                    <a:p>
                      <a:pPr marL="0" indent="0">
                        <a:buNone/>
                      </a:pPr>
                      <a:r>
                        <a:rPr lang="en-US" sz="950" b="1" dirty="0">
                          <a:solidFill>
                            <a:srgbClr val="2D2D2D"/>
                          </a:solidFill>
                          <a:latin typeface="Helvetica" pitchFamily="34" charset="0"/>
                          <a:ea typeface="Helvetica" pitchFamily="34" charset="-122"/>
                          <a:cs typeface="Helvetica" pitchFamily="34" charset="-120"/>
                        </a:rPr>
                        <a:t>AUROC</a:t>
                      </a:r>
                      <a:endParaRPr lang="en-US" sz="95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5F5F5"/>
                    </a:solidFill>
                  </a:tcPr>
                </a:tc>
                <a:tc>
                  <a:txBody>
                    <a:bodyPr/>
                    <a:lstStyle/>
                    <a:p>
                      <a:pPr marL="0" indent="0">
                        <a:buNone/>
                      </a:pPr>
                      <a:r>
                        <a:rPr lang="en-US" sz="950" b="1" dirty="0">
                          <a:solidFill>
                            <a:srgbClr val="2D2D2D"/>
                          </a:solidFill>
                          <a:latin typeface="Helvetica" pitchFamily="34" charset="0"/>
                          <a:ea typeface="Helvetica" pitchFamily="34" charset="-122"/>
                          <a:cs typeface="Helvetica" pitchFamily="34" charset="-120"/>
                        </a:rPr>
                        <a:t>Anomaly?</a:t>
                      </a:r>
                      <a:endParaRPr lang="en-US" sz="95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5F5F5"/>
                    </a:solidFill>
                  </a:tcPr>
                </a:tc>
                <a:extLst>
                  <a:ext uri="{0D108BD9-81ED-4DB2-BD59-A6C34878D82A}">
                    <a16:rowId xmlns:a16="http://schemas.microsoft.com/office/drawing/2014/main" val="10000"/>
                  </a:ext>
                </a:extLst>
              </a:tr>
              <a:tr h="274320">
                <a:tc>
                  <a:txBody>
                    <a:bodyPr/>
                    <a:lstStyle/>
                    <a:p>
                      <a:pPr marL="0" indent="0">
                        <a:buNone/>
                      </a:pPr>
                      <a:r>
                        <a:rPr lang="en-US" sz="950" dirty="0">
                          <a:solidFill>
                            <a:srgbClr val="2D2D2D"/>
                          </a:solidFill>
                          <a:latin typeface="Helvetica" pitchFamily="34" charset="0"/>
                          <a:ea typeface="Helvetica" pitchFamily="34" charset="-122"/>
                          <a:cs typeface="Helvetica" pitchFamily="34" charset="-120"/>
                        </a:rPr>
                        <a:t>Vanilla AE</a:t>
                      </a:r>
                      <a:endParaRPr lang="en-US" sz="95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50" dirty="0">
                          <a:solidFill>
                            <a:srgbClr val="2D2D2D"/>
                          </a:solidFill>
                          <a:latin typeface="Helvetica" pitchFamily="34" charset="0"/>
                          <a:ea typeface="Helvetica" pitchFamily="34" charset="-122"/>
                          <a:cs typeface="Helvetica" pitchFamily="34" charset="-120"/>
                        </a:rPr>
                        <a:t>495K</a:t>
                      </a:r>
                      <a:endParaRPr lang="en-US" sz="95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50" dirty="0">
                          <a:solidFill>
                            <a:srgbClr val="2D2D2D"/>
                          </a:solidFill>
                          <a:latin typeface="Helvetica" pitchFamily="34" charset="0"/>
                          <a:ea typeface="Helvetica" pitchFamily="34" charset="-122"/>
                          <a:cs typeface="Helvetica" pitchFamily="34" charset="-120"/>
                        </a:rPr>
                        <a:t>1.93 MB</a:t>
                      </a:r>
                      <a:endParaRPr lang="en-US" sz="95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50" dirty="0">
                          <a:solidFill>
                            <a:srgbClr val="2D2D2D"/>
                          </a:solidFill>
                          <a:latin typeface="Helvetica" pitchFamily="34" charset="0"/>
                          <a:ea typeface="Helvetica" pitchFamily="34" charset="-122"/>
                          <a:cs typeface="Helvetica" pitchFamily="34" charset="-120"/>
                        </a:rPr>
                        <a:t>—</a:t>
                      </a:r>
                      <a:endParaRPr lang="en-US" sz="95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50" dirty="0">
                          <a:solidFill>
                            <a:srgbClr val="2D2D2D"/>
                          </a:solidFill>
                          <a:latin typeface="Helvetica" pitchFamily="34" charset="0"/>
                          <a:ea typeface="Helvetica" pitchFamily="34" charset="-122"/>
                          <a:cs typeface="Helvetica" pitchFamily="34" charset="-120"/>
                        </a:rPr>
                        <a:t>0.759</a:t>
                      </a:r>
                      <a:endParaRPr lang="en-US" sz="95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50" dirty="0">
                          <a:solidFill>
                            <a:srgbClr val="2D2D2D"/>
                          </a:solidFill>
                          <a:latin typeface="Helvetica" pitchFamily="34" charset="0"/>
                          <a:ea typeface="Helvetica" pitchFamily="34" charset="-122"/>
                          <a:cs typeface="Helvetica" pitchFamily="34" charset="-120"/>
                        </a:rPr>
                        <a:t>Yes</a:t>
                      </a:r>
                      <a:endParaRPr lang="en-US" sz="95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buNone/>
                      </a:pPr>
                      <a:r>
                        <a:rPr lang="en-US" sz="950" dirty="0">
                          <a:solidFill>
                            <a:srgbClr val="2D2D2D"/>
                          </a:solidFill>
                          <a:latin typeface="Helvetica" pitchFamily="34" charset="0"/>
                          <a:ea typeface="Helvetica" pitchFamily="34" charset="-122"/>
                          <a:cs typeface="Helvetica" pitchFamily="34" charset="-120"/>
                        </a:rPr>
                        <a:t>HybridVAE (teacher)</a:t>
                      </a:r>
                      <a:endParaRPr lang="en-US" sz="95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50" dirty="0">
                          <a:solidFill>
                            <a:srgbClr val="2D2D2D"/>
                          </a:solidFill>
                          <a:latin typeface="Helvetica" pitchFamily="34" charset="0"/>
                          <a:ea typeface="Helvetica" pitchFamily="34" charset="-122"/>
                          <a:cs typeface="Helvetica" pitchFamily="34" charset="-120"/>
                        </a:rPr>
                        <a:t>749K</a:t>
                      </a:r>
                      <a:endParaRPr lang="en-US" sz="95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50" dirty="0">
                          <a:solidFill>
                            <a:srgbClr val="2D2D2D"/>
                          </a:solidFill>
                          <a:latin typeface="Helvetica" pitchFamily="34" charset="0"/>
                          <a:ea typeface="Helvetica" pitchFamily="34" charset="-122"/>
                          <a:cs typeface="Helvetica" pitchFamily="34" charset="-120"/>
                        </a:rPr>
                        <a:t>2.92 MB</a:t>
                      </a:r>
                      <a:endParaRPr lang="en-US" sz="95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50" dirty="0">
                          <a:solidFill>
                            <a:srgbClr val="2D2D2D"/>
                          </a:solidFill>
                          <a:latin typeface="Helvetica" pitchFamily="34" charset="0"/>
                          <a:ea typeface="Helvetica" pitchFamily="34" charset="-122"/>
                          <a:cs typeface="Helvetica" pitchFamily="34" charset="-120"/>
                        </a:rPr>
                        <a:t>0.870</a:t>
                      </a:r>
                      <a:endParaRPr lang="en-US" sz="95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50" dirty="0">
                          <a:solidFill>
                            <a:srgbClr val="2D2D2D"/>
                          </a:solidFill>
                          <a:latin typeface="Helvetica" pitchFamily="34" charset="0"/>
                          <a:ea typeface="Helvetica" pitchFamily="34" charset="-122"/>
                          <a:cs typeface="Helvetica" pitchFamily="34" charset="-120"/>
                        </a:rPr>
                        <a:t>0.874</a:t>
                      </a:r>
                      <a:endParaRPr lang="en-US" sz="95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50" dirty="0">
                          <a:solidFill>
                            <a:srgbClr val="2D2D2D"/>
                          </a:solidFill>
                          <a:latin typeface="Helvetica" pitchFamily="34" charset="0"/>
                          <a:ea typeface="Helvetica" pitchFamily="34" charset="-122"/>
                          <a:cs typeface="Helvetica" pitchFamily="34" charset="-120"/>
                        </a:rPr>
                        <a:t>Yes</a:t>
                      </a:r>
                      <a:endParaRPr lang="en-US" sz="95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buNone/>
                      </a:pPr>
                      <a:r>
                        <a:rPr lang="en-US" sz="950" dirty="0">
                          <a:solidFill>
                            <a:srgbClr val="2D2D2D"/>
                          </a:solidFill>
                          <a:latin typeface="Helvetica" pitchFamily="34" charset="0"/>
                          <a:ea typeface="Helvetica" pitchFamily="34" charset="-122"/>
                          <a:cs typeface="Helvetica" pitchFamily="34" charset="-120"/>
                        </a:rPr>
                        <a:t>XGBoost (teacher)</a:t>
                      </a:r>
                      <a:endParaRPr lang="en-US" sz="95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50" dirty="0">
                          <a:solidFill>
                            <a:srgbClr val="2D2D2D"/>
                          </a:solidFill>
                          <a:latin typeface="Helvetica" pitchFamily="34" charset="0"/>
                          <a:ea typeface="Helvetica" pitchFamily="34" charset="-122"/>
                          <a:cs typeface="Helvetica" pitchFamily="34" charset="-120"/>
                        </a:rPr>
                        <a:t>trees</a:t>
                      </a:r>
                      <a:endParaRPr lang="en-US" sz="95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50" dirty="0">
                          <a:solidFill>
                            <a:srgbClr val="2D2D2D"/>
                          </a:solidFill>
                          <a:latin typeface="Helvetica" pitchFamily="34" charset="0"/>
                          <a:ea typeface="Helvetica" pitchFamily="34" charset="-122"/>
                          <a:cs typeface="Helvetica" pitchFamily="34" charset="-120"/>
                        </a:rPr>
                        <a:t>18.18 MB</a:t>
                      </a:r>
                      <a:endParaRPr lang="en-US" sz="95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50" dirty="0">
                          <a:solidFill>
                            <a:srgbClr val="2D2D2D"/>
                          </a:solidFill>
                          <a:latin typeface="Helvetica" pitchFamily="34" charset="0"/>
                          <a:ea typeface="Helvetica" pitchFamily="34" charset="-122"/>
                          <a:cs typeface="Helvetica" pitchFamily="34" charset="-120"/>
                        </a:rPr>
                        <a:t>0.916</a:t>
                      </a:r>
                      <a:endParaRPr lang="en-US" sz="95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50" dirty="0">
                          <a:solidFill>
                            <a:srgbClr val="2D2D2D"/>
                          </a:solidFill>
                          <a:latin typeface="Helvetica" pitchFamily="34" charset="0"/>
                          <a:ea typeface="Helvetica" pitchFamily="34" charset="-122"/>
                          <a:cs typeface="Helvetica" pitchFamily="34" charset="-120"/>
                        </a:rPr>
                        <a:t>—</a:t>
                      </a:r>
                      <a:endParaRPr lang="en-US" sz="95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50" dirty="0">
                          <a:solidFill>
                            <a:srgbClr val="2D2D2D"/>
                          </a:solidFill>
                          <a:latin typeface="Helvetica" pitchFamily="34" charset="0"/>
                          <a:ea typeface="Helvetica" pitchFamily="34" charset="-122"/>
                          <a:cs typeface="Helvetica" pitchFamily="34" charset="-120"/>
                        </a:rPr>
                        <a:t>No</a:t>
                      </a:r>
                      <a:endParaRPr lang="en-US" sz="95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marL="0" indent="0">
                        <a:buNone/>
                      </a:pPr>
                      <a:r>
                        <a:rPr lang="en-US" sz="950" b="1" dirty="0">
                          <a:solidFill>
                            <a:srgbClr val="2D2D2D"/>
                          </a:solidFill>
                          <a:latin typeface="Helvetica" pitchFamily="34" charset="0"/>
                          <a:ea typeface="Helvetica" pitchFamily="34" charset="-122"/>
                          <a:cs typeface="Helvetica" pitchFamily="34" charset="-120"/>
                        </a:rPr>
                        <a:t>Student C-i (VAE→)</a:t>
                      </a:r>
                      <a:endParaRPr lang="en-US" sz="950" b="1"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50" b="1" dirty="0">
                          <a:solidFill>
                            <a:srgbClr val="2D2D2D"/>
                          </a:solidFill>
                          <a:latin typeface="Helvetica" pitchFamily="34" charset="0"/>
                          <a:ea typeface="Helvetica" pitchFamily="34" charset="-122"/>
                          <a:cs typeface="Helvetica" pitchFamily="34" charset="-120"/>
                        </a:rPr>
                        <a:t>221K</a:t>
                      </a:r>
                      <a:endParaRPr lang="en-US" sz="950" b="1"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50" b="1" dirty="0">
                          <a:solidFill>
                            <a:srgbClr val="2D2D2D"/>
                          </a:solidFill>
                          <a:latin typeface="Helvetica" pitchFamily="34" charset="0"/>
                          <a:ea typeface="Helvetica" pitchFamily="34" charset="-122"/>
                          <a:cs typeface="Helvetica" pitchFamily="34" charset="-120"/>
                        </a:rPr>
                        <a:t>0.89 MB</a:t>
                      </a:r>
                      <a:endParaRPr lang="en-US" sz="950" b="1"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50" b="1" dirty="0">
                          <a:solidFill>
                            <a:srgbClr val="2D2D2D"/>
                          </a:solidFill>
                          <a:latin typeface="Helvetica" pitchFamily="34" charset="0"/>
                          <a:ea typeface="Helvetica" pitchFamily="34" charset="-122"/>
                          <a:cs typeface="Helvetica" pitchFamily="34" charset="-120"/>
                        </a:rPr>
                        <a:t>0.862</a:t>
                      </a:r>
                      <a:endParaRPr lang="en-US" sz="950" b="1"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50" b="1" dirty="0">
                          <a:solidFill>
                            <a:srgbClr val="2D2D2D"/>
                          </a:solidFill>
                          <a:latin typeface="Helvetica" pitchFamily="34" charset="0"/>
                          <a:ea typeface="Helvetica" pitchFamily="34" charset="-122"/>
                          <a:cs typeface="Helvetica" pitchFamily="34" charset="-120"/>
                        </a:rPr>
                        <a:t>0.850</a:t>
                      </a:r>
                      <a:endParaRPr lang="en-US" sz="950" b="1"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50" b="1" dirty="0">
                          <a:solidFill>
                            <a:srgbClr val="2D2D2D"/>
                          </a:solidFill>
                          <a:latin typeface="Helvetica" pitchFamily="34" charset="0"/>
                          <a:ea typeface="Helvetica" pitchFamily="34" charset="-122"/>
                          <a:cs typeface="Helvetica" pitchFamily="34" charset="-120"/>
                        </a:rPr>
                        <a:t>Yes</a:t>
                      </a:r>
                      <a:endParaRPr lang="en-US" sz="950" b="1"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marL="0" indent="0">
                        <a:buNone/>
                      </a:pPr>
                      <a:r>
                        <a:rPr lang="en-US" sz="950" b="1" dirty="0">
                          <a:solidFill>
                            <a:srgbClr val="2D2D2D"/>
                          </a:solidFill>
                          <a:latin typeface="Helvetica" pitchFamily="34" charset="0"/>
                          <a:ea typeface="Helvetica" pitchFamily="34" charset="-122"/>
                          <a:cs typeface="Helvetica" pitchFamily="34" charset="-120"/>
                        </a:rPr>
                        <a:t>Student C-ii (XGB→)</a:t>
                      </a:r>
                      <a:endParaRPr lang="en-US" sz="950" b="1"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50" b="1" dirty="0">
                          <a:solidFill>
                            <a:srgbClr val="2D2D2D"/>
                          </a:solidFill>
                          <a:latin typeface="Helvetica" pitchFamily="34" charset="0"/>
                          <a:ea typeface="Helvetica" pitchFamily="34" charset="-122"/>
                          <a:cs typeface="Helvetica" pitchFamily="34" charset="-120"/>
                        </a:rPr>
                        <a:t>221K</a:t>
                      </a:r>
                      <a:endParaRPr lang="en-US" sz="950" b="1"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50" b="1" dirty="0">
                          <a:solidFill>
                            <a:srgbClr val="2D2D2D"/>
                          </a:solidFill>
                          <a:latin typeface="Helvetica" pitchFamily="34" charset="0"/>
                          <a:ea typeface="Helvetica" pitchFamily="34" charset="-122"/>
                          <a:cs typeface="Helvetica" pitchFamily="34" charset="-120"/>
                        </a:rPr>
                        <a:t>0.89 MB</a:t>
                      </a:r>
                      <a:endParaRPr lang="en-US" sz="950" b="1"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50" b="1" dirty="0">
                          <a:solidFill>
                            <a:srgbClr val="2D2D2D"/>
                          </a:solidFill>
                          <a:latin typeface="Helvetica" pitchFamily="34" charset="0"/>
                          <a:ea typeface="Helvetica" pitchFamily="34" charset="-122"/>
                          <a:cs typeface="Helvetica" pitchFamily="34" charset="-120"/>
                        </a:rPr>
                        <a:t>0.814</a:t>
                      </a:r>
                      <a:endParaRPr lang="en-US" sz="950" b="1"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50" b="1" dirty="0">
                          <a:solidFill>
                            <a:srgbClr val="2D2D2D"/>
                          </a:solidFill>
                          <a:latin typeface="Helvetica" pitchFamily="34" charset="0"/>
                          <a:ea typeface="Helvetica" pitchFamily="34" charset="-122"/>
                          <a:cs typeface="Helvetica" pitchFamily="34" charset="-120"/>
                        </a:rPr>
                        <a:t>—</a:t>
                      </a:r>
                      <a:endParaRPr lang="en-US" sz="950" b="1"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50" b="1" dirty="0">
                          <a:solidFill>
                            <a:srgbClr val="2D2D2D"/>
                          </a:solidFill>
                          <a:latin typeface="Helvetica" pitchFamily="34" charset="0"/>
                          <a:ea typeface="Helvetica" pitchFamily="34" charset="-122"/>
                          <a:cs typeface="Helvetica" pitchFamily="34" charset="-120"/>
                        </a:rPr>
                        <a:t>Yes</a:t>
                      </a:r>
                      <a:endParaRPr lang="en-US" sz="950" b="1"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5"/>
                  </a:ext>
                </a:extLst>
              </a:tr>
              <a:tr h="274320">
                <a:tc>
                  <a:txBody>
                    <a:bodyPr/>
                    <a:lstStyle/>
                    <a:p>
                      <a:pPr marL="0" indent="0">
                        <a:buNone/>
                      </a:pPr>
                      <a:r>
                        <a:rPr lang="en-US" sz="950" dirty="0">
                          <a:solidFill>
                            <a:srgbClr val="2D2D2D"/>
                          </a:solidFill>
                          <a:latin typeface="Helvetica" pitchFamily="34" charset="0"/>
                          <a:ea typeface="Helvetica" pitchFamily="34" charset="-122"/>
                          <a:cs typeface="Helvetica" pitchFamily="34" charset="-120"/>
                        </a:rPr>
                        <a:t>One-shot 45%</a:t>
                      </a:r>
                      <a:endParaRPr lang="en-US" sz="95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50" dirty="0">
                          <a:solidFill>
                            <a:srgbClr val="2D2D2D"/>
                          </a:solidFill>
                          <a:latin typeface="Helvetica" pitchFamily="34" charset="0"/>
                          <a:ea typeface="Helvetica" pitchFamily="34" charset="-122"/>
                          <a:cs typeface="Helvetica" pitchFamily="34" charset="-120"/>
                        </a:rPr>
                        <a:t>416K</a:t>
                      </a:r>
                      <a:endParaRPr lang="en-US" sz="95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lgn="l" defTabSz="914400" rtl="0" eaLnBrk="1" latinLnBrk="0" hangingPunct="1">
                        <a:buNone/>
                      </a:pPr>
                      <a:r>
                        <a:rPr lang="en-US" sz="950" kern="1200" dirty="0">
                          <a:solidFill>
                            <a:srgbClr val="2D2D2D"/>
                          </a:solidFill>
                          <a:latin typeface="Helvetica" pitchFamily="34" charset="0"/>
                        </a:rPr>
                        <a:t>~1.53 MB</a:t>
                      </a:r>
                      <a:endParaRPr lang="en-US" sz="950" kern="1200" dirty="0">
                        <a:solidFill>
                          <a:srgbClr val="2D2D2D"/>
                        </a:solidFill>
                        <a:latin typeface="Helvetica" pitchFamily="34"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50" dirty="0">
                          <a:solidFill>
                            <a:srgbClr val="2D2D2D"/>
                          </a:solidFill>
                          <a:latin typeface="Helvetica" pitchFamily="34" charset="0"/>
                          <a:ea typeface="Helvetica" pitchFamily="34" charset="-122"/>
                          <a:cs typeface="Helvetica" pitchFamily="34" charset="-120"/>
                        </a:rPr>
                        <a:t>0.877</a:t>
                      </a:r>
                      <a:endParaRPr lang="en-US" sz="95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50" dirty="0">
                          <a:solidFill>
                            <a:srgbClr val="2D2D2D"/>
                          </a:solidFill>
                          <a:latin typeface="Helvetica" pitchFamily="34" charset="0"/>
                          <a:ea typeface="Helvetica" pitchFamily="34" charset="-122"/>
                          <a:cs typeface="Helvetica" pitchFamily="34" charset="-120"/>
                        </a:rPr>
                        <a:t>0.870</a:t>
                      </a:r>
                      <a:endParaRPr lang="en-US" sz="95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50" dirty="0">
                          <a:solidFill>
                            <a:srgbClr val="2D2D2D"/>
                          </a:solidFill>
                          <a:latin typeface="Helvetica" pitchFamily="34" charset="0"/>
                          <a:ea typeface="Helvetica" pitchFamily="34" charset="-122"/>
                          <a:cs typeface="Helvetica" pitchFamily="34" charset="-120"/>
                        </a:rPr>
                        <a:t>Yes</a:t>
                      </a:r>
                      <a:endParaRPr lang="en-US" sz="95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6"/>
                  </a:ext>
                </a:extLst>
              </a:tr>
              <a:tr h="274320">
                <a:tc>
                  <a:txBody>
                    <a:bodyPr/>
                    <a:lstStyle/>
                    <a:p>
                      <a:pPr marL="0" indent="0">
                        <a:buNone/>
                      </a:pPr>
                      <a:r>
                        <a:rPr lang="en-US" sz="950" b="0" dirty="0">
                          <a:solidFill>
                            <a:srgbClr val="2D2D2D"/>
                          </a:solidFill>
                          <a:latin typeface="Helvetica" pitchFamily="34" charset="0"/>
                          <a:ea typeface="Helvetica" pitchFamily="34" charset="-122"/>
                          <a:cs typeface="Helvetica" pitchFamily="34" charset="-120"/>
                        </a:rPr>
                        <a:t>Iterative Magnitude Pruning 60%</a:t>
                      </a:r>
                      <a:endParaRPr lang="en-US" sz="950" b="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50" b="0" dirty="0">
                          <a:solidFill>
                            <a:srgbClr val="2D2D2D"/>
                          </a:solidFill>
                          <a:latin typeface="Helvetica" pitchFamily="34" charset="0"/>
                          <a:ea typeface="Helvetica" pitchFamily="34" charset="-122"/>
                          <a:cs typeface="Helvetica" pitchFamily="34" charset="-120"/>
                        </a:rPr>
                        <a:t>306K</a:t>
                      </a:r>
                      <a:endParaRPr lang="en-US" sz="950" b="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lgn="l" defTabSz="914400" rtl="0" eaLnBrk="1" latinLnBrk="0" hangingPunct="1">
                        <a:buNone/>
                      </a:pPr>
                      <a:r>
                        <a:rPr lang="en-US" sz="950" b="0" kern="1200" dirty="0">
                          <a:solidFill>
                            <a:srgbClr val="2D2D2D"/>
                          </a:solidFill>
                          <a:latin typeface="Helvetica" pitchFamily="34" charset="0"/>
                        </a:rPr>
                        <a:t>~1.21 MB</a:t>
                      </a:r>
                      <a:endParaRPr lang="en-US" sz="950" b="0" kern="1200" dirty="0">
                        <a:solidFill>
                          <a:srgbClr val="2D2D2D"/>
                        </a:solidFill>
                        <a:latin typeface="Helvetica" pitchFamily="34"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50" b="0" dirty="0">
                          <a:solidFill>
                            <a:srgbClr val="2D2D2D"/>
                          </a:solidFill>
                          <a:latin typeface="Helvetica" pitchFamily="34" charset="0"/>
                          <a:ea typeface="Helvetica" pitchFamily="34" charset="-122"/>
                          <a:cs typeface="Helvetica" pitchFamily="34" charset="-120"/>
                        </a:rPr>
                        <a:t>0.899</a:t>
                      </a:r>
                      <a:endParaRPr lang="en-US" sz="950" b="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50" b="0" dirty="0">
                          <a:solidFill>
                            <a:srgbClr val="2D2D2D"/>
                          </a:solidFill>
                          <a:latin typeface="Helvetica" pitchFamily="34" charset="0"/>
                          <a:ea typeface="Helvetica" pitchFamily="34" charset="-122"/>
                          <a:cs typeface="Helvetica" pitchFamily="34" charset="-120"/>
                        </a:rPr>
                        <a:t>0.871</a:t>
                      </a:r>
                      <a:endParaRPr lang="en-US" sz="950" b="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marL="0" indent="0">
                        <a:buNone/>
                      </a:pPr>
                      <a:r>
                        <a:rPr lang="en-US" sz="950" b="0" dirty="0">
                          <a:solidFill>
                            <a:srgbClr val="2D2D2D"/>
                          </a:solidFill>
                          <a:latin typeface="Helvetica" pitchFamily="34" charset="0"/>
                          <a:ea typeface="Helvetica" pitchFamily="34" charset="-122"/>
                          <a:cs typeface="Helvetica" pitchFamily="34" charset="-120"/>
                        </a:rPr>
                        <a:t>Yes</a:t>
                      </a:r>
                      <a:endParaRPr lang="en-US" sz="950" b="0" dirty="0">
                        <a:latin typeface="Helvetica" charset="0"/>
                        <a:ea typeface="Helvetica" charset="0"/>
                        <a:cs typeface="Helvetica" charset="0"/>
                      </a:endParaRPr>
                    </a:p>
                  </a:txBody>
                  <a:tcPr>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8" name="Text 5"/>
          <p:cNvSpPr/>
          <p:nvPr/>
        </p:nvSpPr>
        <p:spPr>
          <a:xfrm>
            <a:off x="640080" y="4206240"/>
            <a:ext cx="7863840" cy="502920"/>
          </a:xfrm>
          <a:prstGeom prst="rect">
            <a:avLst/>
          </a:prstGeom>
          <a:noFill/>
          <a:ln/>
        </p:spPr>
        <p:txBody>
          <a:bodyPr wrap="square" lIns="0" tIns="0" rIns="0" bIns="0" rtlCol="0" anchor="ctr"/>
          <a:lstStyle/>
          <a:p>
            <a:pPr marL="0" indent="0">
              <a:lnSpc>
                <a:spcPct val="130000"/>
              </a:lnSpc>
              <a:buNone/>
            </a:pPr>
            <a:r>
              <a:rPr lang="en-US" sz="1100" b="1" dirty="0">
                <a:solidFill>
                  <a:srgbClr val="2D2D2D"/>
                </a:solidFill>
                <a:latin typeface="Helvetica" pitchFamily="34" charset="0"/>
                <a:ea typeface="Helvetica" pitchFamily="34" charset="-122"/>
                <a:cs typeface="Helvetica" pitchFamily="34" charset="-120"/>
              </a:rPr>
              <a:t>Best edge candidate: IMP 60% highest Macro F1 (0.899), full anomaly detection, 59% of weights zeroed. Combined with the 221K distilled student for minimum footprint.</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1A1A1A"/>
        </a:solidFill>
        <a:effectLst/>
      </p:bgPr>
    </p:bg>
    <p:spTree>
      <p:nvGrpSpPr>
        <p:cNvPr id="1" name=""/>
        <p:cNvGrpSpPr/>
        <p:nvPr/>
      </p:nvGrpSpPr>
      <p:grpSpPr>
        <a:xfrm>
          <a:off x="0" y="0"/>
          <a:ext cx="0" cy="0"/>
          <a:chOff x="0" y="0"/>
          <a:chExt cx="0" cy="0"/>
        </a:xfrm>
      </p:grpSpPr>
      <p:sp>
        <p:nvSpPr>
          <p:cNvPr id="2" name="Text 0"/>
          <p:cNvSpPr/>
          <p:nvPr/>
        </p:nvSpPr>
        <p:spPr>
          <a:xfrm>
            <a:off x="640080" y="548640"/>
            <a:ext cx="7315200" cy="1188720"/>
          </a:xfrm>
          <a:prstGeom prst="rect">
            <a:avLst/>
          </a:prstGeom>
          <a:noFill/>
          <a:ln/>
        </p:spPr>
        <p:txBody>
          <a:bodyPr wrap="square" lIns="0" tIns="0" rIns="0" bIns="0" rtlCol="0" anchor="ctr"/>
          <a:lstStyle/>
          <a:p>
            <a:pPr marL="0" indent="0">
              <a:lnSpc>
                <a:spcPct val="105000"/>
              </a:lnSpc>
              <a:buNone/>
            </a:pPr>
            <a:r>
              <a:rPr lang="en-US" sz="4400" b="1" dirty="0">
                <a:solidFill>
                  <a:srgbClr val="FFFFFF"/>
                </a:solidFill>
                <a:latin typeface="Helvetica" pitchFamily="34" charset="0"/>
                <a:ea typeface="Helvetica" pitchFamily="34" charset="-122"/>
                <a:cs typeface="Helvetica" pitchFamily="34" charset="-120"/>
              </a:rPr>
              <a:t>WHAT WE</a:t>
            </a:r>
            <a:endParaRPr lang="en-US" sz="4400" dirty="0"/>
          </a:p>
          <a:p>
            <a:pPr marL="0" indent="0">
              <a:lnSpc>
                <a:spcPct val="105000"/>
              </a:lnSpc>
              <a:buNone/>
            </a:pPr>
            <a:r>
              <a:rPr lang="en-US" sz="4400" b="1" dirty="0">
                <a:solidFill>
                  <a:srgbClr val="FFFFFF"/>
                </a:solidFill>
                <a:latin typeface="Helvetica" pitchFamily="34" charset="0"/>
                <a:ea typeface="Helvetica" pitchFamily="34" charset="-122"/>
                <a:cs typeface="Helvetica" pitchFamily="34" charset="-120"/>
              </a:rPr>
              <a:t>LEARNED</a:t>
            </a:r>
            <a:endParaRPr lang="en-US" sz="4400" dirty="0"/>
          </a:p>
        </p:txBody>
      </p:sp>
      <p:sp>
        <p:nvSpPr>
          <p:cNvPr id="3" name="Shape 1"/>
          <p:cNvSpPr/>
          <p:nvPr/>
        </p:nvSpPr>
        <p:spPr>
          <a:xfrm>
            <a:off x="640080" y="1828800"/>
            <a:ext cx="2743200" cy="0"/>
          </a:xfrm>
          <a:prstGeom prst="line">
            <a:avLst/>
          </a:prstGeom>
          <a:noFill/>
          <a:ln w="9525">
            <a:solidFill>
              <a:srgbClr val="D8D8D8"/>
            </a:solidFill>
            <a:prstDash val="solid"/>
          </a:ln>
        </p:spPr>
      </p:sp>
      <p:sp>
        <p:nvSpPr>
          <p:cNvPr id="4" name="Text 2"/>
          <p:cNvSpPr/>
          <p:nvPr/>
        </p:nvSpPr>
        <p:spPr>
          <a:xfrm>
            <a:off x="640080" y="2103120"/>
            <a:ext cx="457200" cy="320040"/>
          </a:xfrm>
          <a:prstGeom prst="rect">
            <a:avLst/>
          </a:prstGeom>
          <a:noFill/>
          <a:ln/>
        </p:spPr>
        <p:txBody>
          <a:bodyPr wrap="square" lIns="0" tIns="0" rIns="0" bIns="0" rtlCol="0" anchor="ctr"/>
          <a:lstStyle/>
          <a:p>
            <a:pPr marL="0" indent="0">
              <a:buNone/>
            </a:pPr>
            <a:r>
              <a:rPr lang="en-US" sz="1200" b="1" dirty="0">
                <a:solidFill>
                  <a:srgbClr val="7A7A7A"/>
                </a:solidFill>
                <a:latin typeface="Helvetica" pitchFamily="34" charset="0"/>
                <a:ea typeface="Helvetica" pitchFamily="34" charset="-122"/>
                <a:cs typeface="Helvetica" pitchFamily="34" charset="-120"/>
              </a:rPr>
              <a:t>01</a:t>
            </a:r>
            <a:endParaRPr lang="en-US" sz="1200" dirty="0"/>
          </a:p>
        </p:txBody>
      </p:sp>
      <p:sp>
        <p:nvSpPr>
          <p:cNvPr id="5" name="Text 3"/>
          <p:cNvSpPr/>
          <p:nvPr/>
        </p:nvSpPr>
        <p:spPr>
          <a:xfrm>
            <a:off x="1188720" y="2075688"/>
            <a:ext cx="7132320" cy="365760"/>
          </a:xfrm>
          <a:prstGeom prst="rect">
            <a:avLst/>
          </a:prstGeom>
          <a:noFill/>
          <a:ln/>
        </p:spPr>
        <p:txBody>
          <a:bodyPr wrap="square" lIns="0" tIns="0" rIns="0" bIns="0" rtlCol="0" anchor="ctr"/>
          <a:lstStyle/>
          <a:p>
            <a:pPr marL="0" indent="0">
              <a:lnSpc>
                <a:spcPct val="130000"/>
              </a:lnSpc>
              <a:buNone/>
            </a:pPr>
            <a:r>
              <a:rPr lang="en-US" sz="1000" dirty="0">
                <a:solidFill>
                  <a:srgbClr val="C0C0C0"/>
                </a:solidFill>
                <a:latin typeface="Helvetica" pitchFamily="34" charset="0"/>
                <a:ea typeface="Helvetica" pitchFamily="34" charset="-122"/>
                <a:cs typeface="Helvetica" pitchFamily="34" charset="-120"/>
              </a:rPr>
              <a:t>Dual-path models (VAE + classifier) unify anomaly detection and classification without doubling the architecture.</a:t>
            </a:r>
            <a:endParaRPr lang="en-US" sz="1000" dirty="0"/>
          </a:p>
        </p:txBody>
      </p:sp>
      <p:sp>
        <p:nvSpPr>
          <p:cNvPr id="6" name="Text 4"/>
          <p:cNvSpPr/>
          <p:nvPr/>
        </p:nvSpPr>
        <p:spPr>
          <a:xfrm>
            <a:off x="640080" y="2560320"/>
            <a:ext cx="457200" cy="320040"/>
          </a:xfrm>
          <a:prstGeom prst="rect">
            <a:avLst/>
          </a:prstGeom>
          <a:noFill/>
          <a:ln/>
        </p:spPr>
        <p:txBody>
          <a:bodyPr wrap="square" lIns="0" tIns="0" rIns="0" bIns="0" rtlCol="0" anchor="ctr"/>
          <a:lstStyle/>
          <a:p>
            <a:pPr marL="0" indent="0">
              <a:buNone/>
            </a:pPr>
            <a:r>
              <a:rPr lang="en-US" sz="1200" b="1" dirty="0">
                <a:solidFill>
                  <a:srgbClr val="7A7A7A"/>
                </a:solidFill>
                <a:latin typeface="Helvetica" pitchFamily="34" charset="0"/>
                <a:ea typeface="Helvetica" pitchFamily="34" charset="-122"/>
                <a:cs typeface="Helvetica" pitchFamily="34" charset="-120"/>
              </a:rPr>
              <a:t>02</a:t>
            </a:r>
            <a:endParaRPr lang="en-US" sz="1200" dirty="0"/>
          </a:p>
        </p:txBody>
      </p:sp>
      <p:sp>
        <p:nvSpPr>
          <p:cNvPr id="7" name="Text 5"/>
          <p:cNvSpPr/>
          <p:nvPr/>
        </p:nvSpPr>
        <p:spPr>
          <a:xfrm>
            <a:off x="1188720" y="2532888"/>
            <a:ext cx="7132320" cy="365760"/>
          </a:xfrm>
          <a:prstGeom prst="rect">
            <a:avLst/>
          </a:prstGeom>
          <a:noFill/>
          <a:ln/>
        </p:spPr>
        <p:txBody>
          <a:bodyPr wrap="square" lIns="0" tIns="0" rIns="0" bIns="0" rtlCol="0" anchor="ctr"/>
          <a:lstStyle/>
          <a:p>
            <a:pPr marL="0" indent="0">
              <a:lnSpc>
                <a:spcPct val="130000"/>
              </a:lnSpc>
              <a:buNone/>
            </a:pPr>
            <a:r>
              <a:rPr lang="en-US" sz="1000" dirty="0">
                <a:solidFill>
                  <a:srgbClr val="C0C0C0"/>
                </a:solidFill>
                <a:latin typeface="Helvetica" pitchFamily="34" charset="0"/>
                <a:ea typeface="Helvetica" pitchFamily="34" charset="-122"/>
                <a:cs typeface="Helvetica" pitchFamily="34" charset="-120"/>
              </a:rPr>
              <a:t>XGBoost wins on closed-set accuracy, but a pure classifier is blind to novel threats a critical gap in security systems.</a:t>
            </a:r>
            <a:endParaRPr lang="en-US" sz="1000" dirty="0"/>
          </a:p>
        </p:txBody>
      </p:sp>
      <p:sp>
        <p:nvSpPr>
          <p:cNvPr id="8" name="Text 6"/>
          <p:cNvSpPr/>
          <p:nvPr/>
        </p:nvSpPr>
        <p:spPr>
          <a:xfrm>
            <a:off x="640080" y="3017520"/>
            <a:ext cx="457200" cy="320040"/>
          </a:xfrm>
          <a:prstGeom prst="rect">
            <a:avLst/>
          </a:prstGeom>
          <a:noFill/>
          <a:ln/>
        </p:spPr>
        <p:txBody>
          <a:bodyPr wrap="square" lIns="0" tIns="0" rIns="0" bIns="0" rtlCol="0" anchor="ctr"/>
          <a:lstStyle/>
          <a:p>
            <a:pPr marL="0" indent="0">
              <a:buNone/>
            </a:pPr>
            <a:r>
              <a:rPr lang="en-US" sz="1200" b="1" dirty="0">
                <a:solidFill>
                  <a:srgbClr val="7A7A7A"/>
                </a:solidFill>
                <a:latin typeface="Helvetica" pitchFamily="34" charset="0"/>
                <a:ea typeface="Helvetica" pitchFamily="34" charset="-122"/>
                <a:cs typeface="Helvetica" pitchFamily="34" charset="-120"/>
              </a:rPr>
              <a:t>03</a:t>
            </a:r>
            <a:endParaRPr lang="en-US" sz="1200" dirty="0"/>
          </a:p>
        </p:txBody>
      </p:sp>
      <p:sp>
        <p:nvSpPr>
          <p:cNvPr id="9" name="Text 7"/>
          <p:cNvSpPr/>
          <p:nvPr/>
        </p:nvSpPr>
        <p:spPr>
          <a:xfrm>
            <a:off x="1188720" y="2990088"/>
            <a:ext cx="7132320" cy="365760"/>
          </a:xfrm>
          <a:prstGeom prst="rect">
            <a:avLst/>
          </a:prstGeom>
          <a:noFill/>
          <a:ln/>
        </p:spPr>
        <p:txBody>
          <a:bodyPr wrap="square" lIns="0" tIns="0" rIns="0" bIns="0" rtlCol="0" anchor="ctr"/>
          <a:lstStyle/>
          <a:p>
            <a:pPr marL="0" indent="0">
              <a:lnSpc>
                <a:spcPct val="130000"/>
              </a:lnSpc>
              <a:buNone/>
            </a:pPr>
            <a:r>
              <a:rPr lang="en-US" sz="1000" dirty="0">
                <a:solidFill>
                  <a:srgbClr val="C0C0C0"/>
                </a:solidFill>
                <a:latin typeface="Helvetica" pitchFamily="34" charset="0"/>
                <a:ea typeface="Helvetica" pitchFamily="34" charset="-122"/>
                <a:cs typeface="Helvetica" pitchFamily="34" charset="-120"/>
              </a:rPr>
              <a:t>Knowledge distillation can compress a 749K-param teacher to 221K params while retaining 99.1% of Macro F1.</a:t>
            </a:r>
            <a:endParaRPr lang="en-US" sz="1000" dirty="0"/>
          </a:p>
        </p:txBody>
      </p:sp>
      <p:sp>
        <p:nvSpPr>
          <p:cNvPr id="10" name="Text 8"/>
          <p:cNvSpPr/>
          <p:nvPr/>
        </p:nvSpPr>
        <p:spPr>
          <a:xfrm>
            <a:off x="640080" y="3474720"/>
            <a:ext cx="457200" cy="320040"/>
          </a:xfrm>
          <a:prstGeom prst="rect">
            <a:avLst/>
          </a:prstGeom>
          <a:noFill/>
          <a:ln/>
        </p:spPr>
        <p:txBody>
          <a:bodyPr wrap="square" lIns="0" tIns="0" rIns="0" bIns="0" rtlCol="0" anchor="ctr"/>
          <a:lstStyle/>
          <a:p>
            <a:pPr marL="0" indent="0">
              <a:buNone/>
            </a:pPr>
            <a:r>
              <a:rPr lang="en-US" sz="1200" b="1" dirty="0">
                <a:solidFill>
                  <a:srgbClr val="7A7A7A"/>
                </a:solidFill>
                <a:latin typeface="Helvetica" pitchFamily="34" charset="0"/>
                <a:ea typeface="Helvetica" pitchFamily="34" charset="-122"/>
                <a:cs typeface="Helvetica" pitchFamily="34" charset="-120"/>
              </a:rPr>
              <a:t>04</a:t>
            </a:r>
            <a:endParaRPr lang="en-US" sz="1200" dirty="0"/>
          </a:p>
        </p:txBody>
      </p:sp>
      <p:sp>
        <p:nvSpPr>
          <p:cNvPr id="11" name="Text 9"/>
          <p:cNvSpPr/>
          <p:nvPr/>
        </p:nvSpPr>
        <p:spPr>
          <a:xfrm>
            <a:off x="1188720" y="3447288"/>
            <a:ext cx="7132320" cy="365760"/>
          </a:xfrm>
          <a:prstGeom prst="rect">
            <a:avLst/>
          </a:prstGeom>
          <a:noFill/>
          <a:ln/>
        </p:spPr>
        <p:txBody>
          <a:bodyPr wrap="square" lIns="0" tIns="0" rIns="0" bIns="0" rtlCol="0" anchor="ctr"/>
          <a:lstStyle/>
          <a:p>
            <a:pPr marL="0" indent="0">
              <a:lnSpc>
                <a:spcPct val="130000"/>
              </a:lnSpc>
              <a:buNone/>
            </a:pPr>
            <a:r>
              <a:rPr lang="en-US" sz="1000" dirty="0">
                <a:solidFill>
                  <a:srgbClr val="C0C0C0"/>
                </a:solidFill>
                <a:latin typeface="Helvetica" pitchFamily="34" charset="0"/>
                <a:ea typeface="Helvetica" pitchFamily="34" charset="-122"/>
                <a:cs typeface="Helvetica" pitchFamily="34" charset="-120"/>
              </a:rPr>
              <a:t>Cross-architecture distillation (XGBoost → neural net) is viable and adds anomaly capabilities the teacher never had.</a:t>
            </a:r>
            <a:endParaRPr lang="en-US" sz="1000" dirty="0"/>
          </a:p>
        </p:txBody>
      </p:sp>
      <p:sp>
        <p:nvSpPr>
          <p:cNvPr id="12" name="Text 10"/>
          <p:cNvSpPr/>
          <p:nvPr/>
        </p:nvSpPr>
        <p:spPr>
          <a:xfrm>
            <a:off x="640080" y="3931920"/>
            <a:ext cx="457200" cy="320040"/>
          </a:xfrm>
          <a:prstGeom prst="rect">
            <a:avLst/>
          </a:prstGeom>
          <a:noFill/>
          <a:ln/>
        </p:spPr>
        <p:txBody>
          <a:bodyPr wrap="square" lIns="0" tIns="0" rIns="0" bIns="0" rtlCol="0" anchor="ctr"/>
          <a:lstStyle/>
          <a:p>
            <a:pPr marL="0" indent="0">
              <a:buNone/>
            </a:pPr>
            <a:r>
              <a:rPr lang="en-US" sz="1200" b="1" dirty="0">
                <a:solidFill>
                  <a:srgbClr val="7A7A7A"/>
                </a:solidFill>
                <a:latin typeface="Helvetica" pitchFamily="34" charset="0"/>
                <a:ea typeface="Helvetica" pitchFamily="34" charset="-122"/>
                <a:cs typeface="Helvetica" pitchFamily="34" charset="-120"/>
              </a:rPr>
              <a:t>05</a:t>
            </a:r>
            <a:endParaRPr lang="en-US" sz="1200" dirty="0"/>
          </a:p>
        </p:txBody>
      </p:sp>
      <p:sp>
        <p:nvSpPr>
          <p:cNvPr id="13" name="Text 11"/>
          <p:cNvSpPr/>
          <p:nvPr/>
        </p:nvSpPr>
        <p:spPr>
          <a:xfrm>
            <a:off x="1188720" y="3904488"/>
            <a:ext cx="7132320" cy="365760"/>
          </a:xfrm>
          <a:prstGeom prst="rect">
            <a:avLst/>
          </a:prstGeom>
          <a:noFill/>
          <a:ln/>
        </p:spPr>
        <p:txBody>
          <a:bodyPr wrap="square" lIns="0" tIns="0" rIns="0" bIns="0" rtlCol="0" anchor="ctr"/>
          <a:lstStyle/>
          <a:p>
            <a:pPr marL="0" indent="0">
              <a:lnSpc>
                <a:spcPct val="130000"/>
              </a:lnSpc>
              <a:buNone/>
            </a:pPr>
            <a:r>
              <a:rPr lang="en-US" sz="1000" dirty="0">
                <a:solidFill>
                  <a:srgbClr val="C0C0C0"/>
                </a:solidFill>
                <a:latin typeface="Helvetica" pitchFamily="34" charset="0"/>
                <a:ea typeface="Helvetica" pitchFamily="34" charset="-122"/>
                <a:cs typeface="Helvetica" pitchFamily="34" charset="-120"/>
              </a:rPr>
              <a:t>IMP (Lottery Ticket) at 60% sparsity surpasses the unpruned baseline pruning can improve, not just maintain, accuracy.</a:t>
            </a:r>
            <a:endParaRPr lang="en-US" sz="1000" dirty="0"/>
          </a:p>
        </p:txBody>
      </p:sp>
      <p:sp>
        <p:nvSpPr>
          <p:cNvPr id="14" name="Text 12"/>
          <p:cNvSpPr/>
          <p:nvPr/>
        </p:nvSpPr>
        <p:spPr>
          <a:xfrm>
            <a:off x="640080" y="4389120"/>
            <a:ext cx="457200" cy="320040"/>
          </a:xfrm>
          <a:prstGeom prst="rect">
            <a:avLst/>
          </a:prstGeom>
          <a:noFill/>
          <a:ln/>
        </p:spPr>
        <p:txBody>
          <a:bodyPr wrap="square" lIns="0" tIns="0" rIns="0" bIns="0" rtlCol="0" anchor="ctr"/>
          <a:lstStyle/>
          <a:p>
            <a:pPr marL="0" indent="0">
              <a:buNone/>
            </a:pPr>
            <a:r>
              <a:rPr lang="en-US" sz="1200" b="1" dirty="0">
                <a:solidFill>
                  <a:srgbClr val="7A7A7A"/>
                </a:solidFill>
                <a:latin typeface="Helvetica" pitchFamily="34" charset="0"/>
                <a:ea typeface="Helvetica" pitchFamily="34" charset="-122"/>
                <a:cs typeface="Helvetica" pitchFamily="34" charset="-120"/>
              </a:rPr>
              <a:t>06</a:t>
            </a:r>
            <a:endParaRPr lang="en-US" sz="1200" dirty="0"/>
          </a:p>
        </p:txBody>
      </p:sp>
      <p:sp>
        <p:nvSpPr>
          <p:cNvPr id="15" name="Text 13"/>
          <p:cNvSpPr/>
          <p:nvPr/>
        </p:nvSpPr>
        <p:spPr>
          <a:xfrm>
            <a:off x="1188720" y="4361688"/>
            <a:ext cx="7132320" cy="365760"/>
          </a:xfrm>
          <a:prstGeom prst="rect">
            <a:avLst/>
          </a:prstGeom>
          <a:noFill/>
          <a:ln/>
        </p:spPr>
        <p:txBody>
          <a:bodyPr wrap="square" lIns="0" tIns="0" rIns="0" bIns="0" rtlCol="0" anchor="ctr"/>
          <a:lstStyle/>
          <a:p>
            <a:pPr marL="0" indent="0">
              <a:lnSpc>
                <a:spcPct val="130000"/>
              </a:lnSpc>
              <a:buNone/>
            </a:pPr>
            <a:r>
              <a:rPr lang="en-US" sz="1000" dirty="0">
                <a:solidFill>
                  <a:srgbClr val="C0C0C0"/>
                </a:solidFill>
                <a:latin typeface="Helvetica" pitchFamily="34" charset="0"/>
                <a:ea typeface="Helvetica" pitchFamily="34" charset="-122"/>
                <a:cs typeface="Helvetica" pitchFamily="34" charset="-120"/>
              </a:rPr>
              <a:t>One-shot pruning exposes a cliff at 50%; IMP pushes through it by giving the network time to adapt between rounds.</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1371600"/>
            <a:ext cx="7315200" cy="1371600"/>
          </a:xfrm>
          <a:prstGeom prst="rect">
            <a:avLst/>
          </a:prstGeom>
          <a:noFill/>
          <a:ln/>
        </p:spPr>
        <p:txBody>
          <a:bodyPr wrap="square" lIns="0" tIns="0" rIns="0" bIns="0" rtlCol="0" anchor="ctr"/>
          <a:lstStyle/>
          <a:p>
            <a:pPr marL="0" indent="0">
              <a:buNone/>
            </a:pPr>
            <a:r>
              <a:rPr lang="en-US" sz="7200" b="1" dirty="0">
                <a:solidFill>
                  <a:srgbClr val="1A1A1A"/>
                </a:solidFill>
                <a:latin typeface="Helvetica" pitchFamily="34" charset="0"/>
                <a:ea typeface="Helvetica" pitchFamily="34" charset="-122"/>
                <a:cs typeface="Helvetica" pitchFamily="34" charset="-120"/>
              </a:rPr>
              <a:t>Thank you!</a:t>
            </a:r>
            <a:endParaRPr lang="en-US" sz="7200" dirty="0"/>
          </a:p>
        </p:txBody>
      </p:sp>
      <p:sp>
        <p:nvSpPr>
          <p:cNvPr id="3" name="Shape 1"/>
          <p:cNvSpPr/>
          <p:nvPr/>
        </p:nvSpPr>
        <p:spPr>
          <a:xfrm>
            <a:off x="640080" y="2926080"/>
            <a:ext cx="2743200" cy="0"/>
          </a:xfrm>
          <a:prstGeom prst="line">
            <a:avLst/>
          </a:prstGeom>
          <a:noFill/>
          <a:ln w="9525">
            <a:solidFill>
              <a:srgbClr val="D8D8D8"/>
            </a:solidFill>
            <a:prstDash val="solid"/>
          </a:ln>
        </p:spPr>
      </p:sp>
      <p:sp>
        <p:nvSpPr>
          <p:cNvPr id="4" name="Text 2"/>
          <p:cNvSpPr/>
          <p:nvPr/>
        </p:nvSpPr>
        <p:spPr>
          <a:xfrm>
            <a:off x="640080" y="3291840"/>
            <a:ext cx="5486400" cy="365760"/>
          </a:xfrm>
          <a:prstGeom prst="rect">
            <a:avLst/>
          </a:prstGeom>
          <a:noFill/>
          <a:ln/>
        </p:spPr>
        <p:txBody>
          <a:bodyPr wrap="square" lIns="0" tIns="0" rIns="0" bIns="0" rtlCol="0" anchor="ctr"/>
          <a:lstStyle/>
          <a:p>
            <a:pPr marL="0" indent="0">
              <a:buNone/>
            </a:pPr>
            <a:r>
              <a:rPr lang="en-US" sz="1200" dirty="0">
                <a:solidFill>
                  <a:srgbClr val="7A7A7A"/>
                </a:solidFill>
                <a:latin typeface="Helvetica" pitchFamily="34" charset="0"/>
                <a:ea typeface="Helvetica" pitchFamily="34" charset="-122"/>
                <a:cs typeface="Helvetica" pitchFamily="34" charset="-120"/>
              </a:rPr>
              <a:t>Group 2  ·  Scalable Computing  ·  UCC 2026</a:t>
            </a:r>
            <a:endParaRPr lang="en-US" sz="1200" dirty="0"/>
          </a:p>
        </p:txBody>
      </p:sp>
      <p:sp>
        <p:nvSpPr>
          <p:cNvPr id="5" name="Text 3"/>
          <p:cNvSpPr/>
          <p:nvPr/>
        </p:nvSpPr>
        <p:spPr>
          <a:xfrm>
            <a:off x="640080" y="3749040"/>
            <a:ext cx="7315200" cy="320040"/>
          </a:xfrm>
          <a:prstGeom prst="rect">
            <a:avLst/>
          </a:prstGeom>
          <a:noFill/>
          <a:ln/>
        </p:spPr>
        <p:txBody>
          <a:bodyPr wrap="square" lIns="0" tIns="0" rIns="0" bIns="0" rtlCol="0" anchor="ctr"/>
          <a:lstStyle/>
          <a:p>
            <a:pPr marL="0" indent="0">
              <a:buNone/>
            </a:pPr>
            <a:r>
              <a:rPr lang="en-US" sz="900" kern="0" spc="100" dirty="0">
                <a:solidFill>
                  <a:srgbClr val="C0C0C0"/>
                </a:solidFill>
                <a:latin typeface="Helvetica" pitchFamily="34" charset="0"/>
                <a:ea typeface="Helvetica" pitchFamily="34" charset="-122"/>
                <a:cs typeface="Helvetica" pitchFamily="34" charset="-120"/>
              </a:rPr>
              <a:t>HybridVAE  ·  CICIDS  ·  Knowledge Distillation  ·  Iterative Magnitude Pruning</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277</TotalTime>
  <Words>2684</Words>
  <Application>Microsoft Macintosh PowerPoint</Application>
  <PresentationFormat>On-screen Show (16:9)</PresentationFormat>
  <Paragraphs>522</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Consolas</vt:lpstr>
      <vt:lpstr>Helvetica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HybridVAE — Network Intrusion Detection on Edge Devices</dc:title>
  <dc:subject>PptxGenJS Presentation</dc:subject>
  <dc:creator>Group 2</dc:creator>
  <cp:lastModifiedBy>Pouya Mohammadkhani</cp:lastModifiedBy>
  <cp:revision>4</cp:revision>
  <dcterms:created xsi:type="dcterms:W3CDTF">2026-04-01T10:47:36Z</dcterms:created>
  <dcterms:modified xsi:type="dcterms:W3CDTF">2026-04-01T15:26:12Z</dcterms:modified>
</cp:coreProperties>
</file>